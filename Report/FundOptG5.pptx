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9"/>
  </p:notesMasterIdLst>
  <p:handoutMasterIdLst>
    <p:handoutMasterId r:id="rId40"/>
  </p:handoutMasterIdLst>
  <p:sldIdLst>
    <p:sldId id="275" r:id="rId2"/>
    <p:sldId id="276" r:id="rId3"/>
    <p:sldId id="257" r:id="rId4"/>
    <p:sldId id="284" r:id="rId5"/>
    <p:sldId id="285" r:id="rId6"/>
    <p:sldId id="286" r:id="rId7"/>
    <p:sldId id="287" r:id="rId8"/>
    <p:sldId id="288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289" r:id="rId23"/>
    <p:sldId id="290" r:id="rId24"/>
    <p:sldId id="291" r:id="rId25"/>
    <p:sldId id="292" r:id="rId26"/>
    <p:sldId id="293" r:id="rId27"/>
    <p:sldId id="294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6" r:id="rId36"/>
    <p:sldId id="317" r:id="rId37"/>
    <p:sldId id="269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Box"/>
          <p:cNvSpPr txBox="1">
            <a:spLocks/>
          </p:cNvSpPr>
          <p:nvPr/>
        </p:nvSpPr>
        <p:spPr>
          <a:xfrm>
            <a:off x="413012" y="1800000"/>
            <a:ext cx="7342482" cy="1050000"/>
          </a:xfrm>
          <a:prstGeom prst="rect">
            <a:avLst/>
          </a:prstGeom>
        </p:spPr>
        <p:txBody>
          <a:bodyPr wrap="square"/>
          <a:lstStyle>
            <a:lvl1pPr algn="l">
              <a:buNone/>
              <a:defRPr sz="3800" b="1">
                <a:solidFill>
                  <a:srgbClr val="C00000"/>
                </a:solidFill>
                <a:latin typeface="Calibri"/>
              </a:defRPr>
            </a:lvl1pPr>
          </a:lstStyle>
          <a:p>
            <a:r>
              <a:rPr lang="en-US" dirty="0"/>
              <a:t>Balanced Staff Routing for Maintenance</a:t>
            </a:r>
          </a:p>
        </p:txBody>
      </p:sp>
      <p:sp>
        <p:nvSpPr>
          <p:cNvPr id="12" name="SubBox"/>
          <p:cNvSpPr txBox="1">
            <a:spLocks/>
          </p:cNvSpPr>
          <p:nvPr/>
        </p:nvSpPr>
        <p:spPr>
          <a:xfrm>
            <a:off x="413012" y="2980000"/>
            <a:ext cx="7342482" cy="2515026"/>
          </a:xfrm>
          <a:prstGeom prst="rect">
            <a:avLst/>
          </a:prstGeom>
        </p:spPr>
        <p:txBody>
          <a:bodyPr/>
          <a:lstStyle>
            <a:lvl1pPr algn="l">
              <a:buNone/>
              <a:defRPr sz="1900" b="0">
                <a:solidFill>
                  <a:srgbClr val="404040"/>
                </a:solidFill>
                <a:latin typeface="Calibri"/>
              </a:defRPr>
            </a:lvl1pPr>
          </a:lstStyle>
          <a:p>
            <a:r>
              <a:rPr lang="en-US" sz="2100" b="1" dirty="0"/>
              <a:t>Optimization Mini-Project  |  Course: IT3052E  |  Class: 167686  |  Group: 5</a:t>
            </a:r>
          </a:p>
          <a:p>
            <a:endParaRPr lang="en-US" sz="1600" dirty="0"/>
          </a:p>
          <a:p>
            <a:r>
              <a:rPr lang="en-US" sz="2000" b="1" dirty="0"/>
              <a:t>Group Members:</a:t>
            </a:r>
          </a:p>
          <a:p>
            <a:r>
              <a:rPr lang="en-US"/>
              <a:t>• </a:t>
            </a:r>
            <a:r>
              <a:rPr lang="en-US" sz="1900"/>
              <a:t>Bui </a:t>
            </a:r>
            <a:r>
              <a:rPr lang="en-US" sz="1900" dirty="0"/>
              <a:t>Dang </a:t>
            </a:r>
            <a:r>
              <a:rPr lang="en-US" sz="1900"/>
              <a:t>Quang  </a:t>
            </a:r>
          </a:p>
          <a:p>
            <a:r>
              <a:rPr lang="en-US" sz="1900"/>
              <a:t>•  </a:t>
            </a:r>
            <a:r>
              <a:rPr lang="en-US" sz="1900" dirty="0"/>
              <a:t>Dinh Phuong </a:t>
            </a:r>
            <a:r>
              <a:rPr lang="en-US" sz="1900"/>
              <a:t>Mai  </a:t>
            </a:r>
          </a:p>
          <a:p>
            <a:r>
              <a:rPr lang="en-US" sz="1900"/>
              <a:t>•  </a:t>
            </a:r>
            <a:r>
              <a:rPr lang="en-US" sz="1900" dirty="0"/>
              <a:t>Do Anh </a:t>
            </a:r>
            <a:r>
              <a:rPr lang="en-US" sz="1900"/>
              <a:t>Minh  </a:t>
            </a:r>
          </a:p>
          <a:p>
            <a:r>
              <a:rPr lang="en-US" sz="1900"/>
              <a:t>•  </a:t>
            </a:r>
            <a:r>
              <a:rPr lang="en-US" sz="1900" dirty="0"/>
              <a:t>Ngo Nam Nhat Minh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Table of Contents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1.  Introduction</a:t>
            </a:r>
          </a:p>
          <a:p>
            <a:pPr marL="0" indent="0">
              <a:buNone/>
            </a:pPr>
            <a:r>
              <a:rPr lang="en-US" sz="2000" b="1" dirty="0"/>
              <a:t>2.  Problem Overview  (Objective · Inputs · Outputs · Constraints)</a:t>
            </a:r>
          </a:p>
          <a:p>
            <a:pPr marL="0" indent="0">
              <a:buNone/>
            </a:pPr>
            <a:r>
              <a:rPr lang="en-US" sz="2000" b="1"/>
              <a:t>3.  </a:t>
            </a:r>
            <a:r>
              <a:rPr lang="en-US" sz="2000" b="1" dirty="0"/>
              <a:t>Branch &amp; Bound Algorithm</a:t>
            </a:r>
          </a:p>
          <a:p>
            <a:pPr marL="457200" indent="-457200">
              <a:buNone/>
            </a:pPr>
            <a:r>
              <a:rPr lang="en-US" sz="1600" b="0"/>
              <a:t>    3.1 </a:t>
            </a:r>
            <a:r>
              <a:rPr lang="en-US" sz="1600" b="0" dirty="0"/>
              <a:t>State </a:t>
            </a:r>
            <a:r>
              <a:rPr lang="en-US" sz="1600" b="0"/>
              <a:t>Representation     3.2 </a:t>
            </a:r>
            <a:r>
              <a:rPr lang="en-US" sz="1600" b="0" dirty="0"/>
              <a:t>Base/Recursive </a:t>
            </a:r>
            <a:r>
              <a:rPr lang="en-US" sz="1600" b="0"/>
              <a:t>Steps     3.3 </a:t>
            </a:r>
            <a:r>
              <a:rPr lang="en-US" sz="1600" b="0" dirty="0"/>
              <a:t>Pseudocode</a:t>
            </a:r>
          </a:p>
          <a:p>
            <a:pPr marL="0" indent="0">
              <a:buNone/>
            </a:pPr>
            <a:r>
              <a:rPr lang="en-US" sz="2000" b="1" dirty="0"/>
              <a:t>4</a:t>
            </a:r>
            <a:r>
              <a:rPr lang="en-US" sz="2000" b="1"/>
              <a:t>.  </a:t>
            </a:r>
            <a:r>
              <a:rPr lang="en-US" sz="2000" b="1" dirty="0"/>
              <a:t>Constraint Programming (CP-SAT)</a:t>
            </a:r>
          </a:p>
          <a:p>
            <a:pPr marL="457200" indent="-457200">
              <a:buNone/>
            </a:pPr>
            <a:r>
              <a:rPr lang="en-US" sz="1600" b="0"/>
              <a:t>    4.1 Background     4.2 Process     4.3 </a:t>
            </a:r>
            <a:r>
              <a:rPr lang="en-US" sz="1600" b="0" dirty="0"/>
              <a:t>Modelling (Variables + Constraints</a:t>
            </a:r>
            <a:r>
              <a:rPr lang="en-US" sz="1600" b="0"/>
              <a:t>)     4.4 </a:t>
            </a:r>
            <a:r>
              <a:rPr lang="en-US" sz="1600" b="0" dirty="0"/>
              <a:t>Results </a:t>
            </a:r>
            <a:r>
              <a:rPr lang="en-US" sz="1600" b="0"/>
              <a:t>&amp; Scalability</a:t>
            </a:r>
          </a:p>
          <a:p>
            <a:pPr marL="0" indent="0">
              <a:buNone/>
            </a:pPr>
            <a:r>
              <a:rPr lang="en-US" sz="2000" b="1"/>
              <a:t>5.  Greedy Algorithm — Sorted Cheapest Insertion</a:t>
            </a:r>
          </a:p>
          <a:p>
            <a:pPr marL="457200" indent="-457200">
              <a:buNone/>
            </a:pPr>
            <a:r>
              <a:rPr lang="en-US" sz="1600"/>
              <a:t>    5.1 Background     5.2 Logic (3 Phases)     5.3 Pseudocode     5.4 Complexity</a:t>
            </a:r>
            <a:endParaRPr lang="en-US" sz="1600" b="0" dirty="0"/>
          </a:p>
          <a:p>
            <a:pPr marL="0" indent="0">
              <a:buNone/>
            </a:pPr>
            <a:r>
              <a:rPr lang="en-US" sz="2000" b="1" dirty="0"/>
              <a:t>6.  Hill Climbing Heuristic</a:t>
            </a:r>
          </a:p>
          <a:p>
            <a:pPr marL="457200" indent="-457200">
              <a:buNone/>
            </a:pPr>
            <a:r>
              <a:rPr lang="en-US" sz="1600" b="0" dirty="0"/>
              <a:t>    6.1 Logic     6.2 Six Sub-Algorithms (pseudocode)</a:t>
            </a:r>
          </a:p>
          <a:p>
            <a:pPr marL="0" indent="0">
              <a:buNone/>
            </a:pPr>
            <a:r>
              <a:rPr lang="en-US" sz="2000" b="1" dirty="0"/>
              <a:t>7</a:t>
            </a:r>
            <a:r>
              <a:rPr lang="en-US" sz="2000" b="1"/>
              <a:t>. Comparative Analysis &amp; Conclusion</a:t>
            </a:r>
            <a:endParaRPr lang="en-US" sz="2000" b="1" dirty="0"/>
          </a:p>
          <a:p>
            <a:pPr marL="457200" indent="-457200">
              <a:buNone/>
            </a:pPr>
            <a:endParaRPr lang="en-US" sz="1600" b="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1. Introduction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The Vehicle Routing Problem (VRP)</a:t>
            </a:r>
          </a:p>
          <a:p>
            <a:pPr marL="0" indent="0">
              <a:buNone/>
            </a:pPr>
            <a:r>
              <a:rPr lang="en-US" sz="1800" b="0" dirty="0"/>
              <a:t>Originally formulated by Dantzig &amp; Ramser (1959). A classic challenge in combinatorial optimization.</a:t>
            </a:r>
          </a:p>
          <a:p>
            <a:pPr marL="0" indent="0">
              <a:buNone/>
            </a:pPr>
            <a:r>
              <a:rPr lang="en-US" sz="1800" b="0" dirty="0"/>
              <a:t>Traditional VRP: minimize cumulative distance or total travel time of all vehicles.</a:t>
            </a:r>
          </a:p>
          <a:p>
            <a:pPr marL="0" indent="0">
              <a:buNone/>
            </a:pPr>
            <a:endParaRPr lang="en-US" sz="1800" b="0" dirty="0"/>
          </a:p>
          <a:p>
            <a:pPr marL="0" indent="0">
              <a:buNone/>
            </a:pPr>
            <a:r>
              <a:rPr lang="en-US" sz="2000" b="1" dirty="0"/>
              <a:t>Balanced Staff Routing for Maintenance (BSRM)</a:t>
            </a:r>
          </a:p>
          <a:p>
            <a:pPr marL="0" indent="0">
              <a:buNone/>
            </a:pPr>
            <a:r>
              <a:rPr lang="en-US" sz="1800" b="0" dirty="0"/>
              <a:t>The focus shifts to minimizing the MAKESPAN — the workload of the most heavily loaded technician.</a:t>
            </a:r>
          </a:p>
          <a:p>
            <a:pPr marL="0" indent="0">
              <a:buNone/>
            </a:pPr>
            <a:r>
              <a:rPr lang="en-US" sz="1800" b="0" dirty="0"/>
              <a:t>Ensures equitable distribution of labor and prevents individual technician fatigue.</a:t>
            </a:r>
          </a:p>
          <a:p>
            <a:pPr marL="0" indent="0">
              <a:buNone/>
            </a:pPr>
            <a:endParaRPr lang="en-US" sz="1800" b="0" dirty="0"/>
          </a:p>
          <a:p>
            <a:pPr marL="0" indent="0">
              <a:buNone/>
            </a:pPr>
            <a:r>
              <a:rPr lang="en-US" sz="2000" b="1" dirty="0"/>
              <a:t>Why is this hard?</a:t>
            </a:r>
          </a:p>
          <a:p>
            <a:pPr marL="0" indent="0">
              <a:buNone/>
            </a:pPr>
            <a:r>
              <a:rPr lang="en-US" sz="1800" b="0" dirty="0"/>
              <a:t>Inherits NP-hard complexity from TSP and multi-depot vehicle routing.</a:t>
            </a:r>
          </a:p>
          <a:p>
            <a:pPr marL="0" indent="0">
              <a:buNone/>
            </a:pPr>
            <a:r>
              <a:rPr lang="en-US" sz="1800" b="0" dirty="0"/>
              <a:t>Exact methods (CP, ILP) cannot scale beyond small instances.</a:t>
            </a:r>
          </a:p>
          <a:p>
            <a:pPr marL="0" indent="0">
              <a:buNone/>
            </a:pPr>
            <a:r>
              <a:rPr lang="en-US" sz="1800" b="0" dirty="0"/>
              <a:t>This report presents a tailored deterministic construction heuristic solving large test cases (N=1000) within milliseconds.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2. Problem Overview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Objective</a:t>
            </a:r>
          </a:p>
          <a:p>
            <a:r>
              <a:rPr lang="en-US"/>
              <a:t>Inputs </a:t>
            </a:r>
          </a:p>
          <a:p>
            <a:r>
              <a:rPr lang="en-US"/>
              <a:t>Outputs</a:t>
            </a:r>
          </a:p>
          <a:p>
            <a:r>
              <a:rPr lang="en-US"/>
              <a:t>Constraints</a:t>
            </a:r>
          </a:p>
          <a:p>
            <a:r>
              <a:rPr lang="en-US"/>
              <a:t>Workload Formula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2.1 Objective &amp; Inputs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Objective</a:t>
            </a:r>
          </a:p>
          <a:p>
            <a:pPr marL="0" indent="0">
              <a:buNone/>
            </a:pPr>
            <a:r>
              <a:rPr lang="en-US" sz="1800" b="0" dirty="0"/>
              <a:t>Minimize the maximum workload (makespan) of any technician such that:</a:t>
            </a:r>
          </a:p>
          <a:p>
            <a:pPr marL="457200" indent="-457200">
              <a:buNone/>
            </a:pPr>
            <a:r>
              <a:rPr lang="en-US" sz="1800" b="0" dirty="0"/>
              <a:t>• All customers i ∈ {1,…,N} are serviced exactly once</a:t>
            </a:r>
          </a:p>
          <a:p>
            <a:pPr marL="457200" indent="-457200">
              <a:buNone/>
            </a:pPr>
            <a:r>
              <a:rPr lang="en-US" sz="1800" b="0" dirty="0"/>
              <a:t>• All technicians start and finish their routes at the central depot (node 0)</a:t>
            </a:r>
          </a:p>
          <a:p>
            <a:pPr marL="0" indent="0">
              <a:buNone/>
            </a:pPr>
            <a:endParaRPr lang="en-US" sz="1800" b="0" dirty="0"/>
          </a:p>
          <a:p>
            <a:pPr marL="0" indent="0">
              <a:buNone/>
            </a:pPr>
            <a:r>
              <a:rPr lang="en-US" sz="2000" b="1" dirty="0"/>
              <a:t>Inputs</a:t>
            </a:r>
          </a:p>
          <a:p>
            <a:pPr marL="0" indent="0">
              <a:buNone/>
            </a:pPr>
            <a:r>
              <a:rPr lang="en-US" sz="1800" b="0" dirty="0"/>
              <a:t>N     Number of customers to be serviced                  (1 ≤ N ≤ 1000)</a:t>
            </a:r>
          </a:p>
          <a:p>
            <a:pPr marL="0" indent="0">
              <a:buNone/>
            </a:pPr>
            <a:r>
              <a:rPr lang="en-US" sz="1800" b="0" dirty="0"/>
              <a:t>K     Number of available technicians                     (1 ≤ K ≤ 100)</a:t>
            </a:r>
          </a:p>
          <a:p>
            <a:pPr marL="0" indent="0">
              <a:buNone/>
            </a:pPr>
            <a:r>
              <a:rPr lang="en-US" sz="1800" b="0" dirty="0"/>
              <a:t>d(i)  Maintenance service duration for customer i         (1 ≤ i ≤ N),  d(0) = 0 for depot</a:t>
            </a:r>
          </a:p>
          <a:p>
            <a:pPr marL="0" indent="0">
              <a:buNone/>
            </a:pPr>
            <a:r>
              <a:rPr lang="en-US" sz="1800" b="0" dirty="0"/>
              <a:t>t(i,j) Travel time matrix of size (N+1) × (N+1)</a:t>
            </a:r>
          </a:p>
          <a:p>
            <a:pPr marL="457200" indent="-457200">
              <a:buNone/>
            </a:pPr>
            <a:r>
              <a:rPr lang="en-US" sz="1800" b="0" dirty="0"/>
              <a:t>       Represents travel cost between any two locations i, j ∈ {0, 1, …, N}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2.2 Outputs, Constraints &amp; Workload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Outputs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Line 1:    The number of technicians K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Line 2k    (k=1..K):  Number of points L_k in route of technician k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Line 2k+1: Route sequence r[0], r[1], …, r[L_k]  where r[0] = r[L_k] = 0 (depot)</a:t>
                </a:r>
              </a:p>
              <a:p>
                <a:pPr marL="0" indent="0">
                  <a:buNone/>
                </a:pPr>
                <a:endParaRPr lang="en-US" sz="1800" b="0" dirty="0"/>
              </a:p>
              <a:p>
                <a:pPr marL="0" indent="0">
                  <a:buNone/>
                </a:pPr>
                <a:r>
                  <a:rPr lang="en-US" sz="2000" b="1" dirty="0"/>
                  <a:t>Constraints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① Single Visit:       Each customer visited exactly once by exactly one technician.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② Depot Continuity:   Every route begins at node 0 and returns to node 0.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③ Workload Formula:   For route R_k = ⟨r[0], r[1], …, r[L_k]⟩:</a:t>
                </a:r>
              </a:p>
              <a:p>
                <a:pPr marL="0" indent="0">
                  <a:buNone/>
                </a:pPr>
                <a:endParaRPr lang="en-US" sz="1800" b="0" dirty="0"/>
              </a:p>
              <a:p>
                <a:pPr>
                  <a:buNone/>
                </a:pPr>
                <a:r>
                  <a:rPr lang="en-US" sz="2000" b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W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sz="20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  <m:t>i</m:t>
                        </m:r>
                        <m:r>
                          <a:rPr lang="en-US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k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t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r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  <m:t>i</m:t>
                                    </m:r>
                                  </m:e>
                                </m:d>
                                <m:r>
                                  <a:rPr lang="en-US" sz="20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r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  <m:t>i</m:t>
                                    </m:r>
                                    <m:r>
                                      <a:rPr lang="en-US" sz="20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d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r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  <m:t>i</m:t>
                                    </m:r>
                                    <m:r>
                                      <a:rPr lang="en-US" sz="200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b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r>
                  <a:rPr lang="en-US" sz="1800" b="0">
                    <a:solidFill>
                      <a:srgbClr val="C00000"/>
                    </a:solidFill>
                  </a:rPr>
                  <a:t>Objective Function: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  <m:t>min</m:t>
                        </m:r>
                      </m:fName>
                      <m:e>
                        <m:func>
                          <m:func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k</m:t>
                                </m:r>
                                <m: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=1,…,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K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W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ourier New" panose="02070309020205020404" pitchFamily="49" charset="0"/>
                                        <a:cs typeface="Courier New" panose="02070309020205020404" pitchFamily="49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ourier New" panose="02070309020205020404" pitchFamily="49" charset="0"/>
                                            <a:cs typeface="Courier New" panose="02070309020205020404" pitchFamily="49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ourier New" panose="02070309020205020404" pitchFamily="49" charset="0"/>
                                            <a:cs typeface="Courier New" panose="02070309020205020404" pitchFamily="49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ourier New" panose="02070309020205020404" pitchFamily="49" charset="0"/>
                                            <a:cs typeface="Courier New" panose="02070309020205020404" pitchFamily="49" charset="0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  <m:r>
                      <a:rPr lang="en-US" sz="18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 </m:t>
                    </m:r>
                  </m:oMath>
                </a14:m>
                <a:endParaRPr lang="en-US" sz="240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774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</a:t>
            </a:r>
            <a:r>
              <a:rPr lang="en-US" sz="2600"/>
              <a:t>. </a:t>
            </a:r>
            <a:r>
              <a:rPr lang="en-US" sz="2600" dirty="0"/>
              <a:t>Branch &amp; Bound Algorithm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200"/>
              <a:t>State Representation</a:t>
            </a:r>
          </a:p>
          <a:p>
            <a:r>
              <a:rPr lang="en-US" sz="2200"/>
              <a:t>Base Case</a:t>
            </a:r>
          </a:p>
          <a:p>
            <a:r>
              <a:rPr lang="en-US" sz="2200"/>
              <a:t>Recursive Step</a:t>
            </a:r>
          </a:p>
          <a:p>
            <a:r>
              <a:rPr lang="en-US" sz="2200"/>
              <a:t>Pseudocode</a:t>
            </a:r>
            <a:endParaRPr lang="en-US" sz="2200" b="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</a:t>
            </a:r>
            <a:r>
              <a:rPr lang="en-US" sz="2600"/>
              <a:t>.1 </a:t>
            </a:r>
            <a:r>
              <a:rPr lang="en-US" sz="2600" dirty="0"/>
              <a:t>Background &amp; State Representation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>
          <a:xfrm>
            <a:off x="234950" y="1184420"/>
            <a:ext cx="8674100" cy="4868449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Background</a:t>
            </a:r>
          </a:p>
          <a:p>
            <a:pPr marL="0" indent="0">
              <a:buNone/>
            </a:pPr>
            <a:r>
              <a:rPr lang="en-US" sz="1400" b="0" dirty="0"/>
              <a:t>One of the earliest exact approaches for VRP. Guarantees optimal solutions.</a:t>
            </a:r>
          </a:p>
          <a:p>
            <a:pPr marL="0" indent="0">
              <a:buNone/>
            </a:pPr>
            <a:r>
              <a:rPr lang="en-US" sz="1400" b="0" dirty="0"/>
              <a:t>Complexity grows EXPONENTIALLY — impractical for large-scale instances.</a:t>
            </a:r>
          </a:p>
          <a:p>
            <a:pPr marL="0" indent="0">
              <a:buNone/>
            </a:pPr>
            <a:r>
              <a:rPr lang="en-US" sz="1400" b="0" dirty="0"/>
              <a:t>Used early in VRP research; now complemented by metaheuristics and MIP/CP systems.</a:t>
            </a:r>
          </a:p>
          <a:p>
            <a:pPr marL="0" indent="0">
              <a:buNone/>
            </a:pPr>
            <a:r>
              <a:rPr lang="en-US" sz="1400" b="0" dirty="0"/>
              <a:t>Still used as benchmark for evaluating heuristics on small instances.</a:t>
            </a:r>
          </a:p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/>
              <a:t>State Representation</a:t>
            </a:r>
          </a:p>
          <a:p>
            <a:pPr marL="0" indent="0">
              <a:buNone/>
            </a:pPr>
            <a:r>
              <a:rPr lang="en-US" sz="1400" b="0" dirty="0"/>
              <a:t>At any point in recursion, the algorithm tracks:</a:t>
            </a:r>
          </a:p>
          <a:p>
            <a:pPr marL="457200" indent="-457200">
              <a:buNone/>
            </a:pPr>
            <a:r>
              <a:rPr lang="en-US" sz="1400" b="0" dirty="0"/>
              <a:t>• Set of customers NOT yet visited</a:t>
            </a:r>
          </a:p>
          <a:p>
            <a:pPr marL="457200" indent="-457200">
              <a:buNone/>
            </a:pPr>
            <a:r>
              <a:rPr lang="en-US" sz="1400" b="0" dirty="0"/>
              <a:t>• List of routes (one per technician)</a:t>
            </a:r>
          </a:p>
          <a:p>
            <a:pPr marL="457200" indent="-457200">
              <a:buNone/>
            </a:pPr>
            <a:r>
              <a:rPr lang="en-US" sz="1400" b="0" dirty="0"/>
              <a:t>• Total accumulated time cost by each technician</a:t>
            </a:r>
          </a:p>
          <a:p>
            <a:pPr marL="457200" indent="-457200">
              <a:buNone/>
            </a:pPr>
            <a:r>
              <a:rPr lang="en-US" sz="1400" b="0" dirty="0"/>
              <a:t>• Current position of each technician</a:t>
            </a:r>
          </a:p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/>
              <a:t>Memory Key (Memoization)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>  key = ( frozenset(unassigned),  tuple(cur_positions) )</a:t>
            </a:r>
          </a:p>
          <a:p>
            <a:pPr marL="457200" indent="-457200">
              <a:buNone/>
            </a:pPr>
            <a:r>
              <a:rPr lang="en-US" sz="1400" b="0" dirty="0"/>
              <a:t>If memo[key] ≤ max(worker_times) → skip this subtree (already found a better solution).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</a:t>
            </a:r>
            <a:r>
              <a:rPr lang="en-US" sz="2600"/>
              <a:t>.2 </a:t>
            </a:r>
            <a:r>
              <a:rPr lang="en-US" sz="2600" dirty="0"/>
              <a:t>Base Case &amp; Recursive Step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Base Case: All customers assigned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>1. Compute: total_times[k] = worker_times[k] + dist[cur_positions[k]][0]</a:t>
            </a:r>
          </a:p>
          <a:p>
            <a:pPr marL="914400" indent="-457200">
              <a:buNone/>
            </a:pPr>
            <a:r>
              <a:rPr lang="en-US" sz="1400" b="0" dirty="0">
                <a:latin typeface="Courier New"/>
              </a:rPr>
              <a:t>           for all k where worker_routes[k] ≠ ∅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>2. max_time = max(total_times)</a:t>
            </a:r>
          </a:p>
          <a:p>
            <a:pPr marL="457200" indent="-457200">
              <a:buNone/>
            </a:pPr>
            <a:r>
              <a:rPr lang="en-US" sz="1400" b="0" dirty="0"/>
              <a:t>3. If max_time &lt; best_time:  update best_time and best_routes</a:t>
            </a:r>
          </a:p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/>
              <a:t>Recursive Step: For each unassigned customer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>for each customer ∈ unassigned: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>  for k = 0 to K−1:</a:t>
            </a:r>
          </a:p>
          <a:p>
            <a:pPr marL="914400" indent="-457200">
              <a:buNone/>
            </a:pPr>
            <a:r>
              <a:rPr lang="en-US" sz="1400" b="0" dirty="0">
                <a:latin typeface="Courier New"/>
              </a:rPr>
              <a:t>    total = worker_times[k] + dist[last_pos][customer] + d[customer]</a:t>
            </a:r>
          </a:p>
          <a:p>
            <a:pPr marL="914400" indent="-457200">
              <a:buNone/>
            </a:pPr>
            <a:r>
              <a:rPr lang="en-US" sz="1400" b="0" dirty="0">
                <a:solidFill>
                  <a:srgbClr val="C00000"/>
                </a:solidFill>
              </a:rPr>
              <a:t>    PRUNING: if total ≥ best_time → continue (skip)</a:t>
            </a:r>
          </a:p>
          <a:p>
            <a:pPr marL="914400" indent="-457200">
              <a:buNone/>
            </a:pPr>
            <a:r>
              <a:rPr lang="en-US" sz="1400" b="0" dirty="0"/>
              <a:t>    Assign customer to k  →  recurse  →  UNDO assignment</a:t>
            </a:r>
          </a:p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</a:rPr>
              <a:t>Search Space: O(K^N)</a:t>
            </a:r>
          </a:p>
          <a:p>
            <a:pPr marL="457200" indent="-457200">
              <a:buNone/>
            </a:pPr>
            <a:r>
              <a:rPr lang="en-US" sz="1400" b="0" dirty="0"/>
              <a:t>N=80, K=10: ≈ 10^80 possible assignments (&gt; atoms in observable universe)</a:t>
            </a:r>
          </a:p>
          <a:p>
            <a:pPr marL="457200" indent="-457200">
              <a:buNone/>
            </a:pPr>
            <a:r>
              <a:rPr lang="en-US" sz="1400" b="0" dirty="0"/>
              <a:t>Practical limit: N ≤ 10 only.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</a:t>
            </a:r>
            <a:r>
              <a:rPr lang="en-US" sz="2600"/>
              <a:t>.3 </a:t>
            </a:r>
            <a:r>
              <a:rPr lang="en-US" sz="2600" dirty="0"/>
              <a:t>Pseudocode — DFS Function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>
                <a:latin typeface="Courier New"/>
              </a:rPr>
              <a:t>function DFS(unassigned, worker_routes, worker_times, cur_positions)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key ← (frozenset(unassigned), tuple(cur_positions))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if key ∈ memo AND memo[key] ≤ max(worker_times):  return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memo[key] ← max(worker_times)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b="0" dirty="0">
              <a:latin typeface="Courier New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if unassigned is empty: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total_times ← [worker_times[k] + dist[cur_positions[k]][0]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            for all k where worker_routes[k] ≠ ∅]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if max(total_times) &lt; best_time: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best_time ← max(total_times)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best_routes ← worker_routes (with 0 appended to each route)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return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b="0" dirty="0">
              <a:latin typeface="Courier New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for each customer ∈ unassigned: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for k ← 0 to K−1: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total ← worker_times[k] + dist[cur_positions[k]][customer] + d[customer]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if total ≥ best_time:  continue   { PRUNING }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worker_routes[k].append(customer)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worker_times[k] ← total ;  cur_positions[k] ← customer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DFS(unassigned \ {customer}, worker_routes, worker_times, cur_positions)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worker_routes[k].pop()  { UNDO }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worker_times[k] ← worker_times[k] − (move_cost + service_cost)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cur_positions[k] ← last_pos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>
                <a:latin typeface="Courier New"/>
              </a:rPr>
              <a:t>end function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 </a:t>
            </a:r>
            <a:r>
              <a:rPr lang="en-US" sz="2600" dirty="0"/>
              <a:t>Constraint Programming (CP-SAT)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2200" b="0"/>
          </a:p>
          <a:p>
            <a:r>
              <a:rPr lang="en-US" sz="2200"/>
              <a:t>Background</a:t>
            </a:r>
          </a:p>
          <a:p>
            <a:r>
              <a:rPr lang="en-US" sz="2200"/>
              <a:t>Process</a:t>
            </a:r>
          </a:p>
          <a:p>
            <a:r>
              <a:rPr lang="en-US" sz="2200"/>
              <a:t>Modelling</a:t>
            </a:r>
            <a:endParaRPr lang="en-US" sz="2200" b="0" dirty="0"/>
          </a:p>
          <a:p>
            <a:r>
              <a:rPr lang="en-US" sz="2400"/>
              <a:t>Constraints</a:t>
            </a:r>
          </a:p>
          <a:p>
            <a:r>
              <a:rPr lang="en-US" sz="2400"/>
              <a:t>Results &amp; Scalability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/>
              <a:t>4.1 Background</a:t>
            </a:r>
            <a:endParaRPr lang="en-US" sz="2600" dirty="0"/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/>
              <a:t>CP with AddCircuit — Mathematically Guaranteed Solutions</a:t>
            </a:r>
          </a:p>
          <a:p>
            <a:pPr marL="0" indent="0">
              <a:buNone/>
            </a:pPr>
            <a:r>
              <a:rPr lang="en-US" sz="1600" b="0" dirty="0"/>
              <a:t>Provides provably correct solutions for small instances of the BSRM problem.</a:t>
            </a:r>
          </a:p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Fundamental Limitation</a:t>
            </a:r>
          </a:p>
          <a:p>
            <a:pPr marL="457200" indent="-457200">
              <a:buNone/>
            </a:pPr>
            <a:r>
              <a:rPr lang="en-US" sz="1600" b="0" dirty="0"/>
              <a:t>O(K × N²) variable count means CP CANNOT scale to large inputs.</a:t>
            </a:r>
          </a:p>
          <a:p>
            <a:pPr marL="457200" indent="-457200">
              <a:buNone/>
            </a:pPr>
            <a:r>
              <a:rPr lang="en-US" sz="1600" b="0" dirty="0"/>
              <a:t>This is not an implementation failure — it is a theoretical boundary.</a:t>
            </a:r>
          </a:p>
          <a:p>
            <a:pPr marL="457200" indent="-457200">
              <a:buNone/>
            </a:pPr>
            <a:r>
              <a:rPr lang="en-US" sz="1600" b="0" dirty="0"/>
              <a:t>VRP is NP-Hard: any exact formulation requires variables growing quadratically with N.</a:t>
            </a:r>
          </a:p>
          <a:p>
            <a:pPr marL="457200" indent="-457200">
              <a:buNone/>
            </a:pPr>
            <a:r>
              <a:rPr lang="en-US" sz="1600" b="0" dirty="0"/>
              <a:t>CP is most valuable as a benchmark producing provably correct solutions for small cases.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.2 </a:t>
            </a:r>
            <a:r>
              <a:rPr lang="en-US" sz="2600" dirty="0"/>
              <a:t>Process of Constraint Programming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Step 1: Model the Problem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Define decision variables, their domains, and all constraints.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Step 2: Propagate Constraints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Reduce variable domains by eliminating impossible values.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Techniques: domain consistency, bound consistency.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Step 3: Search Systematically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Assign values to variables (branching).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Backtrack when constraints are violated.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Use heuristics to guide variable/value selection.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Step 4: Optimize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/>
              <a:t>Tighten bounds iteratively to find the best solution within the time limit.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/>
              <a:t>Solver configuration used: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600" b="0" dirty="0">
                <a:latin typeface="Courier New"/>
              </a:rPr>
              <a:t>  solver.parameters.max_time_in_seconds </a:t>
            </a:r>
            <a:r>
              <a:rPr lang="en-US" sz="1600" b="0">
                <a:latin typeface="Courier New"/>
              </a:rPr>
              <a:t>= </a:t>
            </a:r>
            <a:r>
              <a:rPr lang="en-US" sz="1600">
                <a:latin typeface="Courier New"/>
              </a:rPr>
              <a:t>100.0</a:t>
            </a:r>
            <a:endParaRPr lang="en-US" sz="1600" b="0" dirty="0">
              <a:latin typeface="Courier New"/>
            </a:endParaRPr>
          </a:p>
          <a:p>
            <a:pPr>
              <a:spcBef>
                <a:spcPts val="600"/>
              </a:spcBef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.3 </a:t>
            </a:r>
            <a:r>
              <a:rPr lang="en-US" sz="2600" dirty="0"/>
              <a:t>Modelling — Decision Variables &amp; Objective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Decision Variables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x[i][j][k]  (BoolVar)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= 1 if technician k travels from node i to node j   (i ≠ j)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One variable per ordered pair (i,j) per technician k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self_loop[i][k]  (BoolVar)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= 1 if technician k does NOT visit customer i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Required by AddCircuit to allow circuits to skip certain nodes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/>
              <a:t>   </a:t>
            </a:r>
            <a:endParaRPr lang="en-US" sz="14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y[k]  (IntVar)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Total workload of technician k.  Domain: [0, UB]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UB = N × max(t) + Σd  (tight upper bound computed from input)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z  (IntVar) — THE OBJECTIVE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 b="0" dirty="0"/>
              <a:t>   Maximum workload across all technicians.  This is the value being MINIMIZED.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C00000"/>
                </a:solidFill>
              </a:rPr>
              <a:t>Objective Function:</a:t>
            </a:r>
          </a:p>
          <a:p>
            <a:pPr marL="914400" indent="-457200"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C00000"/>
                </a:solidFill>
              </a:rPr>
              <a:t>   minimize   z</a:t>
            </a:r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.4 </a:t>
            </a:r>
            <a:r>
              <a:rPr lang="en-US" sz="2600" dirty="0"/>
              <a:t>Constraints (1) &amp;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400" b="1" dirty="0"/>
                  <a:t>Constraint 1: Each customer visited exactly once</a:t>
                </a:r>
              </a:p>
              <a:p>
                <a:pPr>
                  <a:buNone/>
                </a:pPr>
                <a:endParaRPr lang="en-US" sz="1400" i="1">
                  <a:solidFill>
                    <a:srgbClr val="EE0000"/>
                  </a:solidFill>
                  <a:effectLst/>
                  <a:latin typeface="Cambria Math" panose="02040503050406030204" pitchFamily="18" charset="0"/>
                  <a:ea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i="1" smtClean="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i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k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x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i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j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1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  ∀ 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j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1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,…,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N</m:t>
                      </m:r>
                    </m:oMath>
                  </m:oMathPara>
                </a14:m>
                <a:endParaRPr lang="en-US" sz="1400" b="0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for j in range(1, N+1):</a:t>
                </a:r>
              </a:p>
              <a:p>
                <a:pPr marL="4572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model.Add(</a:t>
                </a:r>
              </a:p>
              <a:p>
                <a:pPr marL="9144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sum(x[i,j,k]  for k in range(1, K+1)</a:t>
                </a:r>
              </a:p>
              <a:p>
                <a:pPr marL="9144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          for i in range(N+1) if i != j)  ==  1</a:t>
                </a:r>
              </a:p>
              <a:p>
                <a:pPr marL="4572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)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endParaRPr lang="en-US" sz="1400" b="0" dirty="0">
                  <a:latin typeface="Courier New"/>
                </a:endParaRP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400" b="1" dirty="0"/>
                  <a:t>Constraint 2: Link between self_loop and x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400" i="1" smtClean="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i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j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k</m:t>
                              </m:r>
                            </m:e>
                          </m:d>
                        </m:e>
                      </m:nary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self</m:t>
                      </m:r>
                      <m:r>
                        <m:rPr>
                          <m:lit/>
                          <m:nor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loop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j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k</m:t>
                          </m:r>
                        </m:e>
                      </m:d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1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  ∀ 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j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, ∀ 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k</m:t>
                      </m:r>
                    </m:oMath>
                  </m:oMathPara>
                </a14:m>
                <a:endParaRPr lang="en-US" sz="18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457200" indent="-457200">
                  <a:spcBef>
                    <a:spcPts val="300"/>
                  </a:spcBef>
                  <a:buNone/>
                </a:pPr>
                <a:r>
                  <a:rPr lang="en-US" sz="1400" b="0" dirty="0"/>
                  <a:t>Either technician k visits j (incoming x sums to 1) OR self_loop is active (k skips j).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endParaRPr lang="en-US" sz="1400" b="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for j in range(1, N+1):</a:t>
                </a:r>
              </a:p>
              <a:p>
                <a:pPr marL="4572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for k in range(1, K+1):</a:t>
                </a:r>
              </a:p>
              <a:p>
                <a:pPr marL="9144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model.Add(</a:t>
                </a:r>
              </a:p>
              <a:p>
                <a:pPr marL="13716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sum(x[i,j,k] for i in range(N+1) if i!=j)</a:t>
                </a:r>
              </a:p>
              <a:p>
                <a:pPr marL="13716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+ self_loop[j, k]  ==  1</a:t>
                </a:r>
              </a:p>
              <a:p>
                <a:pPr marL="914400" indent="-457200">
                  <a:spcBef>
                    <a:spcPts val="3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)</a:t>
                </a:r>
              </a:p>
              <a:p>
                <a:pPr>
                  <a:spcBef>
                    <a:spcPts val="300"/>
                  </a:spcBef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11" t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.4 </a:t>
            </a:r>
            <a:r>
              <a:rPr lang="en-US" sz="2600" dirty="0"/>
              <a:t>Constraint (3): AddCircuit — Valid Route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0" dirty="0"/>
                  <a:t>AddCircuit simultaneously replaces THREE constraint groups: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/>
                  <a:t>  ① Flow conservation (in-degree = out-degree at every node)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/>
                  <a:t>  ② Depot constraint (route starts and ends at node 0)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/>
                  <a:t>  ③ </a:t>
                </a:r>
                <a:r>
                  <a:rPr lang="en-US" sz="1400" b="0"/>
                  <a:t>Subtour elimination</a:t>
                </a:r>
                <a:endParaRPr lang="en-US" sz="1400" b="0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1" dirty="0"/>
                  <a:t>Mathematical formulation: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smtClean="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AddCircuit</m:t>
                      </m:r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​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{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i</m:t>
                              </m:r>
                              <m: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i</m:t>
                              </m:r>
                              <m: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, </m:t>
                              </m:r>
                              <m:r>
                                <m:rPr>
                                  <m:nor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self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loop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i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d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i</m:t>
                          </m:r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=1..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N</m:t>
                          </m:r>
                          <m:r>
                            <m:rPr>
                              <m:lit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}</m:t>
                          </m:r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∪</m:t>
                          </m:r>
                          <m:r>
                            <m:rPr>
                              <m:lit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{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i</m:t>
                              </m:r>
                              <m: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j</m:t>
                              </m:r>
                              <m: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, 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x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i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j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EE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d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i</m:t>
                          </m:r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j</m:t>
                          </m:r>
                          <m:r>
                            <m:rPr>
                              <m:lit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}</m:t>
                          </m:r>
                        </m:e>
                      </m:d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 ∀ 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k</m:t>
                      </m:r>
                    </m:oMath>
                  </m:oMathPara>
                </a14:m>
                <a:endParaRPr lang="en-US" sz="18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sz="1400" b="0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1" dirty="0"/>
                  <a:t>Python code: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for k in range(1, K+1):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arcs = []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for i in range(1, N+1):</a:t>
                </a:r>
              </a:p>
              <a:p>
                <a:pPr marL="9144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arcs.append((i, i, self_loop[i, k]))  # skip arc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for i in range(N+1):</a:t>
                </a:r>
              </a:p>
              <a:p>
                <a:pPr marL="9144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for j in range(N+1):</a:t>
                </a:r>
              </a:p>
              <a:p>
                <a:pPr marL="13716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if i != j:</a:t>
                </a:r>
              </a:p>
              <a:p>
                <a:pPr marL="18288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    arcs.append((i, j, x[i, j, k]))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model.AddCircuit(arcs)</a:t>
                </a:r>
              </a:p>
              <a:p>
                <a:pPr>
                  <a:spcBef>
                    <a:spcPts val="600"/>
                  </a:spcBef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11" t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.4 </a:t>
            </a:r>
            <a:r>
              <a:rPr lang="en-US" sz="2600" dirty="0"/>
              <a:t>Constraints (4) &amp; (5): Workload &amp;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1" dirty="0"/>
                  <a:t>Constraint 4: Workload Calculation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4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zh-CN" sz="1400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/>
                            <m:e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4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zh-CN" sz="1400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≠</m:t>
                          </m:r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/>
                        <m:e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4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 ∀</m:t>
                      </m:r>
                      <m:r>
                        <a:rPr lang="en-US" sz="14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en-US" sz="1400" b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0">
                    <a:latin typeface="Courier New"/>
                  </a:rPr>
                  <a:t>for </a:t>
                </a:r>
                <a:r>
                  <a:rPr lang="en-US" sz="1400" b="0" dirty="0">
                    <a:latin typeface="Courier New"/>
                  </a:rPr>
                  <a:t>k in range(1, K+1):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total = []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for i in range(N+1):</a:t>
                </a:r>
              </a:p>
              <a:p>
                <a:pPr marL="9144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for j in range(N+1):</a:t>
                </a:r>
              </a:p>
              <a:p>
                <a:pPr marL="13716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if i != j:</a:t>
                </a:r>
              </a:p>
              <a:p>
                <a:pPr marL="18288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    cost    = matrix[i][j]</a:t>
                </a:r>
              </a:p>
              <a:p>
                <a:pPr marL="18288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    service = d[j] if j != 0 else 0</a:t>
                </a:r>
              </a:p>
              <a:p>
                <a:pPr marL="18288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            total.append(x[i,j,k] * (cost + service))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model.Add(y[k] == sum(total))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sz="1400" b="0" dirty="0">
                  <a:latin typeface="Courier New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1" dirty="0"/>
                  <a:t>Constraint 5: z is the Maximum Workload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solidFill>
                      <a:srgbClr val="C00000"/>
                    </a:solidFill>
                  </a:rPr>
                  <a:t>z  ≥  y[k]     ∀ k = 1, …, K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sz="1400" b="0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for k in range(1, K+1):</a:t>
                </a:r>
              </a:p>
              <a:p>
                <a:pPr marL="457200" indent="-45720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    model.Add(z &gt;= y[k])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400" b="0" dirty="0">
                    <a:latin typeface="Courier New"/>
                  </a:rPr>
                  <a:t>model.Minimize(z)</a:t>
                </a:r>
              </a:p>
              <a:p>
                <a:pPr>
                  <a:spcBef>
                    <a:spcPts val="600"/>
                  </a:spcBef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11" t="-690" b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.5 </a:t>
            </a:r>
            <a:r>
              <a:rPr lang="en-US" sz="2600" dirty="0"/>
              <a:t>CP Results — Online Judge Test Execution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Test Results Submitted to Online Judge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urier New"/>
              </a:rPr>
              <a:t>  N     K     Message                    Runtime (ms)   Memory (</a:t>
            </a:r>
            <a:r>
              <a:rPr lang="en-US" sz="1400" b="1">
                <a:latin typeface="Courier New"/>
              </a:rPr>
              <a:t>MB)</a:t>
            </a:r>
          </a:p>
          <a:p>
            <a:pPr marL="0" indent="0">
              <a:buNone/>
            </a:pPr>
            <a:r>
              <a:rPr lang="en-US" sz="1400" b="0">
                <a:latin typeface="Courier New"/>
              </a:rPr>
              <a:t>  </a:t>
            </a:r>
          </a:p>
          <a:p>
            <a:pPr marL="0" indent="0">
              <a:buNone/>
            </a:pPr>
            <a:r>
              <a:rPr lang="en-US" sz="1400" b="0">
                <a:latin typeface="Courier New"/>
              </a:rPr>
              <a:t>  </a:t>
            </a:r>
          </a:p>
          <a:p>
            <a:pPr marL="0" indent="0">
              <a:buNone/>
            </a:pPr>
            <a:endParaRPr lang="en-US" sz="1400">
              <a:latin typeface="Courier New"/>
            </a:endParaRPr>
          </a:p>
          <a:p>
            <a:pPr marL="0" indent="0">
              <a:buNone/>
            </a:pPr>
            <a:endParaRPr lang="en-US" sz="1400" b="0" dirty="0">
              <a:latin typeface="Courier New"/>
            </a:endParaRPr>
          </a:p>
          <a:p>
            <a:pPr marL="0" indent="0">
              <a:buNone/>
            </a:pPr>
            <a:r>
              <a:rPr lang="en-US" sz="1400" b="0" dirty="0"/>
              <a:t>Tests 3 and 7 PASSED (small inputs, fit within 1024 MB limit).</a:t>
            </a:r>
          </a:p>
          <a:p>
            <a:pPr marL="0" indent="0">
              <a:buNone/>
            </a:pPr>
            <a:r>
              <a:rPr lang="en-US" sz="1400" b="0" dirty="0"/>
              <a:t>All 8 failing tests hit Memory Limit Exceeded before any search began.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C00000"/>
                </a:solidFill>
              </a:rPr>
              <a:t>Memory consumed entirely during MODEL CONSTRUCTION — not during search.</a:t>
            </a:r>
          </a:p>
          <a:p>
            <a:pPr marL="0" indent="0">
              <a:buNone/>
            </a:pPr>
            <a:endParaRPr lang="en-US" sz="1400" b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400" b="1" dirty="0"/>
              <a:t>Why the hard 1,024 MB ceiling?</a:t>
            </a:r>
          </a:p>
          <a:p>
            <a:pPr marL="457200" indent="-457200">
              <a:buNone/>
            </a:pPr>
            <a:r>
              <a:rPr lang="en-US" sz="1400" b="0" dirty="0"/>
              <a:t>At N=1000, K=100: ~100 million BoolVars required.</a:t>
            </a:r>
          </a:p>
          <a:p>
            <a:pPr marL="457200" indent="-457200">
              <a:buNone/>
            </a:pPr>
            <a:r>
              <a:rPr lang="en-US" sz="1400" b="0" dirty="0"/>
              <a:t>Each BoolVar carries internal memory overhead beyond a single bit.</a:t>
            </a:r>
          </a:p>
          <a:p>
            <a:pPr marL="457200" indent="-457200">
              <a:buNone/>
            </a:pPr>
            <a:r>
              <a:rPr lang="en-US" sz="1400" b="0" dirty="0"/>
              <a:t>Failing tests show EXACTLY 1,024 MB used — the hard ceiling is hit during model build.</a:t>
            </a:r>
          </a:p>
          <a:p>
            <a:endParaRPr lang="en-US" sz="1400" dirty="0"/>
          </a:p>
        </p:txBody>
      </p:sp>
      <p:graphicFrame>
        <p:nvGraphicFramePr>
          <p:cNvPr id="4" name="Bảng 3">
            <a:extLst>
              <a:ext uri="{FF2B5EF4-FFF2-40B4-BE49-F238E27FC236}">
                <a16:creationId xmlns:a16="http://schemas.microsoft.com/office/drawing/2014/main" id="{6DADF5C2-C252-BC2E-9EB2-3CC2B0646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47686"/>
              </p:ext>
            </p:extLst>
          </p:nvPr>
        </p:nvGraphicFramePr>
        <p:xfrm>
          <a:off x="437070" y="1828321"/>
          <a:ext cx="69989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605">
                  <a:extLst>
                    <a:ext uri="{9D8B030D-6E8A-4147-A177-3AD203B41FA5}">
                      <a16:colId xmlns:a16="http://schemas.microsoft.com/office/drawing/2014/main" val="1965931159"/>
                    </a:ext>
                  </a:extLst>
                </a:gridCol>
                <a:gridCol w="638355">
                  <a:extLst>
                    <a:ext uri="{9D8B030D-6E8A-4147-A177-3AD203B41FA5}">
                      <a16:colId xmlns:a16="http://schemas.microsoft.com/office/drawing/2014/main" val="3899966820"/>
                    </a:ext>
                  </a:extLst>
                </a:gridCol>
                <a:gridCol w="2872596">
                  <a:extLst>
                    <a:ext uri="{9D8B030D-6E8A-4147-A177-3AD203B41FA5}">
                      <a16:colId xmlns:a16="http://schemas.microsoft.com/office/drawing/2014/main" val="2243873248"/>
                    </a:ext>
                  </a:extLst>
                </a:gridCol>
                <a:gridCol w="1630393">
                  <a:extLst>
                    <a:ext uri="{9D8B030D-6E8A-4147-A177-3AD203B41FA5}">
                      <a16:colId xmlns:a16="http://schemas.microsoft.com/office/drawing/2014/main" val="2434008259"/>
                    </a:ext>
                  </a:extLst>
                </a:gridCol>
                <a:gridCol w="1224951">
                  <a:extLst>
                    <a:ext uri="{9D8B030D-6E8A-4147-A177-3AD203B41FA5}">
                      <a16:colId xmlns:a16="http://schemas.microsoft.com/office/drawing/2014/main" val="2837381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Perfect, jury solution is 370, participant solution is 360</a:t>
                      </a:r>
                      <a:endParaRPr lang="en-US" sz="1200" b="0">
                        <a:solidFill>
                          <a:schemeClr val="tx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2,538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49,633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84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Perfect, jury solution is 560, participant solution is 540</a:t>
                      </a:r>
                      <a:endParaRPr lang="en-US" sz="1200" b="0">
                        <a:solidFill>
                          <a:schemeClr val="tx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12,811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90,867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6551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</a:t>
            </a:r>
            <a:r>
              <a:rPr lang="en-US" sz="2600"/>
              <a:t>.6 </a:t>
            </a:r>
            <a:r>
              <a:rPr lang="en-US" sz="2600" dirty="0"/>
              <a:t>Why CP Cannot Scale — Variable Count Analysis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C00000"/>
                </a:solidFill>
              </a:rPr>
              <a:t>Variable Count: O(K × N²)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/>
              <a:t>x[i][j][k] BoolVars: one per ordered pair (i,j) per technician k  →  K × N(N+1) vars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/>
              <a:t>self_loop[i][k] BoolVars: N × K additional vars</a:t>
            </a:r>
          </a:p>
          <a:p>
            <a:pPr marL="0" indent="0">
              <a:spcBef>
                <a:spcPts val="300"/>
              </a:spcBef>
              <a:buNone/>
            </a:pPr>
            <a:endParaRPr lang="en-US" sz="1400" b="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400" b="1" dirty="0"/>
              <a:t>Variable Count Scaling Table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latin typeface="Courier New"/>
              </a:rPr>
              <a:t>  </a:t>
            </a:r>
            <a:r>
              <a:rPr lang="en-US" sz="1400" b="1">
                <a:latin typeface="Courier New"/>
              </a:rPr>
              <a:t>N     |    K   |  </a:t>
            </a:r>
            <a:r>
              <a:rPr lang="en-US" sz="1400" b="1" dirty="0">
                <a:latin typeface="Courier New"/>
              </a:rPr>
              <a:t>x[i][j][k] </a:t>
            </a:r>
            <a:r>
              <a:rPr lang="en-US" sz="1400" b="1">
                <a:latin typeface="Courier New"/>
              </a:rPr>
              <a:t>vars  |  </a:t>
            </a:r>
            <a:r>
              <a:rPr lang="en-US" sz="1400" b="1" dirty="0">
                <a:latin typeface="Courier New"/>
              </a:rPr>
              <a:t>self_loop </a:t>
            </a:r>
            <a:r>
              <a:rPr lang="en-US" sz="1400" b="1">
                <a:latin typeface="Courier New"/>
              </a:rPr>
              <a:t>vars  |  </a:t>
            </a:r>
            <a:r>
              <a:rPr lang="en-US" sz="1400" b="1" dirty="0">
                <a:latin typeface="Courier New"/>
              </a:rPr>
              <a:t>Total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>
                <a:latin typeface="Courier New"/>
              </a:rPr>
              <a:t>──────────────────────────────────────────────────────────────</a:t>
            </a:r>
            <a:r>
              <a:rPr lang="en-US" sz="1400">
                <a:latin typeface="Courier New"/>
              </a:rPr>
              <a:t>──────────────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>
                <a:latin typeface="Courier New"/>
              </a:rPr>
              <a:t>     5  |    2   |          60       |         10       | ≥ 73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>
                <a:latin typeface="Courier New"/>
              </a:rPr>
              <a:t>    10  |    2   |         220       |         20       | </a:t>
            </a:r>
            <a:r>
              <a:rPr lang="en-US" sz="1400" b="0" dirty="0">
                <a:latin typeface="Courier New"/>
              </a:rPr>
              <a:t>≥ 243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  </a:t>
            </a:r>
            <a:r>
              <a:rPr lang="en-US" sz="1400" b="0">
                <a:latin typeface="Courier New"/>
              </a:rPr>
              <a:t>20  |    3   </a:t>
            </a:r>
            <a:r>
              <a:rPr lang="en-US" sz="1400">
                <a:latin typeface="Courier New"/>
              </a:rPr>
              <a:t>|</a:t>
            </a:r>
            <a:r>
              <a:rPr lang="en-US" sz="1400" b="0">
                <a:latin typeface="Courier New"/>
              </a:rPr>
              <a:t>       1,260       |         60       | </a:t>
            </a:r>
            <a:r>
              <a:rPr lang="en-US" sz="1400" b="0" dirty="0">
                <a:latin typeface="Courier New"/>
              </a:rPr>
              <a:t>≥ 1,324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 </a:t>
            </a:r>
            <a:r>
              <a:rPr lang="en-US" sz="1400" b="0">
                <a:latin typeface="Courier New"/>
              </a:rPr>
              <a:t>100  |   10   |     100,100       |      1,000       | </a:t>
            </a:r>
            <a:r>
              <a:rPr lang="en-US" sz="1400" b="0" dirty="0">
                <a:latin typeface="Courier New"/>
              </a:rPr>
              <a:t>≥ 102,011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 </a:t>
            </a:r>
            <a:r>
              <a:rPr lang="en-US" sz="1400" b="0">
                <a:latin typeface="Courier New"/>
              </a:rPr>
              <a:t>400  |   40   |   6,400,160       |     16,000       | </a:t>
            </a:r>
            <a:r>
              <a:rPr lang="en-US" sz="1400" b="0" dirty="0">
                <a:latin typeface="Courier New"/>
              </a:rPr>
              <a:t>≥ 6,432,041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</a:t>
            </a:r>
            <a:r>
              <a:rPr lang="en-US" sz="1400" b="0">
                <a:latin typeface="Courier New"/>
              </a:rPr>
              <a:t>1,000  |  100   | 100,100,000       |    100,000       | </a:t>
            </a:r>
            <a:r>
              <a:rPr lang="en-US" sz="1400" b="0" dirty="0">
                <a:latin typeface="Courier New"/>
              </a:rPr>
              <a:t>≥ 100,200,101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>
                <a:latin typeface="Courier New"/>
              </a:rPr>
              <a:t>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spcBef>
                <a:spcPts val="300"/>
              </a:spcBef>
              <a:buNone/>
            </a:pPr>
            <a:endParaRPr lang="en-US" sz="1400" b="0" dirty="0">
              <a:latin typeface="Courier New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C00000"/>
                </a:solidFill>
              </a:rPr>
              <a:t>VRP is NP-Hard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/>
              <a:t>Even unlimited memory would not help — the search space grows exponentially.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/>
              <a:t>K=10, N=80: search space ≈ 10^80 (&gt; atoms in observable universe).</a:t>
            </a:r>
          </a:p>
          <a:p>
            <a:pPr marL="0" indent="0">
              <a:spcBef>
                <a:spcPts val="300"/>
              </a:spcBef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</a:t>
            </a:r>
            <a:r>
              <a:rPr lang="en-US" sz="2600"/>
              <a:t>. </a:t>
            </a:r>
            <a:r>
              <a:rPr lang="en-US" sz="2600" dirty="0"/>
              <a:t>Greedy Algorithm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Sorted </a:t>
            </a:r>
            <a:r>
              <a:rPr lang="en-US" sz="2200" b="0"/>
              <a:t>Cheapest Insertion</a:t>
            </a:r>
            <a:endParaRPr lang="en-US" sz="2200" b="0" dirty="0"/>
          </a:p>
          <a:p>
            <a:r>
              <a:rPr lang="en-US" sz="1800"/>
              <a:t>Background</a:t>
            </a:r>
          </a:p>
          <a:p>
            <a:r>
              <a:rPr lang="en-US" sz="1800"/>
              <a:t>Logic (3 Phases)</a:t>
            </a:r>
          </a:p>
          <a:p>
            <a:r>
              <a:rPr lang="en-US" sz="1800"/>
              <a:t>Pseudocode</a:t>
            </a:r>
          </a:p>
          <a:p>
            <a:r>
              <a:rPr lang="en-US" sz="1800"/>
              <a:t>Complexity Analysis</a:t>
            </a:r>
            <a:endParaRPr lang="en-US" sz="1800" b="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</a:t>
            </a:r>
            <a:r>
              <a:rPr lang="en-US" sz="2600"/>
              <a:t>.1 </a:t>
            </a:r>
            <a:r>
              <a:rPr lang="en-US" sz="2600" dirty="0"/>
              <a:t>Background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Classic Greedy Heuristics — Limitation</a:t>
            </a:r>
          </a:p>
          <a:p>
            <a:pPr marL="0" indent="0">
              <a:buNone/>
            </a:pPr>
            <a:r>
              <a:rPr lang="en-US" sz="1800" b="0" dirty="0"/>
              <a:t>Nearest Neighbor constructs routes sequentially or greedily appends nodes to the end of a route.</a:t>
            </a:r>
          </a:p>
          <a:p>
            <a:pPr marL="0" indent="0">
              <a:buNone/>
            </a:pPr>
            <a:r>
              <a:rPr lang="en-US" sz="1800" b="0" dirty="0"/>
              <a:t>Problem: remaining nodes at end are often far apart → subsequent routes absorb massive travel times → extreme workload imbalance.</a:t>
            </a:r>
          </a:p>
          <a:p>
            <a:pPr marL="0" indent="0">
              <a:buNone/>
            </a:pPr>
            <a:endParaRPr lang="en-US" sz="1800" b="0" dirty="0"/>
          </a:p>
          <a:p>
            <a:pPr marL="0" indent="0">
              <a:buNone/>
            </a:pPr>
            <a:r>
              <a:rPr lang="en-US" sz="2000" b="1" dirty="0"/>
              <a:t>Sorted Cheapest Insertion — Two Core Modifications</a:t>
            </a:r>
          </a:p>
          <a:p>
            <a:pPr marL="0" indent="0">
              <a:buNone/>
            </a:pPr>
            <a:r>
              <a:rPr lang="en-US" sz="1800" b="1" dirty="0"/>
              <a:t>① Furthest-First Sort</a:t>
            </a:r>
          </a:p>
          <a:p>
            <a:pPr marL="457200" indent="-457200">
              <a:buNone/>
            </a:pPr>
            <a:r>
              <a:rPr lang="en-US" sz="1800" b="0" dirty="0"/>
              <a:t>   Prioritizes customers far from depot OR with long maintenance times.</a:t>
            </a:r>
          </a:p>
          <a:p>
            <a:pPr marL="457200" indent="-457200">
              <a:buNone/>
            </a:pPr>
            <a:r>
              <a:rPr lang="en-US" sz="1800" b="0" dirty="0"/>
              <a:t>   By routing "difficult" nodes FIRST, reserves flexible nearby nodes for later.</a:t>
            </a:r>
          </a:p>
          <a:p>
            <a:pPr marL="0" indent="0">
              <a:buNone/>
            </a:pPr>
            <a:endParaRPr lang="en-US" sz="1800" b="0" dirty="0"/>
          </a:p>
          <a:p>
            <a:pPr marL="0" indent="0">
              <a:buNone/>
            </a:pPr>
            <a:r>
              <a:rPr lang="en-US" sz="1800" b="1" dirty="0"/>
              <a:t>② Global Cheapest Insertion</a:t>
            </a:r>
          </a:p>
          <a:p>
            <a:pPr marL="457200" indent="-457200">
              <a:buNone/>
            </a:pPr>
            <a:r>
              <a:rPr lang="en-US" sz="1800" b="0" dirty="0"/>
              <a:t>   Instead of appending to the end, evaluates inserting the target customer at ANY feasible position within ANY route.</a:t>
            </a:r>
          </a:p>
          <a:p>
            <a:pPr marL="457200" indent="-457200">
              <a:buNone/>
            </a:pPr>
            <a:r>
              <a:rPr lang="en-US" sz="1800" b="0" dirty="0"/>
              <a:t>   Naturally balances workloads — inserting into a shorter route is computationally favored.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</a:t>
            </a:r>
            <a:r>
              <a:rPr lang="en-US" sz="2600"/>
              <a:t>.2 </a:t>
            </a:r>
            <a:r>
              <a:rPr lang="en-US" sz="2600" dirty="0"/>
              <a:t>Logic — Phase 1: Initialization &amp; Phase 2: Sorting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Phase 1: Initialization</a:t>
            </a:r>
          </a:p>
          <a:p>
            <a:pPr marL="0" indent="0">
              <a:buNone/>
            </a:pPr>
            <a:r>
              <a:rPr lang="en-US" sz="1400" b="0" dirty="0"/>
              <a:t>Initialize K empty routes: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>   R_k = ⟨0, 0⟩   with accumulated workload = 0   for all k ∈ {1, …, K}</a:t>
            </a:r>
          </a:p>
          <a:p>
            <a:pPr marL="0" indent="0">
              <a:buNone/>
            </a:pPr>
            <a:endParaRPr lang="en-US" sz="1400" b="0" dirty="0">
              <a:latin typeface="Courier New"/>
            </a:endParaRPr>
          </a:p>
          <a:p>
            <a:pPr marL="0" indent="0">
              <a:buNone/>
            </a:pPr>
            <a:r>
              <a:rPr lang="en-US" sz="1400" b="1" dirty="0"/>
              <a:t>Phase 2: Priority Sorting</a:t>
            </a:r>
          </a:p>
          <a:p>
            <a:pPr marL="0" indent="0">
              <a:buNone/>
            </a:pPr>
            <a:r>
              <a:rPr lang="en-US" sz="1400" b="0" dirty="0"/>
              <a:t>Compute priority metric P(u) for each customer u:</a:t>
            </a:r>
          </a:p>
          <a:p>
            <a:pPr marL="0" indent="0">
              <a:buNone/>
            </a:pPr>
            <a:endParaRPr lang="en-US" sz="1400" b="0" dirty="0"/>
          </a:p>
          <a:p>
            <a:pPr marL="914400" indent="-457200">
              <a:buNone/>
            </a:pPr>
            <a:r>
              <a:rPr lang="en-US" sz="1400" b="0" dirty="0">
                <a:solidFill>
                  <a:srgbClr val="C00000"/>
                </a:solidFill>
              </a:rPr>
              <a:t>         P(u)  =  t(0, u)  +  d(u)</a:t>
            </a:r>
          </a:p>
          <a:p>
            <a:pPr marL="0" indent="0">
              <a:buNone/>
            </a:pPr>
            <a:endParaRPr lang="en-US" sz="1400" b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400" b="0" dirty="0"/>
              <a:t>Sort the customer set in DESCENDING order of P(u).</a:t>
            </a:r>
          </a:p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/>
              <a:t>Rationale:</a:t>
            </a:r>
          </a:p>
          <a:p>
            <a:pPr marL="457200" indent="-457200">
              <a:buNone/>
            </a:pPr>
            <a:r>
              <a:rPr lang="en-US" sz="1400" b="0" dirty="0"/>
              <a:t>Customers that are farthest from depot AND/OR require longest service time are inserted FIRST.</a:t>
            </a:r>
          </a:p>
          <a:p>
            <a:pPr marL="457200" indent="-457200">
              <a:buNone/>
            </a:pPr>
            <a:r>
              <a:rPr lang="en-US" sz="1400" b="0" dirty="0"/>
              <a:t>Forces the algorithm to commit to hard decisions early, when all routes still have flexibility.</a:t>
            </a:r>
          </a:p>
          <a:p>
            <a:pPr marL="457200" indent="-457200">
              <a:buNone/>
            </a:pPr>
            <a:r>
              <a:rPr lang="en-US" sz="1400" b="0" dirty="0"/>
              <a:t>Avoids the "stranded node" problem of classic greedy methods.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</a:t>
            </a:r>
            <a:r>
              <a:rPr lang="en-US" sz="2600"/>
              <a:t>.3 </a:t>
            </a:r>
            <a:r>
              <a:rPr lang="en-US" sz="2600" dirty="0"/>
              <a:t>Logic — Phase 3: Incremental Cheapest Insertion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400" b="1" dirty="0"/>
                  <a:t>For each customer u in the sorted list: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Search for optimal route k* and insertion index i* that minimizes the resulting workload.</a:t>
                </a:r>
              </a:p>
              <a:p>
                <a:pPr marL="0" indent="0">
                  <a:buNone/>
                </a:pPr>
                <a:endParaRPr lang="en-US" sz="1400" b="0" dirty="0"/>
              </a:p>
              <a:p>
                <a:pPr marL="0" indent="0">
                  <a:buNone/>
                </a:pPr>
                <a:r>
                  <a:rPr lang="en-US" sz="1400" b="1" dirty="0"/>
                  <a:t>Inserting u between consecutive nodes prev = r[i-1] and nxt = r[i]: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457200" indent="-457200">
                  <a:buNone/>
                </a:pPr>
                <a:r>
                  <a:rPr lang="en-US" sz="1400" b="0" dirty="0">
                    <a:solidFill>
                      <a:srgbClr val="C00000"/>
                    </a:solidFill>
                  </a:rPr>
                  <a:t>   ΔCost  =  t(prev, u)  +  d(u)  +  t(u, nxt)  −  t(prev, nxt)</a:t>
                </a:r>
              </a:p>
              <a:p>
                <a:pPr marL="0" indent="0">
                  <a:buNone/>
                </a:pPr>
                <a:endParaRPr lang="en-US" sz="1400" b="0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r>
                  <a:rPr lang="en-US" sz="1400" b="0" dirty="0">
                    <a:solidFill>
                      <a:srgbClr val="C0000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EE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EE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>
                            <a:solidFill>
                              <a:srgbClr val="EE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  <m:t>new</m:t>
                        </m:r>
                      </m:sub>
                    </m:sSub>
                    <m:r>
                      <a:rPr lang="en-US" sz="1400">
                        <a:solidFill>
                          <a:srgbClr val="EE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EE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W</m:t>
                    </m:r>
                    <m:d>
                      <m:dPr>
                        <m:ctrlPr>
                          <a:rPr lang="en-US" sz="1400" i="1">
                            <a:solidFill>
                              <a:srgbClr val="EE0000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EE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EE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EE0000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Courier New" panose="02070309020205020404" pitchFamily="49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sz="1400">
                        <a:solidFill>
                          <a:srgbClr val="EE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EE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400" i="1" smtClean="0">
                        <a:solidFill>
                          <a:srgbClr val="EE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c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EE0000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Courier New" panose="02070309020205020404" pitchFamily="49" charset="0"/>
                      </a:rPr>
                      <m:t>ost</m:t>
                    </m:r>
                  </m:oMath>
                </a14:m>
                <a:endParaRPr lang="en-US" sz="1800">
                  <a:latin typeface="Arial" panose="020B0604020202020204" pitchFamily="34" charset="0"/>
                </a:endParaRPr>
              </a:p>
              <a:p>
                <a:pPr>
                  <a:buNone/>
                </a:pPr>
                <a:endParaRPr lang="en-US" sz="1400" b="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400" b="0" dirty="0"/>
                  <a:t>• ΔCost evaluation: O(1) per (route, position) pair</a:t>
                </a:r>
              </a:p>
              <a:p>
                <a:pPr marL="0" indent="0">
                  <a:buNone/>
                </a:pPr>
                <a:r>
                  <a:rPr lang="en-US" sz="1400" b="0" dirty="0"/>
                  <a:t>• ALL positions across ALL routes evaluated → select globally optimal (k*, i*)</a:t>
                </a:r>
              </a:p>
              <a:p>
                <a:pPr marL="0" indent="0">
                  <a:buNone/>
                </a:pPr>
                <a:r>
                  <a:rPr lang="en-US" sz="1400" b="0" dirty="0"/>
                  <a:t>• Insert u into routes[k*] at index i* → update workloads[k*] = W_new</a:t>
                </a:r>
              </a:p>
              <a:p>
                <a:pPr marL="0" indent="0">
                  <a:buNone/>
                </a:pPr>
                <a:endParaRPr lang="en-US" sz="1400" b="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C00000"/>
                    </a:solidFill>
                  </a:rPr>
                  <a:t>Key insight: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Global search across routes naturally balances workloads WITHOUT any explicit load-balancing step.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" name="Content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11" t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</a:t>
            </a:r>
            <a:r>
              <a:rPr lang="en-US" sz="2600"/>
              <a:t>.4 </a:t>
            </a:r>
            <a:r>
              <a:rPr lang="en-US" sz="2600" dirty="0"/>
              <a:t>Pseudocode — SolveSRM (Part 1 of 2)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>
          <a:xfrm>
            <a:off x="235077" y="806743"/>
            <a:ext cx="8674100" cy="530339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>
                <a:latin typeface="Courier New"/>
              </a:rPr>
              <a:t>procedure SOLVESRM(N, K, d, t)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routes[1..K] ← array of ⟨0, 0⟩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workloads[1..K] ← 0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customers ← [1, 2, …, N]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Sort customers ↓ by ( t(0,u) + d(u) 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b="0" dirty="0">
              <a:latin typeface="Courier New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for each u in customers do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best_k ← −1 ;  best_pos ← −1 ;  min_new_wl ← ∞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for k = 1 to K do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R ← routes[k]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for i = 1 to len(R)−1 do</a:t>
            </a:r>
          </a:p>
          <a:p>
            <a:pPr marL="13716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prev ← R[i−1] ;  nxt ← R[i]</a:t>
            </a:r>
          </a:p>
          <a:p>
            <a:pPr marL="13716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Δ ← −t(prev,nxt) + t(prev,u) + d(u) + t(u,nxt)</a:t>
            </a:r>
          </a:p>
          <a:p>
            <a:pPr marL="13716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new_wl ← workloads[k] + Δ</a:t>
            </a:r>
          </a:p>
          <a:p>
            <a:pPr marL="13716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if new_wl &lt; min_new_wl then</a:t>
            </a:r>
          </a:p>
          <a:p>
            <a:pPr marL="18288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  min_new_wl ← new_wl ; best_k ← k ; best_pos ← i</a:t>
            </a:r>
          </a:p>
          <a:p>
            <a:pPr marL="13716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  end if</a:t>
            </a:r>
          </a:p>
          <a:p>
            <a:pPr marL="9144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  end for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end for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Insert u into routes[best_k] at index best_pos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  workloads[best_k] ← min_new_wl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end for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0" dirty="0">
                <a:latin typeface="Courier New"/>
              </a:rPr>
              <a:t>  return routes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>
                <a:latin typeface="Courier New"/>
              </a:rPr>
              <a:t>end procedure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</a:t>
            </a:r>
            <a:r>
              <a:rPr lang="en-US" sz="2600"/>
              <a:t>.5 </a:t>
            </a:r>
            <a:r>
              <a:rPr lang="en-US" sz="2600" dirty="0"/>
              <a:t>Complexity &amp; Performance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400" b="1" dirty="0"/>
                  <a:t>Time Complexity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Sorting:           O(N log N)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Insertion loop:    For customer i, evaluate O(i + K) positions in O(1) each:</a:t>
                </a:r>
              </a:p>
              <a:p>
                <a:pPr marL="0" indent="0">
                  <a:buNone/>
                </a:pPr>
                <a:endParaRPr lang="en-US" sz="1400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400" i="1" smtClean="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i</m:t>
                          </m:r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O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i</m:t>
                              </m:r>
                              <m: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K</m:t>
                              </m:r>
                            </m:e>
                          </m:d>
                        </m:e>
                      </m:nary>
                      <m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Courier New" panose="02070309020205020404" pitchFamily="49" charset="0"/>
                        </a:rPr>
                        <m:t>O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sz="1400">
                                  <a:solidFill>
                                    <a:srgbClr val="EE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EE0000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Courier New" panose="02070309020205020404" pitchFamily="49" charset="0"/>
                            </a:rPr>
                            <m:t>NK</m:t>
                          </m:r>
                        </m:e>
                      </m:d>
                    </m:oMath>
                  </m:oMathPara>
                </a14:m>
                <a:endParaRPr lang="en-US" sz="1400" b="0" dirty="0">
                  <a:solidFill>
                    <a:srgbClr val="C00000"/>
                  </a:solidFill>
                </a:endParaRPr>
              </a:p>
              <a:p>
                <a:pPr marL="914400" indent="-457200">
                  <a:buNone/>
                </a:pPr>
                <a:r>
                  <a:rPr lang="en-US" sz="1400" b="0" dirty="0"/>
                  <a:t>   For N=1000, K=100:  ≈ 10⁶ + 10⁵ ≈ 1.1 × 10⁶ operations  →  &lt; 0.15 seconds (Python)</a:t>
                </a:r>
              </a:p>
              <a:p>
                <a:pPr marL="0" indent="0">
                  <a:buNone/>
                </a:pPr>
                <a:endParaRPr lang="en-US" sz="1400" b="0" dirty="0"/>
              </a:p>
              <a:p>
                <a:pPr marL="0" indent="0">
                  <a:buNone/>
                </a:pPr>
                <a:r>
                  <a:rPr lang="en-US" sz="1400" b="1" dirty="0"/>
                  <a:t>Space Complexity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Travel time matrix: O(N²)  [dominant]        Route structures: O(N + K)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Total: O(N²)  — fits comfortably within modern memory limits</a:t>
                </a:r>
              </a:p>
              <a:p>
                <a:pPr marL="0" indent="0">
                  <a:buNone/>
                </a:pPr>
                <a:endParaRPr lang="en-US" sz="1400" b="0" dirty="0"/>
              </a:p>
              <a:p>
                <a:pPr marL="0" indent="0">
                  <a:buNone/>
                </a:pPr>
                <a:r>
                  <a:rPr lang="en-US" sz="1400" b="1" dirty="0"/>
                  <a:t>Solution Quality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Unlike endpoint-only greedy: evaluates INTERNAL route structures at insertion time.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Sorting "hard" tasks first avoids unbalanced outlier routes.</a:t>
                </a:r>
              </a:p>
              <a:p>
                <a:pPr marL="457200" indent="-457200">
                  <a:buNone/>
                </a:pPr>
                <a:r>
                  <a:rPr lang="en-US" sz="1400" b="0" dirty="0"/>
                  <a:t>Achieves near-optimal results (e.g., workload = 560 on benchmarks) without metaheuristic overhead.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" name="Content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11" t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 Hill Climbing Heuristic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sz="2400" b="0" dirty="0"/>
          </a:p>
          <a:p>
            <a:r>
              <a:rPr lang="en-US" sz="2400"/>
              <a:t>Background</a:t>
            </a:r>
          </a:p>
          <a:p>
            <a:r>
              <a:rPr lang="en-US" sz="2400"/>
              <a:t>Logic</a:t>
            </a:r>
          </a:p>
          <a:p>
            <a:r>
              <a:rPr lang="en-US" sz="2400"/>
              <a:t>6 Sub-Algorithms with Pseudocode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6.1 Background &amp; Logic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Background</a:t>
            </a:r>
          </a:p>
          <a:p>
            <a:pPr marL="0" indent="0">
              <a:buNone/>
            </a:pPr>
            <a:r>
              <a:rPr lang="en-US" sz="1400" b="0" dirty="0"/>
              <a:t>Hill climbing is a mathematical optimization and heuristic search technique.</a:t>
            </a:r>
          </a:p>
          <a:p>
            <a:pPr marL="0" indent="0">
              <a:buNone/>
            </a:pPr>
            <a:r>
              <a:rPr lang="en-US" sz="1400" b="0" dirty="0"/>
              <a:t>Belongs to the family of LOCAL SEARCH methods.</a:t>
            </a:r>
          </a:p>
          <a:p>
            <a:pPr marL="0" indent="0">
              <a:buNone/>
            </a:pPr>
            <a:r>
              <a:rPr lang="en-US" sz="1400" b="0" dirty="0"/>
              <a:t>Continually moves in the direction of decreasing cost to find the best possible solution.</a:t>
            </a:r>
          </a:p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/>
              <a:t>Search Logic</a:t>
            </a:r>
          </a:p>
          <a:p>
            <a:pPr marL="457200" indent="-457200">
              <a:buNone/>
            </a:pPr>
            <a:r>
              <a:rPr lang="en-US" sz="1400" b="0" dirty="0"/>
              <a:t>① Initialize:    Generate initial candidate solution using greedy algorithm.</a:t>
            </a:r>
          </a:p>
          <a:p>
            <a:pPr marL="457200" indent="-457200">
              <a:buNone/>
            </a:pPr>
            <a:r>
              <a:rPr lang="en-US" sz="1400" b="0" dirty="0"/>
              <a:t>② Compute:      Use compute_max_time() to measure total makespan of current state.</a:t>
            </a:r>
          </a:p>
          <a:p>
            <a:pPr marL="457200" indent="-457200">
              <a:buNone/>
            </a:pPr>
            <a:r>
              <a:rPr lang="en-US" sz="1400" b="0" dirty="0"/>
              <a:t>③ Check Neighbors:  Make minor tweaks to create nearby alternative solutions:</a:t>
            </a:r>
          </a:p>
          <a:p>
            <a:pPr marL="914400" indent="-457200">
              <a:buNone/>
            </a:pPr>
            <a:r>
              <a:rPr lang="en-US" sz="1400" b="0" dirty="0"/>
              <a:t>   • Swap:           Choose 2 routes randomly; swap 1 customer between them.</a:t>
            </a:r>
          </a:p>
          <a:p>
            <a:pPr marL="914400" indent="-457200">
              <a:buNone/>
            </a:pPr>
            <a:r>
              <a:rPr lang="en-US" sz="1400" b="0" dirty="0"/>
              <a:t>   • Multiple Swap:  Choose 2 routes randomly; swap multiple customers between them.</a:t>
            </a:r>
          </a:p>
          <a:p>
            <a:pPr marL="914400" indent="-457200">
              <a:buNone/>
            </a:pPr>
            <a:r>
              <a:rPr lang="en-US" sz="1400" b="0" dirty="0"/>
              <a:t>   • Move:           Choose 1 customer from a route; move it to another route.</a:t>
            </a:r>
          </a:p>
          <a:p>
            <a:pPr marL="457200" indent="-457200">
              <a:buNone/>
            </a:pPr>
            <a:r>
              <a:rPr lang="en-US" sz="1400" b="0" dirty="0"/>
              <a:t>④ If a neighboring state has a BETTER (lower) makespan → step into it.</a:t>
            </a:r>
          </a:p>
          <a:p>
            <a:pPr marL="457200" indent="-457200">
              <a:buNone/>
            </a:pPr>
            <a:r>
              <a:rPr lang="en-US" sz="1400" b="0" dirty="0"/>
              <a:t>⑤ Stop when no surrounding neighbor offers an improvement (local minimum).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6.2 Algorithm 1: Compute Max Time  &amp;  Algorithm 2: Swap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lang="en-US" sz="1400" b="1" dirty="0"/>
              <a:t>Algorithm 1: compute_max_time(routes)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function compute_max_time(routes):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Initialize max_time = 0, time = 0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for each route do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time = 0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for i = 0 to (length of route − 1) do</a:t>
            </a:r>
          </a:p>
          <a:p>
            <a:pPr marL="13716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time += travel_time(route[i], route[i+1])</a:t>
            </a:r>
          </a:p>
          <a:p>
            <a:pPr marL="13716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if route[i+1] != depot:  time += service_time(route[i+1])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max_time = max(max_time, time)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return max_time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latin typeface="Courier New"/>
              </a:rPr>
              <a:t>end function</a:t>
            </a:r>
          </a:p>
          <a:p>
            <a:pPr marL="0" indent="0">
              <a:spcBef>
                <a:spcPts val="200"/>
              </a:spcBef>
              <a:buNone/>
            </a:pPr>
            <a:endParaRPr lang="en-US" sz="1400" b="1" dirty="0">
              <a:latin typeface="Courier New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/>
              <a:t>Algorithm 2: try_neighbor_swap(routes, best_cost)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function try_neighbor_swap(routes, best_cost):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Randomly select two routes r1, r2 with |r1| &gt;= 2 and |r2| &gt;= 2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Randomly select nodes i in r1 \ {0},  j in r2 \ {0}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Swap nodes i and j between routes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if modified solution is improved (lower cost):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return modified cost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If not: UNDO the swap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return best_cost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latin typeface="Courier New"/>
              </a:rPr>
              <a:t>end function</a:t>
            </a:r>
          </a:p>
          <a:p>
            <a:pPr>
              <a:spcBef>
                <a:spcPts val="200"/>
              </a:spcBef>
            </a:pP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3: Multiple Swap  &amp;  Algorithm 4: Move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sz="1400" b="1" dirty="0"/>
              <a:t>Algorithm 3: try_neighbor_swap_multiples(routes, best_cost, num_nodes)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function try_neighbor_swap_multiples(routes, best_cost, num_nodes):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Randomly select two routes r1, r2 with |r1| &gt;= 2 and |r2| &gt;= 2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Randomly select starting nodes i in r1 \ {0},  j in r2 \ {0}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for i = 0 to (num_nodes − 1) do</a:t>
            </a:r>
          </a:p>
          <a:p>
            <a:pPr marL="9144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  Swap consecutive nodes i and j between routes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if modified solution is improved:</a:t>
            </a:r>
          </a:p>
          <a:p>
            <a:pPr marL="9144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  return modified cost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If not: UNDO the multi-swap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return best_cost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latin typeface="Courier New"/>
              </a:rPr>
              <a:t>end function</a:t>
            </a:r>
          </a:p>
          <a:p>
            <a:pPr marL="0" indent="0">
              <a:spcBef>
                <a:spcPts val="300"/>
              </a:spcBef>
              <a:buNone/>
            </a:pPr>
            <a:endParaRPr lang="en-US" sz="1400" b="1" dirty="0">
              <a:latin typeface="Courier New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400" b="1" dirty="0"/>
              <a:t>Algorithm 4: try_neighbor_move(routes, best_cost)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function try_neighbor_move(routes, best_cost):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Randomly select two routes r1, r2 with |r1| &gt;= 2 and |r2| &gt;= 2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Randomly select node i in r1 \ {0},  j in r2 \ {0}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MOVE the customer from node i into route r2 at position j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if modified solution is improved:</a:t>
            </a:r>
          </a:p>
          <a:p>
            <a:pPr marL="9144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  return modified cost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If not: UNDO the move</a:t>
            </a:r>
          </a:p>
          <a:p>
            <a:pPr marL="457200" indent="-457200">
              <a:spcBef>
                <a:spcPts val="300"/>
              </a:spcBef>
              <a:buNone/>
            </a:pPr>
            <a:r>
              <a:rPr lang="en-US" sz="1400" b="0" dirty="0">
                <a:latin typeface="Courier New"/>
              </a:rPr>
              <a:t>  return best_cost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 b="1" dirty="0">
                <a:latin typeface="Courier New"/>
              </a:rPr>
              <a:t>end function</a:t>
            </a:r>
          </a:p>
          <a:p>
            <a:pPr>
              <a:spcBef>
                <a:spcPts val="300"/>
              </a:spcBef>
            </a:pP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5: Greedy Initialization (Part 1)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latin typeface="Courier New"/>
              </a:rPr>
              <a:t>function greedy():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// Initialize K technicians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technicians = array of K elements, each with: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route = [0]   and   work = 0</a:t>
            </a:r>
          </a:p>
          <a:p>
            <a:pPr marL="0" indent="0">
              <a:spcBef>
                <a:spcPts val="200"/>
              </a:spcBef>
              <a:buNone/>
            </a:pPr>
            <a:endParaRPr lang="en-US" sz="1400" b="0" dirty="0">
              <a:latin typeface="Courier New"/>
            </a:endParaRP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visited = array of size (N+1) filled with FALSE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visited[0] = TRUE</a:t>
            </a:r>
          </a:p>
          <a:p>
            <a:pPr marL="0" indent="0">
              <a:spcBef>
                <a:spcPts val="200"/>
              </a:spcBef>
              <a:buNone/>
            </a:pPr>
            <a:endParaRPr lang="en-US" sz="1400" b="0" dirty="0">
              <a:latin typeface="Courier New"/>
            </a:endParaRP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customers = list [1..N]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SHUFFLE customers randomly</a:t>
            </a:r>
          </a:p>
          <a:p>
            <a:pPr marL="0" indent="0">
              <a:spcBef>
                <a:spcPts val="200"/>
              </a:spcBef>
              <a:buNone/>
            </a:pPr>
            <a:endParaRPr lang="en-US" sz="1400" b="0" dirty="0">
              <a:latin typeface="Courier New"/>
            </a:endParaRP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for N iterations do: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best_cost = INFINITY ;  best_tech = −1 ;  best_cust = −1</a:t>
            </a:r>
          </a:p>
          <a:p>
            <a:pPr marL="0" indent="0">
              <a:spcBef>
                <a:spcPts val="200"/>
              </a:spcBef>
              <a:buNone/>
            </a:pPr>
            <a:endParaRPr lang="en-US" sz="1400" b="0" dirty="0">
              <a:latin typeface="Courier New"/>
            </a:endParaRP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for each cust in customers do:</a:t>
            </a:r>
          </a:p>
          <a:p>
            <a:pPr marL="13716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if visited[cust]: continue</a:t>
            </a:r>
          </a:p>
          <a:p>
            <a:pPr marL="13716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for k = 0 to K−1 do:</a:t>
            </a:r>
          </a:p>
          <a:p>
            <a:pPr marL="18288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  last_node = last node in technicians[k].route</a:t>
            </a:r>
          </a:p>
          <a:p>
            <a:pPr marL="18288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  cost = technicians[k].work + matrix[last_node][cust] + d[cust]</a:t>
            </a:r>
          </a:p>
          <a:p>
            <a:pPr marL="18288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  if cost &lt; best_cost:</a:t>
            </a:r>
          </a:p>
          <a:p>
            <a:pPr marL="22860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      best_cost = cost ;  best_tech = k ;  best_cust = cust</a:t>
            </a:r>
          </a:p>
          <a:p>
            <a:pPr>
              <a:spcBef>
                <a:spcPts val="200"/>
              </a:spcBef>
            </a:pP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5 (Part 2) &amp; Algorithm 6: Hill Climbing Loop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// Assign best customer to selected technician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technicians[best_tech].route.append(best_cust)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technicians[best_tech].work += matrix[prev_node][best_cust] + d[best_cust]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visited[best_cust] = TRUE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// Return all technicians to depot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for each tech: tech.route.append(0)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return list of routes from all technicians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latin typeface="Courier New"/>
              </a:rPr>
              <a:t>end function</a:t>
            </a:r>
          </a:p>
          <a:p>
            <a:pPr marL="0" indent="0">
              <a:spcBef>
                <a:spcPts val="200"/>
              </a:spcBef>
              <a:buNone/>
            </a:pPr>
            <a:endParaRPr lang="en-US" sz="1400" b="1" dirty="0">
              <a:latin typeface="Courier New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/>
              <a:t>Algorithm 6: hill_climbing(routes, max_iter=20000)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function hill_climbing(routes, max_iter=20000):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best_cost = compute_max_time(routes)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for iteration = 1 to max_iter do: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old_cost = best_cost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best_cost = try_neighbor_swap(routes, best_cost)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if best_cost &lt; old_cost:  continue  { restart search }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best_cost = try_neighbor_swap_multiple(routes, best_cost)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if best_cost &lt; old_cost:  continue  { restart search }</a:t>
            </a:r>
          </a:p>
          <a:p>
            <a:pPr marL="9144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  best_cost = try_neighbor_move(routes, best_cost)</a:t>
            </a:r>
          </a:p>
          <a:p>
            <a:pPr marL="457200" indent="-457200">
              <a:spcBef>
                <a:spcPts val="200"/>
              </a:spcBef>
              <a:buNone/>
            </a:pPr>
            <a:r>
              <a:rPr lang="en-US" sz="1400" b="0" dirty="0">
                <a:latin typeface="Courier New"/>
              </a:rPr>
              <a:t>  return routes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b="1" dirty="0">
                <a:latin typeface="Courier New"/>
              </a:rPr>
              <a:t>end function</a:t>
            </a:r>
          </a:p>
          <a:p>
            <a:pPr>
              <a:spcBef>
                <a:spcPts val="200"/>
              </a:spcBef>
            </a:pP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7</a:t>
            </a:r>
            <a:r>
              <a:rPr lang="en-US" sz="2600"/>
              <a:t>. Comparative Analysis &amp; Conclusion</a:t>
            </a:r>
            <a:endParaRPr lang="en-US" sz="2600" dirty="0"/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/>
              <a:t>7.1 </a:t>
            </a:r>
            <a:r>
              <a:rPr lang="en-US" sz="2600" dirty="0"/>
              <a:t>Benchmark Results — Full Comparison Table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000" b="1">
                <a:latin typeface="Courier New"/>
              </a:rPr>
              <a:t> N    </a:t>
            </a:r>
            <a:r>
              <a:rPr lang="en-US" sz="1000" b="1" dirty="0">
                <a:latin typeface="Courier New"/>
              </a:rPr>
              <a:t>K   |  CP Makespan  CP Time  |  B&amp;B Makespan  B&amp;B </a:t>
            </a:r>
            <a:r>
              <a:rPr lang="en-US" sz="1000" b="1">
                <a:latin typeface="Courier New"/>
              </a:rPr>
              <a:t>Time |  </a:t>
            </a:r>
            <a:r>
              <a:rPr lang="en-US" sz="1000" b="1" dirty="0">
                <a:latin typeface="Courier New"/>
              </a:rPr>
              <a:t>Greedy Makespan  Time  |  HC Makespan  Time</a:t>
            </a:r>
          </a:p>
          <a:p>
            <a:pPr marL="0" indent="0">
              <a:buNone/>
            </a:pPr>
            <a:r>
              <a:rPr lang="en-US" sz="1000" b="1">
                <a:latin typeface="Courier New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000" b="1">
                <a:latin typeface="Courier New"/>
              </a:rPr>
              <a:t>   </a:t>
            </a:r>
            <a:r>
              <a:rPr lang="en-US" sz="1000" b="1" dirty="0">
                <a:latin typeface="Courier New"/>
              </a:rPr>
              <a:t>5    2  |      1,800       571  |      1,800         44   |      1,800         29   |    1,800      235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 10    2  |      2,560       589  |      2,560        581   |      2,740         25   |    2,730      243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100   10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2,370         27   |    2,440      709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200   10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3,120         32   |    3,790    1,119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200   20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2,220         31   |    2,180    1,179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400   40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2,050         61   |    2,300    2,586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500   50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2,020         85   |    2,290    3,438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700   70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1,990        140   |    2,090    5,733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 900   90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2,050        244   |    2,110    9,575</a:t>
            </a:r>
          </a:p>
          <a:p>
            <a:pPr marL="0" indent="0">
              <a:buNone/>
            </a:pPr>
            <a:r>
              <a:rPr lang="en-US" sz="1000" b="1" dirty="0">
                <a:latin typeface="Courier New"/>
              </a:rPr>
              <a:t>1000  100  |       N/A       N/</a:t>
            </a:r>
            <a:r>
              <a:rPr lang="en-US" sz="1000" b="1">
                <a:latin typeface="Courier New"/>
              </a:rPr>
              <a:t>A   |       </a:t>
            </a:r>
            <a:r>
              <a:rPr lang="en-US" sz="1000" b="1" dirty="0">
                <a:latin typeface="Courier New"/>
              </a:rPr>
              <a:t>N/A        N/</a:t>
            </a:r>
            <a:r>
              <a:rPr lang="en-US" sz="1000" b="1">
                <a:latin typeface="Courier New"/>
              </a:rPr>
              <a:t>A    |      </a:t>
            </a:r>
            <a:r>
              <a:rPr lang="en-US" sz="1000" b="1" dirty="0">
                <a:latin typeface="Courier New"/>
              </a:rPr>
              <a:t>2,020        325   |    2,160   12,118</a:t>
            </a:r>
          </a:p>
          <a:p>
            <a:pPr marL="0" indent="0">
              <a:buNone/>
            </a:pPr>
            <a:r>
              <a:rPr lang="en-US" sz="1000" b="1">
                <a:latin typeface="Courier New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000" b="1" dirty="0">
              <a:latin typeface="Courier New"/>
            </a:endParaRPr>
          </a:p>
          <a:p>
            <a:pPr marL="0" indent="0">
              <a:buNone/>
            </a:pPr>
            <a:r>
              <a:rPr lang="en-US" sz="1000" b="1" dirty="0"/>
              <a:t>Time unit: milliseconds (ms).  N/A = exceeded memory or time limit (15s).</a:t>
            </a:r>
          </a:p>
          <a:p>
            <a:endParaRPr lang="en-US" sz="10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/>
              <a:t>7.3 Conclusion</a:t>
            </a:r>
            <a:endParaRPr lang="en-US" sz="2600" dirty="0"/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1400" b="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</a:rPr>
              <a:t>Common Conclusion</a:t>
            </a:r>
          </a:p>
          <a:p>
            <a:pPr marL="457200" indent="-457200">
              <a:buNone/>
            </a:pPr>
            <a:r>
              <a:rPr lang="en-US" sz="1400" b="0" dirty="0"/>
              <a:t>Both exact methods are strictly limited to tiny instances (N ≤ 10).</a:t>
            </a:r>
          </a:p>
          <a:p>
            <a:pPr marL="457200" indent="-457200">
              <a:buNone/>
            </a:pPr>
            <a:r>
              <a:rPr lang="en-US" sz="1400" b="0" dirty="0"/>
              <a:t>They are most useful as correctness benchmarks for evaluating heuristic </a:t>
            </a:r>
            <a:r>
              <a:rPr lang="en-US" sz="1400" b="0"/>
              <a:t>outputs.\</a:t>
            </a:r>
          </a:p>
          <a:p>
            <a:pPr marL="457200" indent="-45720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/>
              <a:t>Summary</a:t>
            </a:r>
          </a:p>
          <a:p>
            <a:pPr marL="457200" indent="-457200">
              <a:buNone/>
            </a:pPr>
            <a:r>
              <a:rPr lang="en-US" sz="1400"/>
              <a:t>Greedy: deterministic, O(N²+NK), sub-second. Best for production use.</a:t>
            </a:r>
          </a:p>
          <a:p>
            <a:pPr marL="457200" indent="-457200">
              <a:buNone/>
            </a:pPr>
            <a:r>
              <a:rPr lang="en-US" sz="1400"/>
              <a:t>Hill Climbing: stochastic, competitive on medium N, too slow for N &gt; 500.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1">
              <a:solidFill>
                <a:srgbClr val="C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400" b="1">
                <a:solidFill>
                  <a:srgbClr val="C00000"/>
                </a:solidFill>
              </a:rPr>
              <a:t>Recommendation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lang="en-US" sz="1400"/>
              <a:t>The DETERMINISTIC Sorted Cheapest Insertion algorithm provides:</a:t>
            </a:r>
          </a:p>
          <a:p>
            <a:pPr marL="914400" indent="-457200">
              <a:spcBef>
                <a:spcPts val="600"/>
              </a:spcBef>
              <a:buNone/>
            </a:pPr>
            <a:r>
              <a:rPr lang="en-US" sz="1400"/>
              <a:t>  • High-quality balanced routes in milliseconds</a:t>
            </a:r>
          </a:p>
          <a:p>
            <a:pPr marL="914400" indent="-457200">
              <a:spcBef>
                <a:spcPts val="600"/>
              </a:spcBef>
              <a:buNone/>
            </a:pPr>
            <a:r>
              <a:rPr lang="en-US" sz="1400"/>
              <a:t>  • Near-optimal results at maximum scale (N=1000, makespan=2,020 in 325ms)</a:t>
            </a:r>
          </a:p>
          <a:p>
            <a:pPr marL="914400" indent="-457200">
              <a:spcBef>
                <a:spcPts val="600"/>
              </a:spcBef>
              <a:buNone/>
            </a:pPr>
            <a:r>
              <a:rPr lang="en-US" sz="1400"/>
              <a:t>  • Fully deterministic — no stochastic variance between runs</a:t>
            </a:r>
          </a:p>
          <a:p>
            <a:pPr marL="914400" indent="-457200">
              <a:spcBef>
                <a:spcPts val="600"/>
              </a:spcBef>
              <a:buNone/>
            </a:pPr>
            <a:r>
              <a:rPr lang="en-US" sz="1400"/>
              <a:t>  • Highly suitable for LARGE-SCALE real-world maintenance dispatching operations</a:t>
            </a:r>
          </a:p>
          <a:p>
            <a:pPr marL="457200" indent="-457200">
              <a:buNone/>
            </a:pPr>
            <a:endParaRPr lang="en-US" sz="1400" b="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</TotalTime>
  <Words>4741</Words>
  <Application>Microsoft Office PowerPoint</Application>
  <PresentationFormat>Trình chiếu Trên màn hình (4:3)</PresentationFormat>
  <Paragraphs>520</Paragraphs>
  <Slides>37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 Math</vt:lpstr>
      <vt:lpstr>Courier New</vt:lpstr>
      <vt:lpstr>Lato</vt:lpstr>
      <vt:lpstr>Office Theme</vt:lpstr>
      <vt:lpstr>Bản trình bày PowerPoint</vt:lpstr>
      <vt:lpstr>Bản trình bày PowerPoint</vt:lpstr>
      <vt:lpstr>Bản trình bày PowerPoint</vt:lpstr>
      <vt:lpstr>Table of Contents</vt:lpstr>
      <vt:lpstr>1. Introduction</vt:lpstr>
      <vt:lpstr>2. Problem Overview</vt:lpstr>
      <vt:lpstr>2.1 Objective &amp; Inputs</vt:lpstr>
      <vt:lpstr>2.2 Outputs, Constraints &amp; Workload Formula</vt:lpstr>
      <vt:lpstr>3. Branch &amp; Bound Algorithm</vt:lpstr>
      <vt:lpstr>3.1 Background &amp; State Representation</vt:lpstr>
      <vt:lpstr>3.2 Base Case &amp; Recursive Step</vt:lpstr>
      <vt:lpstr>3.3 Pseudocode — DFS Function</vt:lpstr>
      <vt:lpstr>4. Constraint Programming (CP-SAT)</vt:lpstr>
      <vt:lpstr>4.1 Background</vt:lpstr>
      <vt:lpstr>4.2 Process of Constraint Programming</vt:lpstr>
      <vt:lpstr>4.3 Modelling — Decision Variables &amp; Objective</vt:lpstr>
      <vt:lpstr>4.4 Constraints (1) &amp; (2)</vt:lpstr>
      <vt:lpstr>4.4 Constraint (3): AddCircuit — Valid Route Structure</vt:lpstr>
      <vt:lpstr>4.4 Constraints (4) &amp; (5): Workload &amp; Objective</vt:lpstr>
      <vt:lpstr>4.5 CP Results — Online Judge Test Execution</vt:lpstr>
      <vt:lpstr>4.6 Why CP Cannot Scale — Variable Count Analysis</vt:lpstr>
      <vt:lpstr>5. Greedy Algorithm</vt:lpstr>
      <vt:lpstr>5.1 Background</vt:lpstr>
      <vt:lpstr>5.2 Logic — Phase 1: Initialization &amp; Phase 2: Sorting</vt:lpstr>
      <vt:lpstr>5.3 Logic — Phase 3: Incremental Cheapest Insertion</vt:lpstr>
      <vt:lpstr>5.4 Pseudocode — SolveSRM (Part 1 of 2)</vt:lpstr>
      <vt:lpstr>5.5 Complexity &amp; Performance Analysis</vt:lpstr>
      <vt:lpstr>6. Hill Climbing Heuristic</vt:lpstr>
      <vt:lpstr>6.1 Background &amp; Logic</vt:lpstr>
      <vt:lpstr>6.2 Algorithm 1: Compute Max Time  &amp;  Algorithm 2: Swap</vt:lpstr>
      <vt:lpstr>6.2 Algorithm 3: Multiple Swap  &amp;  Algorithm 4: Move</vt:lpstr>
      <vt:lpstr>6.2 Algorithm 5: Greedy Initialization (Part 1)</vt:lpstr>
      <vt:lpstr>6.2 Algorithm 5 (Part 2) &amp; Algorithm 6: Hill Climbing Loop</vt:lpstr>
      <vt:lpstr>7. Comparative Analysis &amp; Conclusion</vt:lpstr>
      <vt:lpstr>7.1 Benchmark Results — Full Comparison Table</vt:lpstr>
      <vt:lpstr>7.3 Conclusion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Ngo Nam Nhat Minh</cp:lastModifiedBy>
  <cp:revision>17</cp:revision>
  <dcterms:created xsi:type="dcterms:W3CDTF">2021-05-28T04:32:29Z</dcterms:created>
  <dcterms:modified xsi:type="dcterms:W3CDTF">2026-06-30T09:13:33Z</dcterms:modified>
</cp:coreProperties>
</file>