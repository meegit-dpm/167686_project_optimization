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58" r:id="rId1"/>
  </p:sldMasterIdLst>
  <p:notesMasterIdLst>
    <p:notesMasterId r:id="rId43"/>
  </p:notesMasterIdLst>
  <p:handoutMasterIdLst>
    <p:handoutMasterId r:id="rId44"/>
  </p:handoutMasterIdLst>
  <p:sldIdLst>
    <p:sldId id="275" r:id="rId2"/>
    <p:sldId id="276" r:id="rId3"/>
    <p:sldId id="257" r:id="rId4"/>
    <p:sldId id="284" r:id="rId5"/>
    <p:sldId id="285" r:id="rId6"/>
    <p:sldId id="286" r:id="rId7"/>
    <p:sldId id="287" r:id="rId8"/>
    <p:sldId id="288" r:id="rId9"/>
    <p:sldId id="289" r:id="rId10"/>
    <p:sldId id="290" r:id="rId11"/>
    <p:sldId id="291" r:id="rId12"/>
    <p:sldId id="292" r:id="rId13"/>
    <p:sldId id="293" r:id="rId14"/>
    <p:sldId id="294" r:id="rId15"/>
    <p:sldId id="295" r:id="rId16"/>
    <p:sldId id="296" r:id="rId17"/>
    <p:sldId id="297" r:id="rId18"/>
    <p:sldId id="298" r:id="rId19"/>
    <p:sldId id="299" r:id="rId20"/>
    <p:sldId id="300" r:id="rId21"/>
    <p:sldId id="301" r:id="rId22"/>
    <p:sldId id="302" r:id="rId23"/>
    <p:sldId id="303" r:id="rId24"/>
    <p:sldId id="304" r:id="rId25"/>
    <p:sldId id="305" r:id="rId26"/>
    <p:sldId id="306" r:id="rId27"/>
    <p:sldId id="307" r:id="rId28"/>
    <p:sldId id="308" r:id="rId29"/>
    <p:sldId id="309" r:id="rId30"/>
    <p:sldId id="310" r:id="rId31"/>
    <p:sldId id="311" r:id="rId32"/>
    <p:sldId id="312" r:id="rId33"/>
    <p:sldId id="313" r:id="rId34"/>
    <p:sldId id="314" r:id="rId35"/>
    <p:sldId id="315" r:id="rId36"/>
    <p:sldId id="316" r:id="rId37"/>
    <p:sldId id="317" r:id="rId38"/>
    <p:sldId id="318" r:id="rId39"/>
    <p:sldId id="319" r:id="rId40"/>
    <p:sldId id="320" r:id="rId41"/>
    <p:sldId id="269" r:id="rId4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Kiểu Trung bình 2 - Màu chủ đề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014" autoAdjust="0"/>
    <p:restoredTop sz="94660"/>
  </p:normalViewPr>
  <p:slideViewPr>
    <p:cSldViewPr snapToGrid="0">
      <p:cViewPr varScale="1">
        <p:scale>
          <a:sx n="111" d="100"/>
          <a:sy n="111" d="100"/>
        </p:scale>
        <p:origin x="1590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notesMaster" Target="notesMasters/notesMaster1.xml"/><Relationship Id="rId48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A5EAC724-B034-4F10-A9E8-56851A79B80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20872BB-3892-4F66-9266-36ADB83FAD5E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8B45424-6BAC-416C-8F6C-5F9DE854A36B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ACA138F-B9BA-4997-B3C2-DA8B17B6D5B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EE86FBF-0AC4-4904-8ED7-0BD6E9AC71D6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E34D737-83BD-4FDE-8CF3-8BC01E7FCF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9073744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B733702-C25A-40B9-9167-54BAA79B29B0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B2FC7A4-3D1B-482D-8C9D-7642A2CE307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1926534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ustom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1598025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6">
            <a:extLst>
              <a:ext uri="{FF2B5EF4-FFF2-40B4-BE49-F238E27FC236}">
                <a16:creationId xmlns:a16="http://schemas.microsoft.com/office/drawing/2014/main" id="{C5DD3B49-F775-49FC-ACAD-45B074D1C94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80488" y="2365248"/>
            <a:ext cx="4383024" cy="2127504"/>
          </a:xfrm>
          <a:prstGeom prst="rect">
            <a:avLst/>
          </a:prstGeom>
        </p:spPr>
        <p:txBody>
          <a:bodyPr/>
          <a:lstStyle>
            <a:lvl1pPr algn="ctr">
              <a:defRPr sz="4800" b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6788040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264949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Section Head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30FC03-A82E-4B34-AE4B-8AC40A0CD5B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6565257"/>
            <a:ext cx="2057400" cy="365125"/>
          </a:xfrm>
          <a:prstGeom prst="rect">
            <a:avLst/>
          </a:prstGeom>
        </p:spPr>
        <p:txBody>
          <a:bodyPr/>
          <a:lstStyle>
            <a:lvl1pPr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F70EAA40-3A53-4A3D-924A-D38F1059C7D5}" type="datetime1">
              <a:rPr lang="en-US" smtClean="0"/>
              <a:pPr/>
              <a:t>6/22/2026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49FB7E-C73B-452D-861A-6C73FF59EC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565257"/>
            <a:ext cx="30861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5733BD-32DD-483E-A597-B70529CBDA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67383" y="6572126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0" name="Title 6">
            <a:extLst>
              <a:ext uri="{FF2B5EF4-FFF2-40B4-BE49-F238E27FC236}">
                <a16:creationId xmlns:a16="http://schemas.microsoft.com/office/drawing/2014/main" id="{44DCE4FD-DEE1-4DE9-A40E-616ACEB2FE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5077" y="78613"/>
            <a:ext cx="8673846" cy="451739"/>
          </a:xfrm>
          <a:prstGeom prst="rect">
            <a:avLst/>
          </a:prstGeom>
        </p:spPr>
        <p:txBody>
          <a:bodyPr/>
          <a:lstStyle>
            <a:lvl1pPr>
              <a:defRPr sz="2800" b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dirty="0"/>
              <a:t>Title 1: ………………………………………</a:t>
            </a:r>
          </a:p>
        </p:txBody>
      </p:sp>
      <p:sp>
        <p:nvSpPr>
          <p:cNvPr id="11" name="Content Placeholder 8">
            <a:extLst>
              <a:ext uri="{FF2B5EF4-FFF2-40B4-BE49-F238E27FC236}">
                <a16:creationId xmlns:a16="http://schemas.microsoft.com/office/drawing/2014/main" id="{90DFCEB3-810D-48E5-B7BA-1A6C924A64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235077" y="841247"/>
            <a:ext cx="8674100" cy="5303393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8675470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wo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1D2FCDAA-D1AE-440A-ADEA-98F1ACB0647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6565257"/>
            <a:ext cx="2057400" cy="365125"/>
          </a:xfrm>
          <a:prstGeom prst="rect">
            <a:avLst/>
          </a:prstGeom>
        </p:spPr>
        <p:txBody>
          <a:bodyPr/>
          <a:lstStyle>
            <a:lvl1pPr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F70EAA40-3A53-4A3D-924A-D38F1059C7D5}" type="datetime1">
              <a:rPr lang="en-US" smtClean="0"/>
              <a:pPr/>
              <a:t>6/22/2026</a:t>
            </a:fld>
            <a:endParaRPr lang="en-US"/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C4186984-389F-440C-BD79-8D1349BD85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565257"/>
            <a:ext cx="30861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/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5C66723D-7FE6-462E-9733-48764D89B1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67383" y="6572126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03483232-D29A-4255-9149-0177F878581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28828" y="1423289"/>
            <a:ext cx="3886200" cy="4351338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8" name="Content Placeholder 3">
            <a:extLst>
              <a:ext uri="{FF2B5EF4-FFF2-40B4-BE49-F238E27FC236}">
                <a16:creationId xmlns:a16="http://schemas.microsoft.com/office/drawing/2014/main" id="{A1BAF8AD-67D8-46AD-A292-05589E8273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572000" y="1423289"/>
            <a:ext cx="3886200" cy="4351338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9" name="Title 6">
            <a:extLst>
              <a:ext uri="{FF2B5EF4-FFF2-40B4-BE49-F238E27FC236}">
                <a16:creationId xmlns:a16="http://schemas.microsoft.com/office/drawing/2014/main" id="{EFD61387-9809-4E21-B8EA-93815E5E8F6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5077" y="78613"/>
            <a:ext cx="8673846" cy="451739"/>
          </a:xfrm>
          <a:prstGeom prst="rect">
            <a:avLst/>
          </a:prstGeom>
        </p:spPr>
        <p:txBody>
          <a:bodyPr/>
          <a:lstStyle>
            <a:lvl1pPr>
              <a:defRPr sz="2800" b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dirty="0"/>
              <a:t>Title 2: ………………………………………</a:t>
            </a:r>
          </a:p>
        </p:txBody>
      </p:sp>
    </p:spTree>
    <p:extLst>
      <p:ext uri="{BB962C8B-B14F-4D97-AF65-F5344CB8AC3E}">
        <p14:creationId xmlns:p14="http://schemas.microsoft.com/office/powerpoint/2010/main" val="3148809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ompariso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007929A3-17ED-41F3-AD36-819BC9DFBCB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6565257"/>
            <a:ext cx="2057400" cy="365125"/>
          </a:xfrm>
          <a:prstGeom prst="rect">
            <a:avLst/>
          </a:prstGeom>
        </p:spPr>
        <p:txBody>
          <a:bodyPr/>
          <a:lstStyle>
            <a:lvl1pPr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F70EAA40-3A53-4A3D-924A-D38F1059C7D5}" type="datetime1">
              <a:rPr lang="en-US" smtClean="0"/>
              <a:pPr/>
              <a:t>6/22/2026</a:t>
            </a:fld>
            <a:endParaRPr lang="en-US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4973EE95-672F-4E5A-A918-2F51DB2C3A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565257"/>
            <a:ext cx="30861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2B17F6F6-0CA3-4D52-AA3D-7CF8ADE793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67383" y="6572126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Title 6">
            <a:extLst>
              <a:ext uri="{FF2B5EF4-FFF2-40B4-BE49-F238E27FC236}">
                <a16:creationId xmlns:a16="http://schemas.microsoft.com/office/drawing/2014/main" id="{943CD72D-5295-43E4-B175-0EA61084ADC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5077" y="78613"/>
            <a:ext cx="8673846" cy="451739"/>
          </a:xfrm>
          <a:prstGeom prst="rect">
            <a:avLst/>
          </a:prstGeom>
        </p:spPr>
        <p:txBody>
          <a:bodyPr/>
          <a:lstStyle>
            <a:lvl1pPr>
              <a:defRPr sz="2800" b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dirty="0"/>
              <a:t>Title 3: ………………………………………</a:t>
            </a:r>
          </a:p>
        </p:txBody>
      </p:sp>
      <p:sp>
        <p:nvSpPr>
          <p:cNvPr id="16" name="Text Placeholder 11">
            <a:extLst>
              <a:ext uri="{FF2B5EF4-FFF2-40B4-BE49-F238E27FC236}">
                <a16:creationId xmlns:a16="http://schemas.microsoft.com/office/drawing/2014/main" id="{0C9A3A79-B187-4A33-8EBB-92ECD8BA3C5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34950" y="963168"/>
            <a:ext cx="8674100" cy="5132832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6179857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wo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1D2FCDAA-D1AE-440A-ADEA-98F1ACB0647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6565257"/>
            <a:ext cx="2057400" cy="365125"/>
          </a:xfrm>
          <a:prstGeom prst="rect">
            <a:avLst/>
          </a:prstGeom>
        </p:spPr>
        <p:txBody>
          <a:bodyPr/>
          <a:lstStyle>
            <a:lvl1pPr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F70EAA40-3A53-4A3D-924A-D38F1059C7D5}" type="datetime1">
              <a:rPr lang="en-US" smtClean="0"/>
              <a:pPr/>
              <a:t>6/22/2026</a:t>
            </a:fld>
            <a:endParaRPr lang="en-US"/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C4186984-389F-440C-BD79-8D1349BD85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565257"/>
            <a:ext cx="30861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/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5C66723D-7FE6-462E-9733-48764D89B1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67383" y="6572126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03483232-D29A-4255-9149-0177F878581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28828" y="1423289"/>
            <a:ext cx="3886200" cy="4351338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8" name="Content Placeholder 3">
            <a:extLst>
              <a:ext uri="{FF2B5EF4-FFF2-40B4-BE49-F238E27FC236}">
                <a16:creationId xmlns:a16="http://schemas.microsoft.com/office/drawing/2014/main" id="{A1BAF8AD-67D8-46AD-A292-05589E8273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572000" y="1423289"/>
            <a:ext cx="3886200" cy="4351338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9" name="Title 6">
            <a:extLst>
              <a:ext uri="{FF2B5EF4-FFF2-40B4-BE49-F238E27FC236}">
                <a16:creationId xmlns:a16="http://schemas.microsoft.com/office/drawing/2014/main" id="{EFD61387-9809-4E21-B8EA-93815E5E8F6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5077" y="78613"/>
            <a:ext cx="8673846" cy="451739"/>
          </a:xfrm>
          <a:prstGeom prst="rect">
            <a:avLst/>
          </a:prstGeom>
        </p:spPr>
        <p:txBody>
          <a:bodyPr/>
          <a:lstStyle>
            <a:lvl1pPr>
              <a:defRPr sz="2800" b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dirty="0"/>
              <a:t>Title 4: ………………………………………</a:t>
            </a:r>
          </a:p>
        </p:txBody>
      </p:sp>
    </p:spTree>
    <p:extLst>
      <p:ext uri="{BB962C8B-B14F-4D97-AF65-F5344CB8AC3E}">
        <p14:creationId xmlns:p14="http://schemas.microsoft.com/office/powerpoint/2010/main" val="13534025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Only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6">
            <a:extLst>
              <a:ext uri="{FF2B5EF4-FFF2-40B4-BE49-F238E27FC236}">
                <a16:creationId xmlns:a16="http://schemas.microsoft.com/office/drawing/2014/main" id="{689FBFE6-E7AD-40DE-88B8-794C73F956C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11295" y="224917"/>
            <a:ext cx="5397627" cy="451739"/>
          </a:xfrm>
          <a:prstGeom prst="rect">
            <a:avLst/>
          </a:prstGeom>
        </p:spPr>
        <p:txBody>
          <a:bodyPr/>
          <a:lstStyle>
            <a:lvl1pPr>
              <a:defRPr sz="2800" b="1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dirty="0"/>
              <a:t>Title 5: ……………………………………</a:t>
            </a:r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1C2ED7A5-CBB5-4B5C-BD2A-3596087A71F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524251" y="1011238"/>
            <a:ext cx="5384672" cy="5529262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E21F2271-B488-4DC9-A50E-592D82F22CE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6565257"/>
            <a:ext cx="2057400" cy="365125"/>
          </a:xfrm>
          <a:prstGeom prst="rect">
            <a:avLst/>
          </a:prstGeom>
        </p:spPr>
        <p:txBody>
          <a:bodyPr/>
          <a:lstStyle>
            <a:lvl1pPr>
              <a:defRPr sz="1200" b="1">
                <a:solidFill>
                  <a:schemeClr val="bg1">
                    <a:lumMod val="95000"/>
                  </a:schemeClr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F70EAA40-3A53-4A3D-924A-D38F1059C7D5}" type="datetime1">
              <a:rPr lang="en-US" smtClean="0"/>
              <a:pPr/>
              <a:t>6/22/2026</a:t>
            </a:fld>
            <a:endParaRPr lang="en-US"/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706E966D-F219-41DE-82BF-3F3121B7DC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565257"/>
            <a:ext cx="30861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AF61A491-C108-489A-B2EA-9FC27DAD4D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67383" y="6572126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133887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Blank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6">
            <a:extLst>
              <a:ext uri="{FF2B5EF4-FFF2-40B4-BE49-F238E27FC236}">
                <a16:creationId xmlns:a16="http://schemas.microsoft.com/office/drawing/2014/main" id="{74BADCE4-794A-4B69-9AB7-3D794A1F9A4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5077" y="78613"/>
            <a:ext cx="8673846" cy="451739"/>
          </a:xfrm>
          <a:prstGeom prst="rect">
            <a:avLst/>
          </a:prstGeom>
        </p:spPr>
        <p:txBody>
          <a:bodyPr/>
          <a:lstStyle>
            <a:lvl1pPr>
              <a:defRPr sz="2800" b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dirty="0"/>
              <a:t>Title 6: ………………………………………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38375D86-D290-4003-A314-C916116C423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95884" y="1533017"/>
            <a:ext cx="3886200" cy="4351338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FB62406B-26DB-4A01-B048-1F2C7540F82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39056" y="1533017"/>
            <a:ext cx="3886200" cy="4351338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6" name="Date Placeholder 3">
            <a:extLst>
              <a:ext uri="{FF2B5EF4-FFF2-40B4-BE49-F238E27FC236}">
                <a16:creationId xmlns:a16="http://schemas.microsoft.com/office/drawing/2014/main" id="{A52862E5-D8E1-49BF-8D1B-BF0ED6579EA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6565257"/>
            <a:ext cx="2057400" cy="365125"/>
          </a:xfrm>
          <a:prstGeom prst="rect">
            <a:avLst/>
          </a:prstGeom>
        </p:spPr>
        <p:txBody>
          <a:bodyPr/>
          <a:lstStyle>
            <a:lvl1pPr>
              <a:defRPr sz="1200" b="1">
                <a:solidFill>
                  <a:schemeClr val="accent1">
                    <a:lumMod val="50000"/>
                  </a:schemeClr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F70EAA40-3A53-4A3D-924A-D38F1059C7D5}" type="datetime1">
              <a:rPr lang="en-US" smtClean="0"/>
              <a:pPr/>
              <a:t>6/22/2026</a:t>
            </a:fld>
            <a:endParaRPr lang="en-US"/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591AAF74-01FB-49A8-9375-959140F1D0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565257"/>
            <a:ext cx="30861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chemeClr val="accent1">
                    <a:lumMod val="50000"/>
                  </a:schemeClr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/>
          </a:p>
        </p:txBody>
      </p:sp>
      <p:sp>
        <p:nvSpPr>
          <p:cNvPr id="18" name="Slide Number Placeholder 5">
            <a:extLst>
              <a:ext uri="{FF2B5EF4-FFF2-40B4-BE49-F238E27FC236}">
                <a16:creationId xmlns:a16="http://schemas.microsoft.com/office/drawing/2014/main" id="{BBF4BC2F-980C-499D-A4B9-E7CD3D4475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67383" y="6572126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chemeClr val="accent1">
                    <a:lumMod val="50000"/>
                  </a:schemeClr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385406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ompariso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007929A3-17ED-41F3-AD36-819BC9DFBCB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6565257"/>
            <a:ext cx="2057400" cy="365125"/>
          </a:xfrm>
          <a:prstGeom prst="rect">
            <a:avLst/>
          </a:prstGeom>
        </p:spPr>
        <p:txBody>
          <a:bodyPr/>
          <a:lstStyle>
            <a:lvl1pPr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F70EAA40-3A53-4A3D-924A-D38F1059C7D5}" type="datetime1">
              <a:rPr lang="en-US" smtClean="0"/>
              <a:pPr/>
              <a:t>6/22/2026</a:t>
            </a:fld>
            <a:endParaRPr lang="en-US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4973EE95-672F-4E5A-A918-2F51DB2C3A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565257"/>
            <a:ext cx="30861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2B17F6F6-0CA3-4D52-AA3D-7CF8ADE793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67383" y="6572126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Title 6">
            <a:extLst>
              <a:ext uri="{FF2B5EF4-FFF2-40B4-BE49-F238E27FC236}">
                <a16:creationId xmlns:a16="http://schemas.microsoft.com/office/drawing/2014/main" id="{943CD72D-5295-43E4-B175-0EA61084ADC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5077" y="78613"/>
            <a:ext cx="8673846" cy="451739"/>
          </a:xfrm>
          <a:prstGeom prst="rect">
            <a:avLst/>
          </a:prstGeom>
        </p:spPr>
        <p:txBody>
          <a:bodyPr/>
          <a:lstStyle>
            <a:lvl1pPr>
              <a:defRPr sz="2800" b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dirty="0"/>
              <a:t>Title 7: ………………………………………</a:t>
            </a:r>
          </a:p>
        </p:txBody>
      </p:sp>
      <p:sp>
        <p:nvSpPr>
          <p:cNvPr id="16" name="Text Placeholder 11">
            <a:extLst>
              <a:ext uri="{FF2B5EF4-FFF2-40B4-BE49-F238E27FC236}">
                <a16:creationId xmlns:a16="http://schemas.microsoft.com/office/drawing/2014/main" id="{0C9A3A79-B187-4A33-8EBB-92ECD8BA3C5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34950" y="1227550"/>
            <a:ext cx="8674100" cy="4868449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2342310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Blank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6">
            <a:extLst>
              <a:ext uri="{FF2B5EF4-FFF2-40B4-BE49-F238E27FC236}">
                <a16:creationId xmlns:a16="http://schemas.microsoft.com/office/drawing/2014/main" id="{74BADCE4-794A-4B69-9AB7-3D794A1F9A4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5077" y="78613"/>
            <a:ext cx="8673846" cy="451739"/>
          </a:xfrm>
          <a:prstGeom prst="rect">
            <a:avLst/>
          </a:prstGeom>
        </p:spPr>
        <p:txBody>
          <a:bodyPr/>
          <a:lstStyle>
            <a:lvl1pPr>
              <a:defRPr sz="2800" b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dirty="0"/>
              <a:t>Title 8: ………………………………………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38375D86-D290-4003-A314-C916116C423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95884" y="1533017"/>
            <a:ext cx="3886200" cy="4351338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FB62406B-26DB-4A01-B048-1F2C7540F82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39056" y="1533017"/>
            <a:ext cx="3886200" cy="4351338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6" name="Date Placeholder 3">
            <a:extLst>
              <a:ext uri="{FF2B5EF4-FFF2-40B4-BE49-F238E27FC236}">
                <a16:creationId xmlns:a16="http://schemas.microsoft.com/office/drawing/2014/main" id="{A52862E5-D8E1-49BF-8D1B-BF0ED6579EA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6565257"/>
            <a:ext cx="2057400" cy="365125"/>
          </a:xfrm>
          <a:prstGeom prst="rect">
            <a:avLst/>
          </a:prstGeom>
        </p:spPr>
        <p:txBody>
          <a:bodyPr/>
          <a:lstStyle>
            <a:lvl1pPr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F70EAA40-3A53-4A3D-924A-D38F1059C7D5}" type="datetime1">
              <a:rPr lang="en-US" smtClean="0"/>
              <a:pPr/>
              <a:t>6/22/2026</a:t>
            </a:fld>
            <a:endParaRPr lang="en-US"/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591AAF74-01FB-49A8-9375-959140F1D0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565257"/>
            <a:ext cx="30861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/>
          </a:p>
        </p:txBody>
      </p:sp>
      <p:sp>
        <p:nvSpPr>
          <p:cNvPr id="18" name="Slide Number Placeholder 5">
            <a:extLst>
              <a:ext uri="{FF2B5EF4-FFF2-40B4-BE49-F238E27FC236}">
                <a16:creationId xmlns:a16="http://schemas.microsoft.com/office/drawing/2014/main" id="{BBF4BC2F-980C-499D-A4B9-E7CD3D4475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67383" y="6572126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901882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Compariso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007929A3-17ED-41F3-AD36-819BC9DFBCB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6565257"/>
            <a:ext cx="2057400" cy="365125"/>
          </a:xfrm>
          <a:prstGeom prst="rect">
            <a:avLst/>
          </a:prstGeom>
        </p:spPr>
        <p:txBody>
          <a:bodyPr/>
          <a:lstStyle>
            <a:lvl1pPr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F70EAA40-3A53-4A3D-924A-D38F1059C7D5}" type="datetime1">
              <a:rPr lang="en-US" smtClean="0"/>
              <a:pPr/>
              <a:t>6/22/2026</a:t>
            </a:fld>
            <a:endParaRPr lang="en-US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4973EE95-672F-4E5A-A918-2F51DB2C3A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565257"/>
            <a:ext cx="30861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2B17F6F6-0CA3-4D52-AA3D-7CF8ADE793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67383" y="6572126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Title 6">
            <a:extLst>
              <a:ext uri="{FF2B5EF4-FFF2-40B4-BE49-F238E27FC236}">
                <a16:creationId xmlns:a16="http://schemas.microsoft.com/office/drawing/2014/main" id="{943CD72D-5295-43E4-B175-0EA61084ADC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5077" y="78613"/>
            <a:ext cx="8673846" cy="451739"/>
          </a:xfrm>
          <a:prstGeom prst="rect">
            <a:avLst/>
          </a:prstGeom>
        </p:spPr>
        <p:txBody>
          <a:bodyPr/>
          <a:lstStyle>
            <a:lvl1pPr>
              <a:defRPr sz="2800" b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dirty="0"/>
              <a:t>Title 9: ………………………………………</a:t>
            </a:r>
          </a:p>
        </p:txBody>
      </p:sp>
      <p:sp>
        <p:nvSpPr>
          <p:cNvPr id="16" name="Text Placeholder 11">
            <a:extLst>
              <a:ext uri="{FF2B5EF4-FFF2-40B4-BE49-F238E27FC236}">
                <a16:creationId xmlns:a16="http://schemas.microsoft.com/office/drawing/2014/main" id="{0C9A3A79-B187-4A33-8EBB-92ECD8BA3C5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34950" y="1164920"/>
            <a:ext cx="8674100" cy="4931079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6648294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ontent with Captio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76EAE966-F590-4BAF-A55B-75735FCC661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6565257"/>
            <a:ext cx="2057400" cy="365125"/>
          </a:xfrm>
          <a:prstGeom prst="rect">
            <a:avLst/>
          </a:prstGeom>
        </p:spPr>
        <p:txBody>
          <a:bodyPr/>
          <a:lstStyle>
            <a:lvl1pPr>
              <a:defRPr sz="1200" b="1">
                <a:solidFill>
                  <a:schemeClr val="bg1">
                    <a:lumMod val="95000"/>
                  </a:schemeClr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F70EAA40-3A53-4A3D-924A-D38F1059C7D5}" type="datetime1">
              <a:rPr lang="en-US" smtClean="0"/>
              <a:pPr/>
              <a:t>6/22/2026</a:t>
            </a:fld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C330CA1C-4366-43E8-9DC8-B360FC115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565257"/>
            <a:ext cx="30861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2DB13F6-9193-4FE2-AE85-5B96248CC0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67383" y="6572126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170462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1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5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198952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0" r:id="rId1"/>
    <p:sldLayoutId id="2147483671" r:id="rId2"/>
    <p:sldLayoutId id="2147483672" r:id="rId3"/>
    <p:sldLayoutId id="2147483673" r:id="rId4"/>
    <p:sldLayoutId id="2147483674" r:id="rId5"/>
    <p:sldLayoutId id="2147483675" r:id="rId6"/>
    <p:sldLayoutId id="2147483683" r:id="rId7"/>
    <p:sldLayoutId id="2147483676" r:id="rId8"/>
    <p:sldLayoutId id="2147483679" r:id="rId9"/>
    <p:sldLayoutId id="2147483680" r:id="rId10"/>
    <p:sldLayoutId id="2147483681" r:id="rId11"/>
    <p:sldLayoutId id="2147483682" r:id="rId12"/>
    <p:sldLayoutId id="2147483678" r:id="rId1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820864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9A3716-1A4C-0838-86B6-64CAAF77DF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50034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3"/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413012" y="398419"/>
            <a:ext cx="2037225" cy="611594"/>
          </a:xfrm>
          <a:prstGeom prst="rect">
            <a:avLst/>
          </a:prstGeom>
        </p:spPr>
      </p:pic>
      <p:sp>
        <p:nvSpPr>
          <p:cNvPr id="11" name="TitleBox"/>
          <p:cNvSpPr txBox="1">
            <a:spLocks/>
          </p:cNvSpPr>
          <p:nvPr/>
        </p:nvSpPr>
        <p:spPr>
          <a:xfrm>
            <a:off x="413012" y="1800000"/>
            <a:ext cx="7342482" cy="1050000"/>
          </a:xfrm>
          <a:prstGeom prst="rect">
            <a:avLst/>
          </a:prstGeom>
        </p:spPr>
        <p:txBody>
          <a:bodyPr wrap="square"/>
          <a:lstStyle>
            <a:lvl1pPr algn="l">
              <a:buNone/>
              <a:defRPr sz="3800" b="1">
                <a:solidFill>
                  <a:srgbClr val="C00000"/>
                </a:solidFill>
                <a:latin typeface="Calibri"/>
              </a:defRPr>
            </a:lvl1pPr>
          </a:lstStyle>
          <a:p>
            <a:r>
              <a:rPr lang="en-US" dirty="0"/>
              <a:t>Balanced Staff Routing for Maintenance</a:t>
            </a:r>
          </a:p>
        </p:txBody>
      </p:sp>
      <p:sp>
        <p:nvSpPr>
          <p:cNvPr id="12" name="SubBox"/>
          <p:cNvSpPr txBox="1">
            <a:spLocks/>
          </p:cNvSpPr>
          <p:nvPr/>
        </p:nvSpPr>
        <p:spPr>
          <a:xfrm>
            <a:off x="413012" y="2980000"/>
            <a:ext cx="7342482" cy="2515026"/>
          </a:xfrm>
          <a:prstGeom prst="rect">
            <a:avLst/>
          </a:prstGeom>
        </p:spPr>
        <p:txBody>
          <a:bodyPr/>
          <a:lstStyle>
            <a:lvl1pPr algn="l">
              <a:buNone/>
              <a:defRPr sz="1900" b="0">
                <a:solidFill>
                  <a:srgbClr val="404040"/>
                </a:solidFill>
                <a:latin typeface="Calibri"/>
              </a:defRPr>
            </a:lvl1pPr>
          </a:lstStyle>
          <a:p>
            <a:r>
              <a:rPr lang="en-US" sz="2100" b="1" dirty="0"/>
              <a:t>Optimization Mini-Project  |  Course: IT3052E  |  Class: 167686  |  Group: 5</a:t>
            </a:r>
          </a:p>
          <a:p>
            <a:endParaRPr lang="en-US" sz="1600" dirty="0"/>
          </a:p>
          <a:p>
            <a:r>
              <a:rPr lang="en-US" sz="2000" b="1" dirty="0"/>
              <a:t>Group Members:</a:t>
            </a:r>
          </a:p>
          <a:p>
            <a:r>
              <a:rPr lang="en-US"/>
              <a:t>• </a:t>
            </a:r>
            <a:r>
              <a:rPr lang="en-US" sz="1900"/>
              <a:t>Bui </a:t>
            </a:r>
            <a:r>
              <a:rPr lang="en-US" sz="1900" dirty="0"/>
              <a:t>Dang </a:t>
            </a:r>
            <a:r>
              <a:rPr lang="en-US" sz="1900"/>
              <a:t>Quang  </a:t>
            </a:r>
          </a:p>
          <a:p>
            <a:r>
              <a:rPr lang="en-US" sz="1900"/>
              <a:t>•  </a:t>
            </a:r>
            <a:r>
              <a:rPr lang="en-US" sz="1900" dirty="0"/>
              <a:t>Dinh Phuong </a:t>
            </a:r>
            <a:r>
              <a:rPr lang="en-US" sz="1900"/>
              <a:t>Mai  </a:t>
            </a:r>
          </a:p>
          <a:p>
            <a:r>
              <a:rPr lang="en-US" sz="1900"/>
              <a:t>•  </a:t>
            </a:r>
            <a:r>
              <a:rPr lang="en-US" sz="1900" dirty="0"/>
              <a:t>Do Anh </a:t>
            </a:r>
            <a:r>
              <a:rPr lang="en-US" sz="1900"/>
              <a:t>Minh  </a:t>
            </a:r>
          </a:p>
          <a:p>
            <a:r>
              <a:rPr lang="en-US" sz="1900"/>
              <a:t>•  </a:t>
            </a:r>
            <a:r>
              <a:rPr lang="en-US" sz="1900" dirty="0"/>
              <a:t>Ngo Nam Nhat Minh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600" dirty="0"/>
              <a:t>Table of Contents</a:t>
            </a:r>
          </a:p>
        </p:txBody>
      </p:sp>
      <p:sp>
        <p:nvSpPr>
          <p:cNvPr id="3" name="Content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2000" b="1" dirty="0"/>
              <a:t>1.  Introduction</a:t>
            </a:r>
          </a:p>
          <a:p>
            <a:pPr marL="0" indent="0">
              <a:buNone/>
            </a:pPr>
            <a:r>
              <a:rPr lang="en-US" sz="2000" b="1" dirty="0"/>
              <a:t>2.  Problem Overview  (Objective · Inputs · Outputs · Constraints)</a:t>
            </a:r>
          </a:p>
          <a:p>
            <a:pPr marL="0" indent="0">
              <a:buNone/>
            </a:pPr>
            <a:r>
              <a:rPr lang="en-US" sz="2000" b="1" dirty="0"/>
              <a:t>3.  Greedy Algorithm — Sorted Cheapest Insertion</a:t>
            </a:r>
          </a:p>
          <a:p>
            <a:pPr marL="457200" indent="-457200">
              <a:buNone/>
            </a:pPr>
            <a:r>
              <a:rPr lang="en-US" sz="1600" b="0" dirty="0"/>
              <a:t>    3.1 Background     3.2 Logic (3 Phases)     3.3 Pseudocode     3.4 Complexity</a:t>
            </a:r>
          </a:p>
          <a:p>
            <a:pPr marL="0" indent="0">
              <a:buNone/>
            </a:pPr>
            <a:r>
              <a:rPr lang="en-US" sz="2000" b="1" dirty="0"/>
              <a:t>4.  Branch &amp; Bound Algorithm</a:t>
            </a:r>
          </a:p>
          <a:p>
            <a:pPr marL="457200" indent="-457200">
              <a:buNone/>
            </a:pPr>
            <a:r>
              <a:rPr lang="en-US" sz="1600" b="0" dirty="0"/>
              <a:t>    4.1 State Representation     4.2 Base/Recursive Steps     4.3 Pseudocode</a:t>
            </a:r>
          </a:p>
          <a:p>
            <a:pPr marL="0" indent="0">
              <a:buNone/>
            </a:pPr>
            <a:r>
              <a:rPr lang="en-US" sz="2000" b="1" dirty="0"/>
              <a:t>5.  Constraint Programming (CP-SAT)</a:t>
            </a:r>
          </a:p>
          <a:p>
            <a:pPr marL="457200" indent="-457200">
              <a:buNone/>
            </a:pPr>
            <a:r>
              <a:rPr lang="en-US" sz="1600" b="0" dirty="0"/>
              <a:t>    5.1 Background     5.2 Process     5.3 Modelling (Variables + Constraints)     5.4 Results &amp; Scalability</a:t>
            </a:r>
          </a:p>
          <a:p>
            <a:pPr marL="0" indent="0">
              <a:buNone/>
            </a:pPr>
            <a:r>
              <a:rPr lang="en-US" sz="2000" b="1" dirty="0"/>
              <a:t>6.  Hill Climbing Heuristic</a:t>
            </a:r>
          </a:p>
          <a:p>
            <a:pPr marL="457200" indent="-457200">
              <a:buNone/>
            </a:pPr>
            <a:r>
              <a:rPr lang="en-US" sz="1600" b="0" dirty="0"/>
              <a:t>    6.1 Logic     6.2 Six Sub-Algorithms (pseudocode)</a:t>
            </a:r>
          </a:p>
          <a:p>
            <a:pPr marL="0" indent="0">
              <a:buNone/>
            </a:pPr>
            <a:r>
              <a:rPr lang="en-US" sz="2000" b="1" dirty="0"/>
              <a:t>7.  Results &amp; Comparative Analysis</a:t>
            </a:r>
          </a:p>
          <a:p>
            <a:pPr marL="457200" indent="-457200">
              <a:buNone/>
            </a:pPr>
            <a:r>
              <a:rPr lang="en-US" sz="1600" b="0" dirty="0"/>
              <a:t>    7.1 Experimental Setup     7.2 Benchmark Table     7.3 Analysis</a:t>
            </a:r>
          </a:p>
          <a:p>
            <a:pPr marL="0" indent="0">
              <a:buNone/>
            </a:pPr>
            <a:r>
              <a:rPr lang="en-US" sz="2000" b="1" dirty="0"/>
              <a:t>8.  Conclusion</a:t>
            </a:r>
          </a:p>
          <a:p>
            <a:endParaRPr lang="en-US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600" dirty="0"/>
              <a:t>1. Introduction</a:t>
            </a:r>
          </a:p>
        </p:txBody>
      </p:sp>
      <p:sp>
        <p:nvSpPr>
          <p:cNvPr id="3" name="Content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2000" b="1" dirty="0"/>
              <a:t>The Vehicle Routing Problem (VRP)</a:t>
            </a:r>
          </a:p>
          <a:p>
            <a:pPr marL="0" indent="0">
              <a:buNone/>
            </a:pPr>
            <a:r>
              <a:rPr lang="en-US" sz="1800" b="0" dirty="0"/>
              <a:t>Originally formulated by Dantzig &amp; Ramser (1959). A classic challenge in combinatorial optimization.</a:t>
            </a:r>
          </a:p>
          <a:p>
            <a:pPr marL="0" indent="0">
              <a:buNone/>
            </a:pPr>
            <a:r>
              <a:rPr lang="en-US" sz="1800" b="0" dirty="0"/>
              <a:t>Traditional VRP: minimize cumulative distance or total travel time of all vehicles.</a:t>
            </a:r>
          </a:p>
          <a:p>
            <a:pPr marL="0" indent="0">
              <a:buNone/>
            </a:pPr>
            <a:endParaRPr lang="en-US" sz="1800" b="0" dirty="0"/>
          </a:p>
          <a:p>
            <a:pPr marL="0" indent="0">
              <a:buNone/>
            </a:pPr>
            <a:r>
              <a:rPr lang="en-US" sz="2000" b="1" dirty="0"/>
              <a:t>Balanced Staff Routing for Maintenance (BSRM)</a:t>
            </a:r>
          </a:p>
          <a:p>
            <a:pPr marL="0" indent="0">
              <a:buNone/>
            </a:pPr>
            <a:r>
              <a:rPr lang="en-US" sz="1800" b="0" dirty="0"/>
              <a:t>The focus shifts to minimizing the MAKESPAN — the workload of the most heavily loaded technician.</a:t>
            </a:r>
          </a:p>
          <a:p>
            <a:pPr marL="0" indent="0">
              <a:buNone/>
            </a:pPr>
            <a:r>
              <a:rPr lang="en-US" sz="1800" b="0" dirty="0"/>
              <a:t>Ensures equitable distribution of labor and prevents individual technician fatigue.</a:t>
            </a:r>
          </a:p>
          <a:p>
            <a:pPr marL="0" indent="0">
              <a:buNone/>
            </a:pPr>
            <a:endParaRPr lang="en-US" sz="1800" b="0" dirty="0"/>
          </a:p>
          <a:p>
            <a:pPr marL="0" indent="0">
              <a:buNone/>
            </a:pPr>
            <a:r>
              <a:rPr lang="en-US" sz="2000" b="1" dirty="0"/>
              <a:t>Why is this hard?</a:t>
            </a:r>
          </a:p>
          <a:p>
            <a:pPr marL="0" indent="0">
              <a:buNone/>
            </a:pPr>
            <a:r>
              <a:rPr lang="en-US" sz="1800" b="0" dirty="0"/>
              <a:t>Inherits NP-hard complexity from TSP and multi-depot vehicle routing.</a:t>
            </a:r>
          </a:p>
          <a:p>
            <a:pPr marL="0" indent="0">
              <a:buNone/>
            </a:pPr>
            <a:r>
              <a:rPr lang="en-US" sz="1800" b="0" dirty="0"/>
              <a:t>Exact methods (CP, ILP) cannot scale beyond small instances.</a:t>
            </a:r>
          </a:p>
          <a:p>
            <a:pPr marL="0" indent="0">
              <a:buNone/>
            </a:pPr>
            <a:r>
              <a:rPr lang="en-US" sz="1800" b="0" dirty="0"/>
              <a:t>This report presents a tailored deterministic construction heuristic solving large test cases (N=1000) within milliseconds.</a:t>
            </a:r>
          </a:p>
          <a:p>
            <a:endParaRPr lang="en-US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600" dirty="0"/>
              <a:t>2. Problem Overview</a:t>
            </a:r>
          </a:p>
        </p:txBody>
      </p:sp>
      <p:sp>
        <p:nvSpPr>
          <p:cNvPr id="3" name="Content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en-US"/>
              <a:t>Objective</a:t>
            </a:r>
          </a:p>
          <a:p>
            <a:r>
              <a:rPr lang="en-US"/>
              <a:t>Inputs </a:t>
            </a:r>
          </a:p>
          <a:p>
            <a:r>
              <a:rPr lang="en-US"/>
              <a:t>Outputs</a:t>
            </a:r>
          </a:p>
          <a:p>
            <a:r>
              <a:rPr lang="en-US"/>
              <a:t>Constraints</a:t>
            </a:r>
          </a:p>
          <a:p>
            <a:r>
              <a:rPr lang="en-US"/>
              <a:t>Workload Formula</a:t>
            </a:r>
            <a:endParaRPr lang="en-US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600" dirty="0"/>
              <a:t>2.1 Objective &amp; Inputs</a:t>
            </a:r>
          </a:p>
        </p:txBody>
      </p:sp>
      <p:sp>
        <p:nvSpPr>
          <p:cNvPr id="3" name="Content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2000" b="1" dirty="0"/>
              <a:t>Objective</a:t>
            </a:r>
          </a:p>
          <a:p>
            <a:pPr marL="0" indent="0">
              <a:buNone/>
            </a:pPr>
            <a:r>
              <a:rPr lang="en-US" sz="1800" b="0" dirty="0"/>
              <a:t>Minimize the maximum workload (makespan) of any technician such that:</a:t>
            </a:r>
          </a:p>
          <a:p>
            <a:pPr marL="457200" indent="-457200">
              <a:buNone/>
            </a:pPr>
            <a:r>
              <a:rPr lang="en-US" sz="1800" b="0" dirty="0"/>
              <a:t>• All customers i ∈ {1,…,N} are serviced exactly once</a:t>
            </a:r>
          </a:p>
          <a:p>
            <a:pPr marL="457200" indent="-457200">
              <a:buNone/>
            </a:pPr>
            <a:r>
              <a:rPr lang="en-US" sz="1800" b="0" dirty="0"/>
              <a:t>• All technicians start and finish their routes at the central depot (node 0)</a:t>
            </a:r>
          </a:p>
          <a:p>
            <a:pPr marL="0" indent="0">
              <a:buNone/>
            </a:pPr>
            <a:endParaRPr lang="en-US" sz="1800" b="0" dirty="0"/>
          </a:p>
          <a:p>
            <a:pPr marL="0" indent="0">
              <a:buNone/>
            </a:pPr>
            <a:r>
              <a:rPr lang="en-US" sz="2000" b="1" dirty="0"/>
              <a:t>Inputs</a:t>
            </a:r>
          </a:p>
          <a:p>
            <a:pPr marL="0" indent="0">
              <a:buNone/>
            </a:pPr>
            <a:r>
              <a:rPr lang="en-US" sz="1800" b="0" dirty="0"/>
              <a:t>N     Number of customers to be serviced                  (1 ≤ N ≤ 1000)</a:t>
            </a:r>
          </a:p>
          <a:p>
            <a:pPr marL="0" indent="0">
              <a:buNone/>
            </a:pPr>
            <a:r>
              <a:rPr lang="en-US" sz="1800" b="0" dirty="0"/>
              <a:t>K     Number of available technicians                     (1 ≤ K ≤ 100)</a:t>
            </a:r>
          </a:p>
          <a:p>
            <a:pPr marL="0" indent="0">
              <a:buNone/>
            </a:pPr>
            <a:r>
              <a:rPr lang="en-US" sz="1800" b="0" dirty="0"/>
              <a:t>d(i)  Maintenance service duration for customer i         (1 ≤ i ≤ N),  d(0) = 0 for depot</a:t>
            </a:r>
          </a:p>
          <a:p>
            <a:pPr marL="0" indent="0">
              <a:buNone/>
            </a:pPr>
            <a:r>
              <a:rPr lang="en-US" sz="1800" b="0" dirty="0"/>
              <a:t>t(i,j) Travel time matrix of size (N+1) × (N+1)</a:t>
            </a:r>
          </a:p>
          <a:p>
            <a:pPr marL="457200" indent="-457200">
              <a:buNone/>
            </a:pPr>
            <a:r>
              <a:rPr lang="en-US" sz="1800" b="0" dirty="0"/>
              <a:t>       Represents travel cost between any two locations i, j ∈ {0, 1, …, N}</a:t>
            </a:r>
          </a:p>
          <a:p>
            <a:endParaRPr lang="en-US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600" dirty="0"/>
              <a:t>2.2 Outputs, Constraints &amp; Workload Formula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"/>
              <p:cNvSpPr>
                <a:spLocks noGrp="1"/>
              </p:cNvSpPr>
              <p:nvPr>
                <p:ph sz="quarter" idx="13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sz="2000" b="1" dirty="0"/>
                  <a:t>Outputs</a:t>
                </a:r>
              </a:p>
              <a:p>
                <a:pPr marL="0" indent="0">
                  <a:buNone/>
                </a:pPr>
                <a:r>
                  <a:rPr lang="en-US" sz="1800" b="0" dirty="0"/>
                  <a:t>Line 1:    The number of technicians K</a:t>
                </a:r>
              </a:p>
              <a:p>
                <a:pPr marL="0" indent="0">
                  <a:buNone/>
                </a:pPr>
                <a:r>
                  <a:rPr lang="en-US" sz="1800" b="0" dirty="0"/>
                  <a:t>Line 2k    (k=1..K):  Number of points L_k in route of technician k</a:t>
                </a:r>
              </a:p>
              <a:p>
                <a:pPr marL="0" indent="0">
                  <a:buNone/>
                </a:pPr>
                <a:r>
                  <a:rPr lang="en-US" sz="1800" b="0" dirty="0"/>
                  <a:t>Line 2k+1: Route sequence r[0], r[1], …, r[L_k]  where r[0] = r[L_k] = 0 (depot)</a:t>
                </a:r>
              </a:p>
              <a:p>
                <a:pPr marL="0" indent="0">
                  <a:buNone/>
                </a:pPr>
                <a:endParaRPr lang="en-US" sz="1800" b="0" dirty="0"/>
              </a:p>
              <a:p>
                <a:pPr marL="0" indent="0">
                  <a:buNone/>
                </a:pPr>
                <a:r>
                  <a:rPr lang="en-US" sz="2000" b="1" dirty="0"/>
                  <a:t>Constraints</a:t>
                </a:r>
              </a:p>
              <a:p>
                <a:pPr marL="0" indent="0">
                  <a:buNone/>
                </a:pPr>
                <a:r>
                  <a:rPr lang="en-US" sz="1800" b="0" dirty="0"/>
                  <a:t>① Single Visit:       Each customer visited exactly once by exactly one technician.</a:t>
                </a:r>
              </a:p>
              <a:p>
                <a:pPr marL="0" indent="0">
                  <a:buNone/>
                </a:pPr>
                <a:r>
                  <a:rPr lang="en-US" sz="1800" b="0" dirty="0"/>
                  <a:t>② Depot Continuity:   Every route begins at node 0 and returns to node 0.</a:t>
                </a:r>
              </a:p>
              <a:p>
                <a:pPr marL="0" indent="0">
                  <a:buNone/>
                </a:pPr>
                <a:r>
                  <a:rPr lang="en-US" sz="1800" b="0" dirty="0"/>
                  <a:t>③ Workload Formula:   For route R_k = ⟨r[0], r[1], …, r[L_k]⟩:</a:t>
                </a:r>
              </a:p>
              <a:p>
                <a:pPr marL="0" indent="0">
                  <a:buNone/>
                </a:pPr>
                <a:endParaRPr lang="en-US" sz="1800" b="0" dirty="0"/>
              </a:p>
              <a:p>
                <a:pPr>
                  <a:buNone/>
                </a:pPr>
                <a:r>
                  <a:rPr lang="en-US" sz="2000" b="0">
                    <a:solidFill>
                      <a:srgbClr val="FF0000"/>
                    </a:solidFill>
                  </a:rPr>
                  <a:t>  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000" smtClean="0">
                        <a:solidFill>
                          <a:srgbClr val="FF0000"/>
                        </a:solidFill>
                        <a:effectLst/>
                        <a:latin typeface="Cambria Math" panose="02040503050406030204" pitchFamily="18" charset="0"/>
                        <a:ea typeface="Courier New" panose="02070309020205020404" pitchFamily="49" charset="0"/>
                        <a:cs typeface="Courier New" panose="02070309020205020404" pitchFamily="49" charset="0"/>
                      </a:rPr>
                      <m:t>W</m:t>
                    </m:r>
                    <m:d>
                      <m:dPr>
                        <m:ctrlPr>
                          <a:rPr lang="en-US" sz="2000" i="1">
                            <a:solidFill>
                              <a:srgbClr val="FF0000"/>
                            </a:solidFill>
                            <a:effectLst/>
                            <a:latin typeface="Cambria Math" panose="02040503050406030204" pitchFamily="18" charset="0"/>
                            <a:ea typeface="Courier New" panose="02070309020205020404" pitchFamily="49" charset="0"/>
                            <a:cs typeface="Courier New" panose="02070309020205020404" pitchFamily="49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000" i="1">
                                <a:solidFill>
                                  <a:srgbClr val="FF0000"/>
                                </a:solidFill>
                                <a:effectLst/>
                                <a:latin typeface="Cambria Math" panose="02040503050406030204" pitchFamily="18" charset="0"/>
                                <a:ea typeface="Courier New" panose="02070309020205020404" pitchFamily="49" charset="0"/>
                                <a:cs typeface="Courier New" panose="02070309020205020404" pitchFamily="49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>
                                <a:solidFill>
                                  <a:srgbClr val="FF0000"/>
                                </a:solidFill>
                                <a:effectLst/>
                                <a:latin typeface="Cambria Math" panose="02040503050406030204" pitchFamily="18" charset="0"/>
                                <a:ea typeface="Courier New" panose="02070309020205020404" pitchFamily="49" charset="0"/>
                                <a:cs typeface="Courier New" panose="02070309020205020404" pitchFamily="49" charset="0"/>
                              </a:rPr>
                              <m:t>R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000">
                                <a:solidFill>
                                  <a:srgbClr val="FF0000"/>
                                </a:solidFill>
                                <a:effectLst/>
                                <a:latin typeface="Cambria Math" panose="02040503050406030204" pitchFamily="18" charset="0"/>
                                <a:ea typeface="Courier New" panose="02070309020205020404" pitchFamily="49" charset="0"/>
                                <a:cs typeface="Courier New" panose="02070309020205020404" pitchFamily="49" charset="0"/>
                              </a:rPr>
                              <m:t>k</m:t>
                            </m:r>
                          </m:sub>
                        </m:sSub>
                      </m:e>
                    </m:d>
                    <m:r>
                      <a:rPr lang="en-US" sz="2000">
                        <a:solidFill>
                          <a:srgbClr val="FF0000"/>
                        </a:solidFill>
                        <a:effectLst/>
                        <a:latin typeface="Cambria Math" panose="02040503050406030204" pitchFamily="18" charset="0"/>
                        <a:ea typeface="Courier New" panose="02070309020205020404" pitchFamily="49" charset="0"/>
                        <a:cs typeface="Courier New" panose="02070309020205020404" pitchFamily="49" charset="0"/>
                      </a:rPr>
                      <m:t>=</m:t>
                    </m:r>
                    <m:nary>
                      <m:naryPr>
                        <m:chr m:val="∑"/>
                        <m:ctrlPr>
                          <a:rPr lang="en-US" sz="2000" i="1">
                            <a:solidFill>
                              <a:srgbClr val="FF0000"/>
                            </a:solidFill>
                            <a:effectLst/>
                            <a:latin typeface="Cambria Math" panose="02040503050406030204" pitchFamily="18" charset="0"/>
                            <a:ea typeface="Courier New" panose="02070309020205020404" pitchFamily="49" charset="0"/>
                            <a:cs typeface="Courier New" panose="02070309020205020404" pitchFamily="49" charset="0"/>
                          </a:rPr>
                        </m:ctrlPr>
                      </m:naryPr>
                      <m:sub>
                        <m:r>
                          <m:rPr>
                            <m:sty m:val="p"/>
                          </m:rPr>
                          <a:rPr lang="en-US" sz="2000">
                            <a:solidFill>
                              <a:srgbClr val="FF0000"/>
                            </a:solidFill>
                            <a:effectLst/>
                            <a:latin typeface="Cambria Math" panose="02040503050406030204" pitchFamily="18" charset="0"/>
                            <a:ea typeface="Courier New" panose="02070309020205020404" pitchFamily="49" charset="0"/>
                            <a:cs typeface="Courier New" panose="02070309020205020404" pitchFamily="49" charset="0"/>
                          </a:rPr>
                          <m:t>i</m:t>
                        </m:r>
                        <m:r>
                          <a:rPr lang="en-US" sz="2000">
                            <a:solidFill>
                              <a:srgbClr val="FF0000"/>
                            </a:solidFill>
                            <a:effectLst/>
                            <a:latin typeface="Cambria Math" panose="02040503050406030204" pitchFamily="18" charset="0"/>
                            <a:ea typeface="Courier New" panose="02070309020205020404" pitchFamily="49" charset="0"/>
                            <a:cs typeface="Courier New" panose="02070309020205020404" pitchFamily="49" charset="0"/>
                          </a:rPr>
                          <m:t>=0</m:t>
                        </m:r>
                      </m:sub>
                      <m:sup>
                        <m:sSub>
                          <m:sSubPr>
                            <m:ctrlPr>
                              <a:rPr lang="en-US" sz="2000" i="1">
                                <a:solidFill>
                                  <a:srgbClr val="FF0000"/>
                                </a:solidFill>
                                <a:effectLst/>
                                <a:latin typeface="Cambria Math" panose="02040503050406030204" pitchFamily="18" charset="0"/>
                                <a:ea typeface="Courier New" panose="02070309020205020404" pitchFamily="49" charset="0"/>
                                <a:cs typeface="Courier New" panose="02070309020205020404" pitchFamily="49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>
                                <a:solidFill>
                                  <a:srgbClr val="FF0000"/>
                                </a:solidFill>
                                <a:effectLst/>
                                <a:latin typeface="Cambria Math" panose="02040503050406030204" pitchFamily="18" charset="0"/>
                                <a:ea typeface="Courier New" panose="02070309020205020404" pitchFamily="49" charset="0"/>
                                <a:cs typeface="Courier New" panose="02070309020205020404" pitchFamily="49" charset="0"/>
                              </a:rPr>
                              <m:t>L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000">
                                <a:solidFill>
                                  <a:srgbClr val="FF0000"/>
                                </a:solidFill>
                                <a:effectLst/>
                                <a:latin typeface="Cambria Math" panose="02040503050406030204" pitchFamily="18" charset="0"/>
                                <a:ea typeface="Courier New" panose="02070309020205020404" pitchFamily="49" charset="0"/>
                                <a:cs typeface="Courier New" panose="02070309020205020404" pitchFamily="49" charset="0"/>
                              </a:rPr>
                              <m:t>k</m:t>
                            </m:r>
                          </m:sub>
                        </m:sSub>
                        <m:r>
                          <a:rPr lang="en-US" sz="2000">
                            <a:solidFill>
                              <a:srgbClr val="FF0000"/>
                            </a:solidFill>
                            <a:effectLst/>
                            <a:latin typeface="Cambria Math" panose="02040503050406030204" pitchFamily="18" charset="0"/>
                            <a:ea typeface="Courier New" panose="02070309020205020404" pitchFamily="49" charset="0"/>
                            <a:cs typeface="Courier New" panose="02070309020205020404" pitchFamily="49" charset="0"/>
                          </a:rPr>
                          <m:t>−1</m:t>
                        </m:r>
                      </m:sup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sz="2000" i="1">
                                <a:solidFill>
                                  <a:srgbClr val="FF0000"/>
                                </a:solidFill>
                                <a:effectLst/>
                                <a:latin typeface="Cambria Math" panose="02040503050406030204" pitchFamily="18" charset="0"/>
                                <a:ea typeface="Courier New" panose="02070309020205020404" pitchFamily="49" charset="0"/>
                                <a:cs typeface="Courier New" panose="02070309020205020404" pitchFamily="49" charset="0"/>
                              </a:rPr>
                            </m:ctrlPr>
                          </m:dPr>
                          <m:e>
                            <m:r>
                              <m:rPr>
                                <m:sty m:val="p"/>
                              </m:rPr>
                              <a:rPr lang="en-US" sz="2000">
                                <a:solidFill>
                                  <a:srgbClr val="FF0000"/>
                                </a:solidFill>
                                <a:effectLst/>
                                <a:latin typeface="Cambria Math" panose="02040503050406030204" pitchFamily="18" charset="0"/>
                                <a:ea typeface="Courier New" panose="02070309020205020404" pitchFamily="49" charset="0"/>
                                <a:cs typeface="Courier New" panose="02070309020205020404" pitchFamily="49" charset="0"/>
                              </a:rPr>
                              <m:t>t</m:t>
                            </m:r>
                            <m:d>
                              <m:dPr>
                                <m:ctrlPr>
                                  <a:rPr lang="en-US" sz="2000" i="1">
                                    <a:solidFill>
                                      <a:srgbClr val="FF0000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ourier New" panose="02070309020205020404" pitchFamily="49" charset="0"/>
                                    <a:cs typeface="Courier New" panose="02070309020205020404" pitchFamily="49" charset="0"/>
                                  </a:rPr>
                                </m:ctrlPr>
                              </m:dPr>
                              <m:e>
                                <m:r>
                                  <m:rPr>
                                    <m:sty m:val="p"/>
                                  </m:rPr>
                                  <a:rPr lang="en-US" sz="2000">
                                    <a:solidFill>
                                      <a:srgbClr val="FF0000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ourier New" panose="02070309020205020404" pitchFamily="49" charset="0"/>
                                    <a:cs typeface="Courier New" panose="02070309020205020404" pitchFamily="49" charset="0"/>
                                  </a:rPr>
                                  <m:t>r</m:t>
                                </m:r>
                                <m:d>
                                  <m:dPr>
                                    <m:begChr m:val="["/>
                                    <m:endChr m:val="]"/>
                                    <m:ctrlPr>
                                      <a:rPr lang="en-US" sz="2000" i="1">
                                        <a:solidFill>
                                          <a:srgbClr val="FF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Courier New" panose="02070309020205020404" pitchFamily="49" charset="0"/>
                                        <a:cs typeface="Courier New" panose="02070309020205020404" pitchFamily="49" charset="0"/>
                                      </a:rPr>
                                    </m:ctrlPr>
                                  </m:d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000">
                                        <a:solidFill>
                                          <a:srgbClr val="FF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Courier New" panose="02070309020205020404" pitchFamily="49" charset="0"/>
                                        <a:cs typeface="Courier New" panose="02070309020205020404" pitchFamily="49" charset="0"/>
                                      </a:rPr>
                                      <m:t>i</m:t>
                                    </m:r>
                                  </m:e>
                                </m:d>
                                <m:r>
                                  <a:rPr lang="en-US" sz="2000">
                                    <a:solidFill>
                                      <a:srgbClr val="FF0000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ourier New" panose="02070309020205020404" pitchFamily="49" charset="0"/>
                                    <a:cs typeface="Courier New" panose="02070309020205020404" pitchFamily="49" charset="0"/>
                                  </a:rPr>
                                  <m:t>,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2000">
                                    <a:solidFill>
                                      <a:srgbClr val="FF0000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ourier New" panose="02070309020205020404" pitchFamily="49" charset="0"/>
                                    <a:cs typeface="Courier New" panose="02070309020205020404" pitchFamily="49" charset="0"/>
                                  </a:rPr>
                                  <m:t>r</m:t>
                                </m:r>
                                <m:d>
                                  <m:dPr>
                                    <m:begChr m:val="["/>
                                    <m:endChr m:val="]"/>
                                    <m:ctrlPr>
                                      <a:rPr lang="en-US" sz="2000" i="1">
                                        <a:solidFill>
                                          <a:srgbClr val="FF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Courier New" panose="02070309020205020404" pitchFamily="49" charset="0"/>
                                        <a:cs typeface="Courier New" panose="02070309020205020404" pitchFamily="49" charset="0"/>
                                      </a:rPr>
                                    </m:ctrlPr>
                                  </m:d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000">
                                        <a:solidFill>
                                          <a:srgbClr val="FF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Courier New" panose="02070309020205020404" pitchFamily="49" charset="0"/>
                                        <a:cs typeface="Courier New" panose="02070309020205020404" pitchFamily="49" charset="0"/>
                                      </a:rPr>
                                      <m:t>i</m:t>
                                    </m:r>
                                    <m:r>
                                      <a:rPr lang="en-US" sz="2000">
                                        <a:solidFill>
                                          <a:srgbClr val="FF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Courier New" panose="02070309020205020404" pitchFamily="49" charset="0"/>
                                        <a:cs typeface="Courier New" panose="02070309020205020404" pitchFamily="49" charset="0"/>
                                      </a:rPr>
                                      <m:t>+1</m:t>
                                    </m:r>
                                  </m:e>
                                </m:d>
                              </m:e>
                            </m:d>
                            <m:r>
                              <a:rPr lang="en-US" sz="2000">
                                <a:solidFill>
                                  <a:srgbClr val="FF0000"/>
                                </a:solidFill>
                                <a:effectLst/>
                                <a:latin typeface="Cambria Math" panose="02040503050406030204" pitchFamily="18" charset="0"/>
                                <a:ea typeface="Courier New" panose="02070309020205020404" pitchFamily="49" charset="0"/>
                                <a:cs typeface="Courier New" panose="02070309020205020404" pitchFamily="49" charset="0"/>
                              </a:rPr>
                              <m:t>+</m:t>
                            </m:r>
                            <m:r>
                              <m:rPr>
                                <m:sty m:val="p"/>
                              </m:rPr>
                              <a:rPr lang="en-US" sz="2000">
                                <a:solidFill>
                                  <a:srgbClr val="FF0000"/>
                                </a:solidFill>
                                <a:effectLst/>
                                <a:latin typeface="Cambria Math" panose="02040503050406030204" pitchFamily="18" charset="0"/>
                                <a:ea typeface="Courier New" panose="02070309020205020404" pitchFamily="49" charset="0"/>
                                <a:cs typeface="Courier New" panose="02070309020205020404" pitchFamily="49" charset="0"/>
                              </a:rPr>
                              <m:t>d</m:t>
                            </m:r>
                            <m:d>
                              <m:dPr>
                                <m:ctrlPr>
                                  <a:rPr lang="en-US" sz="2000" i="1">
                                    <a:solidFill>
                                      <a:srgbClr val="FF0000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ourier New" panose="02070309020205020404" pitchFamily="49" charset="0"/>
                                    <a:cs typeface="Courier New" panose="02070309020205020404" pitchFamily="49" charset="0"/>
                                  </a:rPr>
                                </m:ctrlPr>
                              </m:dPr>
                              <m:e>
                                <m:r>
                                  <m:rPr>
                                    <m:sty m:val="p"/>
                                  </m:rPr>
                                  <a:rPr lang="en-US" sz="2000">
                                    <a:solidFill>
                                      <a:srgbClr val="FF0000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ourier New" panose="02070309020205020404" pitchFamily="49" charset="0"/>
                                    <a:cs typeface="Courier New" panose="02070309020205020404" pitchFamily="49" charset="0"/>
                                  </a:rPr>
                                  <m:t>r</m:t>
                                </m:r>
                                <m:d>
                                  <m:dPr>
                                    <m:begChr m:val="["/>
                                    <m:endChr m:val="]"/>
                                    <m:ctrlPr>
                                      <a:rPr lang="en-US" sz="2000" i="1">
                                        <a:solidFill>
                                          <a:srgbClr val="FF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Courier New" panose="02070309020205020404" pitchFamily="49" charset="0"/>
                                        <a:cs typeface="Courier New" panose="02070309020205020404" pitchFamily="49" charset="0"/>
                                      </a:rPr>
                                    </m:ctrlPr>
                                  </m:d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000">
                                        <a:solidFill>
                                          <a:srgbClr val="FF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Courier New" panose="02070309020205020404" pitchFamily="49" charset="0"/>
                                        <a:cs typeface="Courier New" panose="02070309020205020404" pitchFamily="49" charset="0"/>
                                      </a:rPr>
                                      <m:t>i</m:t>
                                    </m:r>
                                    <m:r>
                                      <a:rPr lang="en-US" sz="2000">
                                        <a:solidFill>
                                          <a:srgbClr val="FF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Courier New" panose="02070309020205020404" pitchFamily="49" charset="0"/>
                                        <a:cs typeface="Courier New" panose="02070309020205020404" pitchFamily="49" charset="0"/>
                                      </a:rPr>
                                      <m:t>+1</m:t>
                                    </m:r>
                                  </m:e>
                                </m:d>
                              </m:e>
                            </m:d>
                          </m:e>
                        </m:d>
                      </m:e>
                    </m:nary>
                  </m:oMath>
                </a14:m>
                <a:endParaRPr lang="en-US" sz="2000" b="0">
                  <a:solidFill>
                    <a:srgbClr val="C00000"/>
                  </a:solidFill>
                </a:endParaRPr>
              </a:p>
              <a:p>
                <a:pPr>
                  <a:buNone/>
                </a:pPr>
                <a:r>
                  <a:rPr lang="en-US" sz="1800" b="0">
                    <a:solidFill>
                      <a:srgbClr val="C00000"/>
                    </a:solidFill>
                  </a:rPr>
                  <a:t>Objective Function:  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sz="1800" i="1" smtClean="0">
                            <a:solidFill>
                              <a:srgbClr val="FF0000"/>
                            </a:solidFill>
                            <a:effectLst/>
                            <a:latin typeface="Cambria Math" panose="02040503050406030204" pitchFamily="18" charset="0"/>
                            <a:ea typeface="Courier New" panose="02070309020205020404" pitchFamily="49" charset="0"/>
                            <a:cs typeface="Courier New" panose="02070309020205020404" pitchFamily="49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1800">
                            <a:solidFill>
                              <a:srgbClr val="FF0000"/>
                            </a:solidFill>
                            <a:effectLst/>
                            <a:latin typeface="Cambria Math" panose="02040503050406030204" pitchFamily="18" charset="0"/>
                            <a:ea typeface="Courier New" panose="02070309020205020404" pitchFamily="49" charset="0"/>
                            <a:cs typeface="Courier New" panose="02070309020205020404" pitchFamily="49" charset="0"/>
                          </a:rPr>
                          <m:t>min</m:t>
                        </m:r>
                      </m:fName>
                      <m:e>
                        <m:func>
                          <m:funcPr>
                            <m:ctrlPr>
                              <a:rPr lang="en-US" sz="1800" i="1">
                                <a:solidFill>
                                  <a:srgbClr val="FF0000"/>
                                </a:solidFill>
                                <a:effectLst/>
                                <a:latin typeface="Cambria Math" panose="02040503050406030204" pitchFamily="18" charset="0"/>
                                <a:ea typeface="Courier New" panose="02070309020205020404" pitchFamily="49" charset="0"/>
                                <a:cs typeface="Courier New" panose="02070309020205020404" pitchFamily="49" charset="0"/>
                              </a:rPr>
                            </m:ctrlPr>
                          </m:funcPr>
                          <m:fName>
                            <m:limLow>
                              <m:limLowPr>
                                <m:ctrlPr>
                                  <a:rPr lang="en-US" sz="1800" i="1">
                                    <a:solidFill>
                                      <a:srgbClr val="FF0000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ourier New" panose="02070309020205020404" pitchFamily="49" charset="0"/>
                                    <a:cs typeface="Courier New" panose="02070309020205020404" pitchFamily="49" charset="0"/>
                                  </a:rPr>
                                </m:ctrlPr>
                              </m:limLowPr>
                              <m:e>
                                <m:r>
                                  <m:rPr>
                                    <m:sty m:val="p"/>
                                  </m:rPr>
                                  <a:rPr lang="en-US" sz="1800">
                                    <a:solidFill>
                                      <a:srgbClr val="FF0000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ourier New" panose="02070309020205020404" pitchFamily="49" charset="0"/>
                                    <a:cs typeface="Courier New" panose="02070309020205020404" pitchFamily="49" charset="0"/>
                                  </a:rPr>
                                  <m:t>max</m:t>
                                </m:r>
                              </m:e>
                              <m:lim>
                                <m:r>
                                  <m:rPr>
                                    <m:sty m:val="p"/>
                                  </m:rPr>
                                  <a:rPr lang="en-US" sz="1800">
                                    <a:solidFill>
                                      <a:srgbClr val="FF0000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ourier New" panose="02070309020205020404" pitchFamily="49" charset="0"/>
                                    <a:cs typeface="Courier New" panose="02070309020205020404" pitchFamily="49" charset="0"/>
                                  </a:rPr>
                                  <m:t>k</m:t>
                                </m:r>
                                <m:r>
                                  <a:rPr lang="en-US" sz="1800">
                                    <a:solidFill>
                                      <a:srgbClr val="FF0000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ourier New" panose="02070309020205020404" pitchFamily="49" charset="0"/>
                                    <a:cs typeface="Courier New" panose="02070309020205020404" pitchFamily="49" charset="0"/>
                                  </a:rPr>
                                  <m:t>=1,…,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1800">
                                    <a:solidFill>
                                      <a:srgbClr val="FF0000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ourier New" panose="02070309020205020404" pitchFamily="49" charset="0"/>
                                    <a:cs typeface="Courier New" panose="02070309020205020404" pitchFamily="49" charset="0"/>
                                  </a:rPr>
                                  <m:t>K</m:t>
                                </m:r>
                              </m:lim>
                            </m:limLow>
                          </m:fName>
                          <m:e>
                            <m:d>
                              <m:dPr>
                                <m:begChr m:val="{"/>
                                <m:endChr m:val="}"/>
                                <m:ctrlPr>
                                  <a:rPr lang="en-US" sz="1800" i="1">
                                    <a:solidFill>
                                      <a:srgbClr val="FF0000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ourier New" panose="02070309020205020404" pitchFamily="49" charset="0"/>
                                    <a:cs typeface="Courier New" panose="02070309020205020404" pitchFamily="49" charset="0"/>
                                  </a:rPr>
                                </m:ctrlPr>
                              </m:dPr>
                              <m:e>
                                <m:r>
                                  <m:rPr>
                                    <m:sty m:val="p"/>
                                  </m:rPr>
                                  <a:rPr lang="en-US" sz="1800">
                                    <a:solidFill>
                                      <a:srgbClr val="FF0000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ourier New" panose="02070309020205020404" pitchFamily="49" charset="0"/>
                                    <a:cs typeface="Courier New" panose="02070309020205020404" pitchFamily="49" charset="0"/>
                                  </a:rPr>
                                  <m:t>W</m:t>
                                </m:r>
                                <m:d>
                                  <m:dPr>
                                    <m:ctrlPr>
                                      <a:rPr lang="en-US" sz="1800" i="1">
                                        <a:solidFill>
                                          <a:srgbClr val="FF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Courier New" panose="02070309020205020404" pitchFamily="49" charset="0"/>
                                        <a:cs typeface="Courier New" panose="02070309020205020404" pitchFamily="49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sz="1800" i="1">
                                            <a:solidFill>
                                              <a:srgbClr val="FF0000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Courier New" panose="02070309020205020404" pitchFamily="49" charset="0"/>
                                            <a:cs typeface="Courier New" panose="02070309020205020404" pitchFamily="49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sz="1800">
                                            <a:solidFill>
                                              <a:srgbClr val="FF0000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Courier New" panose="02070309020205020404" pitchFamily="49" charset="0"/>
                                            <a:cs typeface="Courier New" panose="02070309020205020404" pitchFamily="49" charset="0"/>
                                          </a:rPr>
                                          <m:t>R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sty m:val="p"/>
                                          </m:rPr>
                                          <a:rPr lang="en-US" sz="1800">
                                            <a:solidFill>
                                              <a:srgbClr val="FF0000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Courier New" panose="02070309020205020404" pitchFamily="49" charset="0"/>
                                            <a:cs typeface="Courier New" panose="02070309020205020404" pitchFamily="49" charset="0"/>
                                          </a:rPr>
                                          <m:t>k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</m:d>
                          </m:e>
                        </m:func>
                      </m:e>
                    </m:func>
                    <m:r>
                      <a:rPr lang="en-US" sz="1800">
                        <a:solidFill>
                          <a:srgbClr val="FF0000"/>
                        </a:solidFill>
                        <a:effectLst/>
                        <a:latin typeface="Cambria Math" panose="02040503050406030204" pitchFamily="18" charset="0"/>
                        <a:ea typeface="Courier New" panose="02070309020205020404" pitchFamily="49" charset="0"/>
                        <a:cs typeface="Courier New" panose="02070309020205020404" pitchFamily="49" charset="0"/>
                      </a:rPr>
                      <m:t> </m:t>
                    </m:r>
                  </m:oMath>
                </a14:m>
                <a:endParaRPr lang="en-US" sz="2400">
                  <a:solidFill>
                    <a:srgbClr val="FF0000"/>
                  </a:solidFill>
                  <a:effectLst/>
                  <a:latin typeface="Arial" panose="020B0604020202020204" pitchFamily="34" charset="0"/>
                  <a:ea typeface="Arial" panose="020B0604020202020204" pitchFamily="34" charset="0"/>
                </a:endParaRPr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3"/>
              </p:nvPr>
            </p:nvSpPr>
            <p:spPr>
              <a:blipFill>
                <a:blip r:embed="rId2"/>
                <a:stretch>
                  <a:fillRect l="-774" t="-11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600" dirty="0"/>
              <a:t>3. Greedy Algorithm</a:t>
            </a:r>
          </a:p>
        </p:txBody>
      </p:sp>
      <p:sp>
        <p:nvSpPr>
          <p:cNvPr id="3" name="Content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2200" b="0" dirty="0"/>
              <a:t>Sorted </a:t>
            </a:r>
            <a:r>
              <a:rPr lang="en-US" sz="2200" b="0"/>
              <a:t>Cheapest Insertion</a:t>
            </a:r>
            <a:endParaRPr lang="en-US" sz="2200" b="0" dirty="0"/>
          </a:p>
          <a:p>
            <a:r>
              <a:rPr lang="en-US" sz="1800"/>
              <a:t>Background</a:t>
            </a:r>
          </a:p>
          <a:p>
            <a:r>
              <a:rPr lang="en-US" sz="1800"/>
              <a:t>Logic (3 Phases)</a:t>
            </a:r>
          </a:p>
          <a:p>
            <a:r>
              <a:rPr lang="en-US" sz="1800"/>
              <a:t>Pseudocode</a:t>
            </a:r>
          </a:p>
          <a:p>
            <a:r>
              <a:rPr lang="en-US" sz="1800"/>
              <a:t>Complexity Analysis</a:t>
            </a:r>
            <a:endParaRPr lang="en-US" sz="1800" b="0" dirty="0"/>
          </a:p>
          <a:p>
            <a:endParaRPr lang="en-US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600" dirty="0"/>
              <a:t>3.1 Background</a:t>
            </a:r>
          </a:p>
        </p:txBody>
      </p:sp>
      <p:sp>
        <p:nvSpPr>
          <p:cNvPr id="3" name="Content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2000" b="1" dirty="0"/>
              <a:t>Classic Greedy Heuristics — Limitation</a:t>
            </a:r>
          </a:p>
          <a:p>
            <a:pPr marL="0" indent="0">
              <a:buNone/>
            </a:pPr>
            <a:r>
              <a:rPr lang="en-US" sz="1800" b="0" dirty="0"/>
              <a:t>Nearest Neighbor constructs routes sequentially or greedily appends nodes to the end of a route.</a:t>
            </a:r>
          </a:p>
          <a:p>
            <a:pPr marL="0" indent="0">
              <a:buNone/>
            </a:pPr>
            <a:r>
              <a:rPr lang="en-US" sz="1800" b="0" dirty="0"/>
              <a:t>Problem: remaining nodes at end are often far apart → subsequent routes absorb massive travel times → extreme workload imbalance.</a:t>
            </a:r>
          </a:p>
          <a:p>
            <a:pPr marL="0" indent="0">
              <a:buNone/>
            </a:pPr>
            <a:endParaRPr lang="en-US" sz="1800" b="0" dirty="0"/>
          </a:p>
          <a:p>
            <a:pPr marL="0" indent="0">
              <a:buNone/>
            </a:pPr>
            <a:r>
              <a:rPr lang="en-US" sz="2000" b="1" dirty="0"/>
              <a:t>Sorted Cheapest Insertion — Two Core Modifications</a:t>
            </a:r>
          </a:p>
          <a:p>
            <a:pPr marL="0" indent="0">
              <a:buNone/>
            </a:pPr>
            <a:r>
              <a:rPr lang="en-US" sz="1800" b="1" dirty="0"/>
              <a:t>① Furthest-First Sort</a:t>
            </a:r>
          </a:p>
          <a:p>
            <a:pPr marL="457200" indent="-457200">
              <a:buNone/>
            </a:pPr>
            <a:r>
              <a:rPr lang="en-US" sz="1800" b="0" dirty="0"/>
              <a:t>   Prioritizes customers far from depot OR with long maintenance times.</a:t>
            </a:r>
          </a:p>
          <a:p>
            <a:pPr marL="457200" indent="-457200">
              <a:buNone/>
            </a:pPr>
            <a:r>
              <a:rPr lang="en-US" sz="1800" b="0" dirty="0"/>
              <a:t>   By routing "difficult" nodes FIRST, reserves flexible nearby nodes for later.</a:t>
            </a:r>
          </a:p>
          <a:p>
            <a:pPr marL="0" indent="0">
              <a:buNone/>
            </a:pPr>
            <a:endParaRPr lang="en-US" sz="1800" b="0" dirty="0"/>
          </a:p>
          <a:p>
            <a:pPr marL="0" indent="0">
              <a:buNone/>
            </a:pPr>
            <a:r>
              <a:rPr lang="en-US" sz="1800" b="1" dirty="0"/>
              <a:t>② Global Cheapest Insertion</a:t>
            </a:r>
          </a:p>
          <a:p>
            <a:pPr marL="457200" indent="-457200">
              <a:buNone/>
            </a:pPr>
            <a:r>
              <a:rPr lang="en-US" sz="1800" b="0" dirty="0"/>
              <a:t>   Instead of appending to the end, evaluates inserting the target customer at ANY feasible position within ANY route.</a:t>
            </a:r>
          </a:p>
          <a:p>
            <a:pPr marL="457200" indent="-457200">
              <a:buNone/>
            </a:pPr>
            <a:r>
              <a:rPr lang="en-US" sz="1800" b="0" dirty="0"/>
              <a:t>   Naturally balances workloads — inserting into a shorter route is computationally favored.</a:t>
            </a:r>
          </a:p>
          <a:p>
            <a:endParaRPr lang="en-US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600" dirty="0"/>
              <a:t>3.2 Logic — Phase 1: Initialization &amp; Phase 2: Sorting</a:t>
            </a:r>
          </a:p>
        </p:txBody>
      </p:sp>
      <p:sp>
        <p:nvSpPr>
          <p:cNvPr id="3" name="Content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1400" b="1" dirty="0"/>
              <a:t>Phase 1: Initialization</a:t>
            </a:r>
          </a:p>
          <a:p>
            <a:pPr marL="0" indent="0">
              <a:buNone/>
            </a:pPr>
            <a:r>
              <a:rPr lang="en-US" sz="1400" b="0" dirty="0"/>
              <a:t>Initialize K empty routes:</a:t>
            </a:r>
          </a:p>
          <a:p>
            <a:pPr marL="457200" indent="-457200">
              <a:buNone/>
            </a:pPr>
            <a:r>
              <a:rPr lang="en-US" sz="1400" b="0" dirty="0">
                <a:latin typeface="Courier New"/>
              </a:rPr>
              <a:t>   R_k = ⟨0, 0⟩   with accumulated workload = 0   for all k ∈ {1, …, K}</a:t>
            </a:r>
          </a:p>
          <a:p>
            <a:pPr marL="0" indent="0">
              <a:buNone/>
            </a:pPr>
            <a:endParaRPr lang="en-US" sz="1400" b="0" dirty="0">
              <a:latin typeface="Courier New"/>
            </a:endParaRPr>
          </a:p>
          <a:p>
            <a:pPr marL="0" indent="0">
              <a:buNone/>
            </a:pPr>
            <a:r>
              <a:rPr lang="en-US" sz="1400" b="1" dirty="0"/>
              <a:t>Phase 2: Priority Sorting</a:t>
            </a:r>
          </a:p>
          <a:p>
            <a:pPr marL="0" indent="0">
              <a:buNone/>
            </a:pPr>
            <a:r>
              <a:rPr lang="en-US" sz="1400" b="0" dirty="0"/>
              <a:t>Compute priority metric P(u) for each customer u:</a:t>
            </a:r>
          </a:p>
          <a:p>
            <a:pPr marL="0" indent="0">
              <a:buNone/>
            </a:pPr>
            <a:endParaRPr lang="en-US" sz="1400" b="0" dirty="0"/>
          </a:p>
          <a:p>
            <a:pPr marL="914400" indent="-457200">
              <a:buNone/>
            </a:pPr>
            <a:r>
              <a:rPr lang="en-US" sz="1400" b="0" dirty="0">
                <a:solidFill>
                  <a:srgbClr val="C00000"/>
                </a:solidFill>
              </a:rPr>
              <a:t>         P(u)  =  t(0, u)  +  d(u)</a:t>
            </a:r>
          </a:p>
          <a:p>
            <a:pPr marL="0" indent="0">
              <a:buNone/>
            </a:pPr>
            <a:endParaRPr lang="en-US" sz="1400" b="0" dirty="0">
              <a:solidFill>
                <a:srgbClr val="C00000"/>
              </a:solidFill>
            </a:endParaRPr>
          </a:p>
          <a:p>
            <a:pPr marL="0" indent="0">
              <a:buNone/>
            </a:pPr>
            <a:r>
              <a:rPr lang="en-US" sz="1400" b="0" dirty="0"/>
              <a:t>Sort the customer set in DESCENDING order of P(u).</a:t>
            </a:r>
          </a:p>
          <a:p>
            <a:pPr marL="0" indent="0">
              <a:buNone/>
            </a:pPr>
            <a:endParaRPr lang="en-US" sz="1400" b="0" dirty="0"/>
          </a:p>
          <a:p>
            <a:pPr marL="0" indent="0">
              <a:buNone/>
            </a:pPr>
            <a:r>
              <a:rPr lang="en-US" sz="1400" b="1" dirty="0"/>
              <a:t>Rationale:</a:t>
            </a:r>
          </a:p>
          <a:p>
            <a:pPr marL="457200" indent="-457200">
              <a:buNone/>
            </a:pPr>
            <a:r>
              <a:rPr lang="en-US" sz="1400" b="0" dirty="0"/>
              <a:t>Customers that are farthest from depot AND/OR require longest service time are inserted FIRST.</a:t>
            </a:r>
          </a:p>
          <a:p>
            <a:pPr marL="457200" indent="-457200">
              <a:buNone/>
            </a:pPr>
            <a:r>
              <a:rPr lang="en-US" sz="1400" b="0" dirty="0"/>
              <a:t>Forces the algorithm to commit to hard decisions early, when all routes still have flexibility.</a:t>
            </a:r>
          </a:p>
          <a:p>
            <a:pPr marL="457200" indent="-457200">
              <a:buNone/>
            </a:pPr>
            <a:r>
              <a:rPr lang="en-US" sz="1400" b="0" dirty="0"/>
              <a:t>Avoids the "stranded node" problem of classic greedy methods.</a:t>
            </a:r>
          </a:p>
          <a:p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600" dirty="0"/>
              <a:t>3.3 Logic — Phase 3: Incremental Cheapest Insertion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"/>
              <p:cNvSpPr>
                <a:spLocks noGrp="1"/>
              </p:cNvSpPr>
              <p:nvPr>
                <p:ph sz="quarter" idx="13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sz="1400" b="1" dirty="0"/>
                  <a:t>For each customer u in the sorted list:</a:t>
                </a:r>
              </a:p>
              <a:p>
                <a:pPr marL="457200" indent="-457200">
                  <a:buNone/>
                </a:pPr>
                <a:r>
                  <a:rPr lang="en-US" sz="1400" b="0" dirty="0"/>
                  <a:t>Search for optimal route k* and insertion index i* that minimizes the resulting workload.</a:t>
                </a:r>
              </a:p>
              <a:p>
                <a:pPr marL="0" indent="0">
                  <a:buNone/>
                </a:pPr>
                <a:endParaRPr lang="en-US" sz="1400" b="0" dirty="0"/>
              </a:p>
              <a:p>
                <a:pPr marL="0" indent="0">
                  <a:buNone/>
                </a:pPr>
                <a:r>
                  <a:rPr lang="en-US" sz="1400" b="1" dirty="0"/>
                  <a:t>Inserting u between consecutive nodes prev = r[i-1] and nxt = r[i]:</a:t>
                </a:r>
              </a:p>
              <a:p>
                <a:pPr marL="0" indent="0">
                  <a:buNone/>
                </a:pPr>
                <a:endParaRPr lang="en-US" sz="1400" b="1" dirty="0"/>
              </a:p>
              <a:p>
                <a:pPr marL="457200" indent="-457200">
                  <a:buNone/>
                </a:pPr>
                <a:r>
                  <a:rPr lang="en-US" sz="1400" b="0" dirty="0">
                    <a:solidFill>
                      <a:srgbClr val="C00000"/>
                    </a:solidFill>
                  </a:rPr>
                  <a:t>   ΔCost  =  t(prev, u)  +  d(u)  +  t(u, nxt)  −  t(prev, nxt)</a:t>
                </a:r>
              </a:p>
              <a:p>
                <a:pPr marL="0" indent="0">
                  <a:buNone/>
                </a:pPr>
                <a:endParaRPr lang="en-US" sz="1400" b="0" dirty="0">
                  <a:solidFill>
                    <a:srgbClr val="C00000"/>
                  </a:solidFill>
                </a:endParaRPr>
              </a:p>
              <a:p>
                <a:pPr>
                  <a:buNone/>
                </a:pPr>
                <a:r>
                  <a:rPr lang="en-US" sz="1400" b="0" dirty="0">
                    <a:solidFill>
                      <a:srgbClr val="C00000"/>
                    </a:solidFill>
                  </a:rPr>
                  <a:t>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 smtClean="0">
                            <a:solidFill>
                              <a:srgbClr val="EE0000"/>
                            </a:solidFill>
                            <a:effectLst/>
                            <a:latin typeface="Cambria Math" panose="02040503050406030204" pitchFamily="18" charset="0"/>
                            <a:ea typeface="Courier New" panose="02070309020205020404" pitchFamily="49" charset="0"/>
                            <a:cs typeface="Courier New" panose="02070309020205020404" pitchFamily="49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400">
                            <a:solidFill>
                              <a:srgbClr val="EE0000"/>
                            </a:solidFill>
                            <a:effectLst/>
                            <a:latin typeface="Cambria Math" panose="02040503050406030204" pitchFamily="18" charset="0"/>
                            <a:ea typeface="Courier New" panose="02070309020205020404" pitchFamily="49" charset="0"/>
                            <a:cs typeface="Courier New" panose="02070309020205020404" pitchFamily="49" charset="0"/>
                          </a:rPr>
                          <m:t>W</m:t>
                        </m:r>
                      </m:e>
                      <m:sub>
                        <m:r>
                          <m:rPr>
                            <m:nor/>
                          </m:rPr>
                          <a:rPr lang="en-US" sz="1400">
                            <a:solidFill>
                              <a:srgbClr val="EE0000"/>
                            </a:solidFill>
                            <a:effectLst/>
                            <a:latin typeface="Cambria Math" panose="02040503050406030204" pitchFamily="18" charset="0"/>
                            <a:ea typeface="Courier New" panose="02070309020205020404" pitchFamily="49" charset="0"/>
                            <a:cs typeface="Courier New" panose="02070309020205020404" pitchFamily="49" charset="0"/>
                          </a:rPr>
                          <m:t>new</m:t>
                        </m:r>
                      </m:sub>
                    </m:sSub>
                    <m:r>
                      <a:rPr lang="en-US" sz="1400">
                        <a:solidFill>
                          <a:srgbClr val="EE0000"/>
                        </a:solidFill>
                        <a:effectLst/>
                        <a:latin typeface="Cambria Math" panose="02040503050406030204" pitchFamily="18" charset="0"/>
                        <a:ea typeface="Courier New" panose="02070309020205020404" pitchFamily="49" charset="0"/>
                        <a:cs typeface="Courier New" panose="02070309020205020404" pitchFamily="49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1400">
                        <a:solidFill>
                          <a:srgbClr val="EE0000"/>
                        </a:solidFill>
                        <a:effectLst/>
                        <a:latin typeface="Cambria Math" panose="02040503050406030204" pitchFamily="18" charset="0"/>
                        <a:ea typeface="Courier New" panose="02070309020205020404" pitchFamily="49" charset="0"/>
                        <a:cs typeface="Courier New" panose="02070309020205020404" pitchFamily="49" charset="0"/>
                      </a:rPr>
                      <m:t>W</m:t>
                    </m:r>
                    <m:d>
                      <m:dPr>
                        <m:ctrlPr>
                          <a:rPr lang="en-US" sz="1400" i="1">
                            <a:solidFill>
                              <a:srgbClr val="EE0000"/>
                            </a:solidFill>
                            <a:effectLst/>
                            <a:latin typeface="Cambria Math" panose="02040503050406030204" pitchFamily="18" charset="0"/>
                            <a:ea typeface="Courier New" panose="02070309020205020404" pitchFamily="49" charset="0"/>
                            <a:cs typeface="Courier New" panose="02070309020205020404" pitchFamily="49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400" i="1">
                                <a:solidFill>
                                  <a:srgbClr val="EE0000"/>
                                </a:solidFill>
                                <a:effectLst/>
                                <a:latin typeface="Cambria Math" panose="02040503050406030204" pitchFamily="18" charset="0"/>
                                <a:ea typeface="Courier New" panose="02070309020205020404" pitchFamily="49" charset="0"/>
                                <a:cs typeface="Courier New" panose="02070309020205020404" pitchFamily="49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1400">
                                <a:solidFill>
                                  <a:srgbClr val="EE0000"/>
                                </a:solidFill>
                                <a:effectLst/>
                                <a:latin typeface="Cambria Math" panose="02040503050406030204" pitchFamily="18" charset="0"/>
                                <a:ea typeface="Courier New" panose="02070309020205020404" pitchFamily="49" charset="0"/>
                                <a:cs typeface="Courier New" panose="02070309020205020404" pitchFamily="49" charset="0"/>
                              </a:rPr>
                              <m:t>R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1400">
                                <a:solidFill>
                                  <a:srgbClr val="EE0000"/>
                                </a:solidFill>
                                <a:effectLst/>
                                <a:latin typeface="Cambria Math" panose="02040503050406030204" pitchFamily="18" charset="0"/>
                                <a:ea typeface="Courier New" panose="02070309020205020404" pitchFamily="49" charset="0"/>
                                <a:cs typeface="Courier New" panose="02070309020205020404" pitchFamily="49" charset="0"/>
                              </a:rPr>
                              <m:t>k</m:t>
                            </m:r>
                          </m:sub>
                        </m:sSub>
                      </m:e>
                    </m:d>
                    <m:r>
                      <a:rPr lang="en-US" sz="1400">
                        <a:solidFill>
                          <a:srgbClr val="EE0000"/>
                        </a:solidFill>
                        <a:effectLst/>
                        <a:latin typeface="Cambria Math" panose="02040503050406030204" pitchFamily="18" charset="0"/>
                        <a:ea typeface="Courier New" panose="02070309020205020404" pitchFamily="49" charset="0"/>
                        <a:cs typeface="Courier New" panose="02070309020205020404" pitchFamily="49" charset="0"/>
                      </a:rPr>
                      <m:t>+</m:t>
                    </m:r>
                    <m:r>
                      <m:rPr>
                        <m:sty m:val="p"/>
                      </m:rPr>
                      <a:rPr lang="en-US" sz="1400">
                        <a:solidFill>
                          <a:srgbClr val="EE0000"/>
                        </a:solidFill>
                        <a:effectLst/>
                        <a:latin typeface="Cambria Math" panose="02040503050406030204" pitchFamily="18" charset="0"/>
                        <a:ea typeface="Courier New" panose="02070309020205020404" pitchFamily="49" charset="0"/>
                        <a:cs typeface="Courier New" panose="02070309020205020404" pitchFamily="49" charset="0"/>
                      </a:rPr>
                      <m:t>Δ</m:t>
                    </m:r>
                    <m:r>
                      <m:rPr>
                        <m:sty m:val="p"/>
                      </m:rPr>
                      <a:rPr lang="en-US" sz="1400" i="1" smtClean="0">
                        <a:solidFill>
                          <a:srgbClr val="EE0000"/>
                        </a:solidFill>
                        <a:effectLst/>
                        <a:latin typeface="Cambria Math" panose="02040503050406030204" pitchFamily="18" charset="0"/>
                        <a:ea typeface="Courier New" panose="02070309020205020404" pitchFamily="49" charset="0"/>
                        <a:cs typeface="Courier New" panose="02070309020205020404" pitchFamily="49" charset="0"/>
                      </a:rPr>
                      <m:t>c</m:t>
                    </m:r>
                    <m:r>
                      <m:rPr>
                        <m:nor/>
                      </m:rPr>
                      <a:rPr lang="en-US" sz="1400">
                        <a:solidFill>
                          <a:srgbClr val="EE0000"/>
                        </a:solidFill>
                        <a:effectLst/>
                        <a:latin typeface="Cambria Math" panose="02040503050406030204" pitchFamily="18" charset="0"/>
                        <a:ea typeface="Courier New" panose="02070309020205020404" pitchFamily="49" charset="0"/>
                        <a:cs typeface="Courier New" panose="02070309020205020404" pitchFamily="49" charset="0"/>
                      </a:rPr>
                      <m:t>ost</m:t>
                    </m:r>
                  </m:oMath>
                </a14:m>
                <a:endParaRPr lang="en-US" sz="1800">
                  <a:latin typeface="Arial" panose="020B0604020202020204" pitchFamily="34" charset="0"/>
                </a:endParaRPr>
              </a:p>
              <a:p>
                <a:pPr>
                  <a:buNone/>
                </a:pPr>
                <a:endParaRPr lang="en-US" sz="1400" b="0" dirty="0">
                  <a:solidFill>
                    <a:srgbClr val="C00000"/>
                  </a:solidFill>
                </a:endParaRPr>
              </a:p>
              <a:p>
                <a:pPr marL="0" indent="0">
                  <a:buNone/>
                </a:pPr>
                <a:r>
                  <a:rPr lang="en-US" sz="1400" b="0" dirty="0"/>
                  <a:t>• ΔCost evaluation: O(1) per (route, position) pair</a:t>
                </a:r>
              </a:p>
              <a:p>
                <a:pPr marL="0" indent="0">
                  <a:buNone/>
                </a:pPr>
                <a:r>
                  <a:rPr lang="en-US" sz="1400" b="0" dirty="0"/>
                  <a:t>• ALL positions across ALL routes evaluated → select globally optimal (k*, i*)</a:t>
                </a:r>
              </a:p>
              <a:p>
                <a:pPr marL="0" indent="0">
                  <a:buNone/>
                </a:pPr>
                <a:r>
                  <a:rPr lang="en-US" sz="1400" b="0" dirty="0"/>
                  <a:t>• Insert u into routes[k*] at index i* → update workloads[k*] = W_new</a:t>
                </a:r>
              </a:p>
              <a:p>
                <a:pPr marL="0" indent="0">
                  <a:buNone/>
                </a:pPr>
                <a:endParaRPr lang="en-US" sz="1400" b="0" dirty="0"/>
              </a:p>
              <a:p>
                <a:pPr marL="0" indent="0">
                  <a:buNone/>
                </a:pPr>
                <a:r>
                  <a:rPr lang="en-US" sz="1400" b="1" dirty="0">
                    <a:solidFill>
                      <a:srgbClr val="C00000"/>
                    </a:solidFill>
                  </a:rPr>
                  <a:t>Key insight:</a:t>
                </a:r>
              </a:p>
              <a:p>
                <a:pPr marL="457200" indent="-457200">
                  <a:buNone/>
                </a:pPr>
                <a:r>
                  <a:rPr lang="en-US" sz="1400" b="0" dirty="0"/>
                  <a:t>Global search across routes naturally balances workloads WITHOUT any explicit load-balancing step.</a:t>
                </a:r>
              </a:p>
              <a:p>
                <a:endParaRPr lang="en-US" sz="1400" dirty="0"/>
              </a:p>
            </p:txBody>
          </p:sp>
        </mc:Choice>
        <mc:Fallback>
          <p:sp>
            <p:nvSpPr>
              <p:cNvPr id="3" name="Content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3"/>
              </p:nvPr>
            </p:nvSpPr>
            <p:spPr>
              <a:blipFill>
                <a:blip r:embed="rId2"/>
                <a:stretch>
                  <a:fillRect l="-211" t="-6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600" dirty="0"/>
              <a:t>3.4 Pseudocode — SolveSRM (Part 1 of 2)</a:t>
            </a:r>
          </a:p>
        </p:txBody>
      </p:sp>
      <p:sp>
        <p:nvSpPr>
          <p:cNvPr id="3" name="Content"/>
          <p:cNvSpPr>
            <a:spLocks noGrp="1"/>
          </p:cNvSpPr>
          <p:nvPr>
            <p:ph sz="quarter" idx="13"/>
          </p:nvPr>
        </p:nvSpPr>
        <p:spPr>
          <a:xfrm>
            <a:off x="235077" y="806743"/>
            <a:ext cx="8674100" cy="5303393"/>
          </a:xfrm>
        </p:spPr>
        <p:txBody>
          <a:bodyPr/>
          <a:lstStyle/>
          <a:p>
            <a:pPr marL="0" indent="0"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200" b="1" dirty="0">
                <a:latin typeface="Courier New"/>
              </a:rPr>
              <a:t>procedure SOLVESRM(N, K, d, t)</a:t>
            </a:r>
          </a:p>
          <a:p>
            <a:pPr marL="0" indent="0"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200" b="0" dirty="0">
                <a:latin typeface="Courier New"/>
              </a:rPr>
              <a:t>  routes[1..K] ← array of ⟨0, 0⟩</a:t>
            </a:r>
          </a:p>
          <a:p>
            <a:pPr marL="0" indent="0"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200" b="0" dirty="0">
                <a:latin typeface="Courier New"/>
              </a:rPr>
              <a:t>  workloads[1..K] ← 0</a:t>
            </a:r>
          </a:p>
          <a:p>
            <a:pPr marL="0" indent="0"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200" b="0" dirty="0">
                <a:latin typeface="Courier New"/>
              </a:rPr>
              <a:t>  customers ← [1, 2, …, N]</a:t>
            </a:r>
          </a:p>
          <a:p>
            <a:pPr marL="0" indent="0"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200" b="0" dirty="0">
                <a:latin typeface="Courier New"/>
              </a:rPr>
              <a:t>  Sort customers ↓ by ( t(0,u) + d(u) )</a:t>
            </a:r>
          </a:p>
          <a:p>
            <a:pPr marL="0" indent="0">
              <a:lnSpc>
                <a:spcPct val="100000"/>
              </a:lnSpc>
              <a:spcBef>
                <a:spcPts val="300"/>
              </a:spcBef>
              <a:buNone/>
            </a:pPr>
            <a:endParaRPr lang="en-US" sz="1200" b="0" dirty="0">
              <a:latin typeface="Courier New"/>
            </a:endParaRPr>
          </a:p>
          <a:p>
            <a:pPr marL="0" indent="0"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200" b="0" dirty="0">
                <a:latin typeface="Courier New"/>
              </a:rPr>
              <a:t>  for each u in customers do</a:t>
            </a:r>
          </a:p>
          <a:p>
            <a:pPr marL="457200" indent="-457200"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200" b="0" dirty="0">
                <a:latin typeface="Courier New"/>
              </a:rPr>
              <a:t>    best_k ← −1 ;  best_pos ← −1 ;  min_new_wl ← ∞</a:t>
            </a:r>
          </a:p>
          <a:p>
            <a:pPr marL="457200" indent="-457200"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200" b="0" dirty="0">
                <a:latin typeface="Courier New"/>
              </a:rPr>
              <a:t>    for k = 1 to K do</a:t>
            </a:r>
          </a:p>
          <a:p>
            <a:pPr marL="914400" indent="-457200"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200" b="0" dirty="0">
                <a:latin typeface="Courier New"/>
              </a:rPr>
              <a:t>      R ← routes[k]</a:t>
            </a:r>
          </a:p>
          <a:p>
            <a:pPr marL="914400" indent="-457200"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200" b="0" dirty="0">
                <a:latin typeface="Courier New"/>
              </a:rPr>
              <a:t>      for i = 1 to len(R)−1 do</a:t>
            </a:r>
          </a:p>
          <a:p>
            <a:pPr marL="1371600" indent="-457200"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200" b="0" dirty="0">
                <a:latin typeface="Courier New"/>
              </a:rPr>
              <a:t>        prev ← R[i−1] ;  nxt ← R[i]</a:t>
            </a:r>
          </a:p>
          <a:p>
            <a:pPr marL="1371600" indent="-457200"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200" b="0" dirty="0">
                <a:latin typeface="Courier New"/>
              </a:rPr>
              <a:t>        Δ ← −t(prev,nxt) + t(prev,u) + d(u) + t(u,nxt)</a:t>
            </a:r>
          </a:p>
          <a:p>
            <a:pPr marL="1371600" indent="-457200"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200" b="0" dirty="0">
                <a:latin typeface="Courier New"/>
              </a:rPr>
              <a:t>        new_wl ← workloads[k] + Δ</a:t>
            </a:r>
          </a:p>
          <a:p>
            <a:pPr marL="1371600" indent="-457200"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200" b="0" dirty="0">
                <a:latin typeface="Courier New"/>
              </a:rPr>
              <a:t>        if new_wl &lt; min_new_wl then</a:t>
            </a:r>
          </a:p>
          <a:p>
            <a:pPr marL="1828800" indent="-457200"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200" b="0" dirty="0">
                <a:latin typeface="Courier New"/>
              </a:rPr>
              <a:t>          min_new_wl ← new_wl ; best_k ← k ; best_pos ← i</a:t>
            </a:r>
          </a:p>
          <a:p>
            <a:pPr marL="1371600" indent="-457200"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200" b="0" dirty="0">
                <a:latin typeface="Courier New"/>
              </a:rPr>
              <a:t>        end if</a:t>
            </a:r>
          </a:p>
          <a:p>
            <a:pPr marL="914400" indent="-457200"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200" b="0" dirty="0">
                <a:latin typeface="Courier New"/>
              </a:rPr>
              <a:t>      end for</a:t>
            </a:r>
          </a:p>
          <a:p>
            <a:pPr marL="457200" indent="-457200"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200" b="0" dirty="0">
                <a:latin typeface="Courier New"/>
              </a:rPr>
              <a:t>    end for</a:t>
            </a:r>
          </a:p>
          <a:p>
            <a:pPr marL="457200" indent="-457200"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200" b="0" dirty="0">
                <a:latin typeface="Courier New"/>
              </a:rPr>
              <a:t>    Insert u into routes[best_k] at index best_pos</a:t>
            </a:r>
          </a:p>
          <a:p>
            <a:pPr marL="457200" indent="-457200"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200" b="0" dirty="0">
                <a:latin typeface="Courier New"/>
              </a:rPr>
              <a:t>    workloads[best_k] ← min_new_wl</a:t>
            </a:r>
          </a:p>
          <a:p>
            <a:pPr marL="0" indent="0"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200" b="0" dirty="0">
                <a:latin typeface="Courier New"/>
              </a:rPr>
              <a:t>  end for</a:t>
            </a:r>
          </a:p>
          <a:p>
            <a:pPr marL="0" indent="0"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200" b="0" dirty="0">
                <a:latin typeface="Courier New"/>
              </a:rPr>
              <a:t>  return routes</a:t>
            </a:r>
          </a:p>
          <a:p>
            <a:pPr marL="0" indent="0"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200" b="1" dirty="0">
                <a:latin typeface="Courier New"/>
              </a:rPr>
              <a:t>end procedure</a:t>
            </a:r>
          </a:p>
          <a:p>
            <a:pPr>
              <a:lnSpc>
                <a:spcPct val="100000"/>
              </a:lnSpc>
              <a:spcBef>
                <a:spcPts val="300"/>
              </a:spcBef>
            </a:pP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600" dirty="0"/>
              <a:t>3.5 Complexity &amp; Performance Analysis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"/>
              <p:cNvSpPr>
                <a:spLocks noGrp="1"/>
              </p:cNvSpPr>
              <p:nvPr>
                <p:ph sz="quarter" idx="13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sz="1400" b="1" dirty="0"/>
                  <a:t>Time Complexity</a:t>
                </a:r>
              </a:p>
              <a:p>
                <a:pPr marL="457200" indent="-457200">
                  <a:buNone/>
                </a:pPr>
                <a:r>
                  <a:rPr lang="en-US" sz="1400" b="0" dirty="0"/>
                  <a:t>Sorting:           O(N log N)</a:t>
                </a:r>
              </a:p>
              <a:p>
                <a:pPr marL="457200" indent="-457200">
                  <a:buNone/>
                </a:pPr>
                <a:r>
                  <a:rPr lang="en-US" sz="1400" b="0" dirty="0"/>
                  <a:t>Insertion loop:    For customer i, evaluate O(i + K) positions in O(1) each:</a:t>
                </a:r>
              </a:p>
              <a:p>
                <a:pPr marL="0" indent="0">
                  <a:buNone/>
                </a:pPr>
                <a:endParaRPr lang="en-US" sz="1400" b="0" dirty="0"/>
              </a:p>
              <a:p>
                <a:pPr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ctrlPr>
                            <a:rPr lang="en-US" sz="1400" i="1" smtClean="0">
                              <a:solidFill>
                                <a:srgbClr val="EE0000"/>
                              </a:solidFill>
                              <a:effectLst/>
                              <a:latin typeface="Cambria Math" panose="02040503050406030204" pitchFamily="18" charset="0"/>
                              <a:ea typeface="Courier New" panose="02070309020205020404" pitchFamily="49" charset="0"/>
                              <a:cs typeface="Courier New" panose="02070309020205020404" pitchFamily="49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</m:rPr>
                            <a:rPr lang="en-US" sz="1400">
                              <a:solidFill>
                                <a:srgbClr val="EE0000"/>
                              </a:solidFill>
                              <a:effectLst/>
                              <a:latin typeface="Cambria Math" panose="02040503050406030204" pitchFamily="18" charset="0"/>
                              <a:ea typeface="Courier New" panose="02070309020205020404" pitchFamily="49" charset="0"/>
                              <a:cs typeface="Courier New" panose="02070309020205020404" pitchFamily="49" charset="0"/>
                            </a:rPr>
                            <m:t>i</m:t>
                          </m:r>
                          <m:r>
                            <a:rPr lang="en-US" sz="1400">
                              <a:solidFill>
                                <a:srgbClr val="EE0000"/>
                              </a:solidFill>
                              <a:effectLst/>
                              <a:latin typeface="Cambria Math" panose="02040503050406030204" pitchFamily="18" charset="0"/>
                              <a:ea typeface="Courier New" panose="02070309020205020404" pitchFamily="49" charset="0"/>
                              <a:cs typeface="Courier New" panose="02070309020205020404" pitchFamily="49" charset="0"/>
                            </a:rPr>
                            <m:t>=1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sz="1400">
                              <a:solidFill>
                                <a:srgbClr val="EE0000"/>
                              </a:solidFill>
                              <a:effectLst/>
                              <a:latin typeface="Cambria Math" panose="02040503050406030204" pitchFamily="18" charset="0"/>
                              <a:ea typeface="Courier New" panose="02070309020205020404" pitchFamily="49" charset="0"/>
                              <a:cs typeface="Courier New" panose="02070309020205020404" pitchFamily="49" charset="0"/>
                            </a:rPr>
                            <m:t>N</m:t>
                          </m:r>
                        </m:sup>
                        <m:e>
                          <m:r>
                            <m:rPr>
                              <m:sty m:val="p"/>
                            </m:rPr>
                            <a:rPr lang="en-US" sz="1400">
                              <a:solidFill>
                                <a:srgbClr val="EE0000"/>
                              </a:solidFill>
                              <a:effectLst/>
                              <a:latin typeface="Cambria Math" panose="02040503050406030204" pitchFamily="18" charset="0"/>
                              <a:ea typeface="Courier New" panose="02070309020205020404" pitchFamily="49" charset="0"/>
                              <a:cs typeface="Courier New" panose="02070309020205020404" pitchFamily="49" charset="0"/>
                            </a:rPr>
                            <m:t>O</m:t>
                          </m:r>
                          <m:d>
                            <m:dPr>
                              <m:ctrlPr>
                                <a:rPr lang="en-US" sz="1400" i="1">
                                  <a:solidFill>
                                    <a:srgbClr val="EE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ourier New" panose="02070309020205020404" pitchFamily="49" charset="0"/>
                                  <a:cs typeface="Courier New" panose="02070309020205020404" pitchFamily="49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en-US" sz="1400">
                                  <a:solidFill>
                                    <a:srgbClr val="EE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ourier New" panose="02070309020205020404" pitchFamily="49" charset="0"/>
                                  <a:cs typeface="Courier New" panose="02070309020205020404" pitchFamily="49" charset="0"/>
                                </a:rPr>
                                <m:t>i</m:t>
                              </m:r>
                              <m:r>
                                <a:rPr lang="en-US" sz="1400">
                                  <a:solidFill>
                                    <a:srgbClr val="EE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ourier New" panose="02070309020205020404" pitchFamily="49" charset="0"/>
                                  <a:cs typeface="Courier New" panose="02070309020205020404" pitchFamily="49" charset="0"/>
                                </a:rPr>
                                <m:t>+</m:t>
                              </m:r>
                              <m:r>
                                <m:rPr>
                                  <m:sty m:val="p"/>
                                </m:rPr>
                                <a:rPr lang="en-US" sz="1400">
                                  <a:solidFill>
                                    <a:srgbClr val="EE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ourier New" panose="02070309020205020404" pitchFamily="49" charset="0"/>
                                  <a:cs typeface="Courier New" panose="02070309020205020404" pitchFamily="49" charset="0"/>
                                </a:rPr>
                                <m:t>K</m:t>
                              </m:r>
                            </m:e>
                          </m:d>
                        </m:e>
                      </m:nary>
                      <m:r>
                        <a:rPr lang="en-US" sz="1400">
                          <a:solidFill>
                            <a:srgbClr val="EE0000"/>
                          </a:solidFill>
                          <a:effectLst/>
                          <a:latin typeface="Cambria Math" panose="02040503050406030204" pitchFamily="18" charset="0"/>
                          <a:ea typeface="Courier New" panose="02070309020205020404" pitchFamily="49" charset="0"/>
                          <a:cs typeface="Courier New" panose="02070309020205020404" pitchFamily="49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1400">
                          <a:solidFill>
                            <a:srgbClr val="EE0000"/>
                          </a:solidFill>
                          <a:effectLst/>
                          <a:latin typeface="Cambria Math" panose="02040503050406030204" pitchFamily="18" charset="0"/>
                          <a:ea typeface="Courier New" panose="02070309020205020404" pitchFamily="49" charset="0"/>
                          <a:cs typeface="Courier New" panose="02070309020205020404" pitchFamily="49" charset="0"/>
                        </a:rPr>
                        <m:t>O</m:t>
                      </m:r>
                      <m:d>
                        <m:dPr>
                          <m:ctrlPr>
                            <a:rPr lang="en-US" sz="1400" i="1">
                              <a:solidFill>
                                <a:srgbClr val="EE0000"/>
                              </a:solidFill>
                              <a:effectLst/>
                              <a:latin typeface="Cambria Math" panose="02040503050406030204" pitchFamily="18" charset="0"/>
                              <a:ea typeface="Courier New" panose="02070309020205020404" pitchFamily="49" charset="0"/>
                              <a:cs typeface="Courier New" panose="02070309020205020404" pitchFamily="49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1400" i="1">
                                  <a:solidFill>
                                    <a:srgbClr val="EE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ourier New" panose="02070309020205020404" pitchFamily="49" charset="0"/>
                                  <a:cs typeface="Courier New" panose="02070309020205020404" pitchFamily="49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sz="1400">
                                  <a:solidFill>
                                    <a:srgbClr val="EE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ourier New" panose="02070309020205020404" pitchFamily="49" charset="0"/>
                                  <a:cs typeface="Courier New" panose="02070309020205020404" pitchFamily="49" charset="0"/>
                                </a:rPr>
                                <m:t>N</m:t>
                              </m:r>
                            </m:e>
                            <m:sup>
                              <m:r>
                                <a:rPr lang="en-US" sz="1400">
                                  <a:solidFill>
                                    <a:srgbClr val="EE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ourier New" panose="02070309020205020404" pitchFamily="49" charset="0"/>
                                  <a:cs typeface="Courier New" panose="02070309020205020404" pitchFamily="49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1400">
                              <a:solidFill>
                                <a:srgbClr val="EE0000"/>
                              </a:solidFill>
                              <a:effectLst/>
                              <a:latin typeface="Cambria Math" panose="02040503050406030204" pitchFamily="18" charset="0"/>
                              <a:ea typeface="Courier New" panose="02070309020205020404" pitchFamily="49" charset="0"/>
                              <a:cs typeface="Courier New" panose="02070309020205020404" pitchFamily="49" charset="0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lang="en-US" sz="1400">
                              <a:solidFill>
                                <a:srgbClr val="EE0000"/>
                              </a:solidFill>
                              <a:effectLst/>
                              <a:latin typeface="Cambria Math" panose="02040503050406030204" pitchFamily="18" charset="0"/>
                              <a:ea typeface="Courier New" panose="02070309020205020404" pitchFamily="49" charset="0"/>
                              <a:cs typeface="Courier New" panose="02070309020205020404" pitchFamily="49" charset="0"/>
                            </a:rPr>
                            <m:t>NK</m:t>
                          </m:r>
                        </m:e>
                      </m:d>
                    </m:oMath>
                  </m:oMathPara>
                </a14:m>
                <a:endParaRPr lang="en-US" sz="1400" b="0" dirty="0">
                  <a:solidFill>
                    <a:srgbClr val="C00000"/>
                  </a:solidFill>
                </a:endParaRPr>
              </a:p>
              <a:p>
                <a:pPr marL="914400" indent="-457200">
                  <a:buNone/>
                </a:pPr>
                <a:r>
                  <a:rPr lang="en-US" sz="1400" b="0" dirty="0"/>
                  <a:t>   For N=1000, K=100:  ≈ 10⁶ + 10⁵ ≈ 1.1 × 10⁶ operations  →  &lt; 0.15 seconds (Python)</a:t>
                </a:r>
              </a:p>
              <a:p>
                <a:pPr marL="0" indent="0">
                  <a:buNone/>
                </a:pPr>
                <a:endParaRPr lang="en-US" sz="1400" b="0" dirty="0"/>
              </a:p>
              <a:p>
                <a:pPr marL="0" indent="0">
                  <a:buNone/>
                </a:pPr>
                <a:r>
                  <a:rPr lang="en-US" sz="1400" b="1" dirty="0"/>
                  <a:t>Space Complexity</a:t>
                </a:r>
              </a:p>
              <a:p>
                <a:pPr marL="457200" indent="-457200">
                  <a:buNone/>
                </a:pPr>
                <a:r>
                  <a:rPr lang="en-US" sz="1400" b="0" dirty="0"/>
                  <a:t>Travel time matrix: O(N²)  [dominant]        Route structures: O(N + K)</a:t>
                </a:r>
              </a:p>
              <a:p>
                <a:pPr marL="457200" indent="-457200">
                  <a:buNone/>
                </a:pPr>
                <a:r>
                  <a:rPr lang="en-US" sz="1400" b="0" dirty="0"/>
                  <a:t>Total: O(N²)  — fits comfortably within modern memory limits</a:t>
                </a:r>
              </a:p>
              <a:p>
                <a:pPr marL="0" indent="0">
                  <a:buNone/>
                </a:pPr>
                <a:endParaRPr lang="en-US" sz="1400" b="0" dirty="0"/>
              </a:p>
              <a:p>
                <a:pPr marL="0" indent="0">
                  <a:buNone/>
                </a:pPr>
                <a:r>
                  <a:rPr lang="en-US" sz="1400" b="1" dirty="0"/>
                  <a:t>Solution Quality</a:t>
                </a:r>
              </a:p>
              <a:p>
                <a:pPr marL="457200" indent="-457200">
                  <a:buNone/>
                </a:pPr>
                <a:r>
                  <a:rPr lang="en-US" sz="1400" b="0" dirty="0"/>
                  <a:t>Unlike endpoint-only greedy: evaluates INTERNAL route structures at insertion time.</a:t>
                </a:r>
              </a:p>
              <a:p>
                <a:pPr marL="457200" indent="-457200">
                  <a:buNone/>
                </a:pPr>
                <a:r>
                  <a:rPr lang="en-US" sz="1400" b="0" dirty="0"/>
                  <a:t>Sorting "hard" tasks first avoids unbalanced outlier routes.</a:t>
                </a:r>
              </a:p>
              <a:p>
                <a:pPr marL="457200" indent="-457200">
                  <a:buNone/>
                </a:pPr>
                <a:r>
                  <a:rPr lang="en-US" sz="1400" b="0" dirty="0"/>
                  <a:t>Achieves near-optimal results (e.g., workload = 560 on benchmarks) without metaheuristic overhead.</a:t>
                </a:r>
              </a:p>
              <a:p>
                <a:endParaRPr lang="en-US" sz="1400" dirty="0"/>
              </a:p>
            </p:txBody>
          </p:sp>
        </mc:Choice>
        <mc:Fallback>
          <p:sp>
            <p:nvSpPr>
              <p:cNvPr id="3" name="Content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3"/>
              </p:nvPr>
            </p:nvSpPr>
            <p:spPr>
              <a:blipFill>
                <a:blip r:embed="rId2"/>
                <a:stretch>
                  <a:fillRect l="-211" t="-6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600" dirty="0"/>
              <a:t>4. Branch &amp; Bound Algorithm</a:t>
            </a:r>
          </a:p>
        </p:txBody>
      </p:sp>
      <p:sp>
        <p:nvSpPr>
          <p:cNvPr id="3" name="Content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en-US" sz="2200"/>
              <a:t>State Representation</a:t>
            </a:r>
          </a:p>
          <a:p>
            <a:r>
              <a:rPr lang="en-US" sz="2200"/>
              <a:t>Base Case</a:t>
            </a:r>
          </a:p>
          <a:p>
            <a:r>
              <a:rPr lang="en-US" sz="2200"/>
              <a:t>Recursive Step</a:t>
            </a:r>
          </a:p>
          <a:p>
            <a:r>
              <a:rPr lang="en-US" sz="2200"/>
              <a:t>Pseudocode</a:t>
            </a:r>
            <a:endParaRPr lang="en-US" sz="2200" b="0" dirty="0"/>
          </a:p>
          <a:p>
            <a:endParaRPr lang="en-US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600" dirty="0"/>
              <a:t>4.1 Background &amp; State Representation</a:t>
            </a:r>
          </a:p>
        </p:txBody>
      </p:sp>
      <p:sp>
        <p:nvSpPr>
          <p:cNvPr id="3" name="Content"/>
          <p:cNvSpPr>
            <a:spLocks noGrp="1"/>
          </p:cNvSpPr>
          <p:nvPr>
            <p:ph sz="quarter" idx="13"/>
          </p:nvPr>
        </p:nvSpPr>
        <p:spPr>
          <a:xfrm>
            <a:off x="234950" y="1184420"/>
            <a:ext cx="8674100" cy="4868449"/>
          </a:xfrm>
        </p:spPr>
        <p:txBody>
          <a:bodyPr/>
          <a:lstStyle/>
          <a:p>
            <a:pPr marL="0" indent="0">
              <a:buNone/>
            </a:pPr>
            <a:r>
              <a:rPr lang="en-US" sz="1400" b="1" dirty="0"/>
              <a:t>Background</a:t>
            </a:r>
          </a:p>
          <a:p>
            <a:pPr marL="0" indent="0">
              <a:buNone/>
            </a:pPr>
            <a:r>
              <a:rPr lang="en-US" sz="1400" b="0" dirty="0"/>
              <a:t>One of the earliest exact approaches for VRP. Guarantees optimal solutions.</a:t>
            </a:r>
          </a:p>
          <a:p>
            <a:pPr marL="0" indent="0">
              <a:buNone/>
            </a:pPr>
            <a:r>
              <a:rPr lang="en-US" sz="1400" b="0" dirty="0"/>
              <a:t>Complexity grows EXPONENTIALLY — impractical for large-scale instances.</a:t>
            </a:r>
          </a:p>
          <a:p>
            <a:pPr marL="0" indent="0">
              <a:buNone/>
            </a:pPr>
            <a:r>
              <a:rPr lang="en-US" sz="1400" b="0" dirty="0"/>
              <a:t>Used early in VRP research; now complemented by metaheuristics and MIP/CP systems.</a:t>
            </a:r>
          </a:p>
          <a:p>
            <a:pPr marL="0" indent="0">
              <a:buNone/>
            </a:pPr>
            <a:r>
              <a:rPr lang="en-US" sz="1400" b="0" dirty="0"/>
              <a:t>Still used as benchmark for evaluating heuristics on small instances.</a:t>
            </a:r>
          </a:p>
          <a:p>
            <a:pPr marL="0" indent="0">
              <a:buNone/>
            </a:pPr>
            <a:endParaRPr lang="en-US" sz="1400" b="0" dirty="0"/>
          </a:p>
          <a:p>
            <a:pPr marL="0" indent="0">
              <a:buNone/>
            </a:pPr>
            <a:r>
              <a:rPr lang="en-US" sz="1400" b="1" dirty="0"/>
              <a:t>State Representation</a:t>
            </a:r>
          </a:p>
          <a:p>
            <a:pPr marL="0" indent="0">
              <a:buNone/>
            </a:pPr>
            <a:r>
              <a:rPr lang="en-US" sz="1400" b="0" dirty="0"/>
              <a:t>At any point in recursion, the algorithm tracks:</a:t>
            </a:r>
          </a:p>
          <a:p>
            <a:pPr marL="457200" indent="-457200">
              <a:buNone/>
            </a:pPr>
            <a:r>
              <a:rPr lang="en-US" sz="1400" b="0" dirty="0"/>
              <a:t>• Set of customers NOT yet visited</a:t>
            </a:r>
          </a:p>
          <a:p>
            <a:pPr marL="457200" indent="-457200">
              <a:buNone/>
            </a:pPr>
            <a:r>
              <a:rPr lang="en-US" sz="1400" b="0" dirty="0"/>
              <a:t>• List of routes (one per technician)</a:t>
            </a:r>
          </a:p>
          <a:p>
            <a:pPr marL="457200" indent="-457200">
              <a:buNone/>
            </a:pPr>
            <a:r>
              <a:rPr lang="en-US" sz="1400" b="0" dirty="0"/>
              <a:t>• Total accumulated time cost by each technician</a:t>
            </a:r>
          </a:p>
          <a:p>
            <a:pPr marL="457200" indent="-457200">
              <a:buNone/>
            </a:pPr>
            <a:r>
              <a:rPr lang="en-US" sz="1400" b="0" dirty="0"/>
              <a:t>• Current position of each technician</a:t>
            </a:r>
          </a:p>
          <a:p>
            <a:pPr marL="0" indent="0">
              <a:buNone/>
            </a:pPr>
            <a:endParaRPr lang="en-US" sz="1400" b="0" dirty="0"/>
          </a:p>
          <a:p>
            <a:pPr marL="0" indent="0">
              <a:buNone/>
            </a:pPr>
            <a:r>
              <a:rPr lang="en-US" sz="1400" b="1" dirty="0"/>
              <a:t>Memory Key (Memoization)</a:t>
            </a:r>
          </a:p>
          <a:p>
            <a:pPr marL="457200" indent="-457200">
              <a:buNone/>
            </a:pPr>
            <a:r>
              <a:rPr lang="en-US" sz="1400" b="0" dirty="0">
                <a:latin typeface="Courier New"/>
              </a:rPr>
              <a:t>  key = ( frozenset(unassigned),  tuple(cur_positions) )</a:t>
            </a:r>
          </a:p>
          <a:p>
            <a:pPr marL="457200" indent="-457200">
              <a:buNone/>
            </a:pPr>
            <a:r>
              <a:rPr lang="en-US" sz="1400" b="0" dirty="0"/>
              <a:t>If memo[key] ≤ max(worker_times) → skip this subtree (already found a better solution).</a:t>
            </a:r>
          </a:p>
          <a:p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600" dirty="0"/>
              <a:t>4.2 Base Case &amp; Recursive Step</a:t>
            </a:r>
          </a:p>
        </p:txBody>
      </p:sp>
      <p:sp>
        <p:nvSpPr>
          <p:cNvPr id="3" name="Content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1400" b="1" dirty="0"/>
              <a:t>Base Case: All customers assigned</a:t>
            </a:r>
          </a:p>
          <a:p>
            <a:pPr marL="457200" indent="-457200">
              <a:buNone/>
            </a:pPr>
            <a:r>
              <a:rPr lang="en-US" sz="1400" b="0" dirty="0">
                <a:latin typeface="Courier New"/>
              </a:rPr>
              <a:t>1. Compute: total_times[k] = worker_times[k] + dist[cur_positions[k]][0]</a:t>
            </a:r>
          </a:p>
          <a:p>
            <a:pPr marL="914400" indent="-457200">
              <a:buNone/>
            </a:pPr>
            <a:r>
              <a:rPr lang="en-US" sz="1400" b="0" dirty="0">
                <a:latin typeface="Courier New"/>
              </a:rPr>
              <a:t>           for all k where worker_routes[k] ≠ ∅</a:t>
            </a:r>
          </a:p>
          <a:p>
            <a:pPr marL="457200" indent="-457200">
              <a:buNone/>
            </a:pPr>
            <a:r>
              <a:rPr lang="en-US" sz="1400" b="0" dirty="0">
                <a:latin typeface="Courier New"/>
              </a:rPr>
              <a:t>2. max_time = max(total_times)</a:t>
            </a:r>
          </a:p>
          <a:p>
            <a:pPr marL="457200" indent="-457200">
              <a:buNone/>
            </a:pPr>
            <a:r>
              <a:rPr lang="en-US" sz="1400" b="0" dirty="0"/>
              <a:t>3. If max_time &lt; best_time:  update best_time and best_routes</a:t>
            </a:r>
          </a:p>
          <a:p>
            <a:pPr marL="0" indent="0">
              <a:buNone/>
            </a:pPr>
            <a:endParaRPr lang="en-US" sz="1400" b="0" dirty="0"/>
          </a:p>
          <a:p>
            <a:pPr marL="0" indent="0">
              <a:buNone/>
            </a:pPr>
            <a:r>
              <a:rPr lang="en-US" sz="1400" b="1" dirty="0"/>
              <a:t>Recursive Step: For each unassigned customer</a:t>
            </a:r>
          </a:p>
          <a:p>
            <a:pPr marL="0" indent="0">
              <a:buNone/>
            </a:pPr>
            <a:r>
              <a:rPr lang="en-US" sz="1400" b="0" dirty="0">
                <a:latin typeface="Courier New"/>
              </a:rPr>
              <a:t>for each customer ∈ unassigned:</a:t>
            </a:r>
          </a:p>
          <a:p>
            <a:pPr marL="457200" indent="-457200">
              <a:buNone/>
            </a:pPr>
            <a:r>
              <a:rPr lang="en-US" sz="1400" b="0" dirty="0">
                <a:latin typeface="Courier New"/>
              </a:rPr>
              <a:t>  for k = 0 to K−1:</a:t>
            </a:r>
          </a:p>
          <a:p>
            <a:pPr marL="914400" indent="-457200">
              <a:buNone/>
            </a:pPr>
            <a:r>
              <a:rPr lang="en-US" sz="1400" b="0" dirty="0">
                <a:latin typeface="Courier New"/>
              </a:rPr>
              <a:t>    total = worker_times[k] + dist[last_pos][customer] + d[customer]</a:t>
            </a:r>
          </a:p>
          <a:p>
            <a:pPr marL="914400" indent="-457200">
              <a:buNone/>
            </a:pPr>
            <a:r>
              <a:rPr lang="en-US" sz="1400" b="0" dirty="0">
                <a:solidFill>
                  <a:srgbClr val="C00000"/>
                </a:solidFill>
              </a:rPr>
              <a:t>    PRUNING: if total ≥ best_time → continue (skip)</a:t>
            </a:r>
          </a:p>
          <a:p>
            <a:pPr marL="914400" indent="-457200">
              <a:buNone/>
            </a:pPr>
            <a:r>
              <a:rPr lang="en-US" sz="1400" b="0" dirty="0"/>
              <a:t>    Assign customer to k  →  recurse  →  UNDO assignment</a:t>
            </a:r>
          </a:p>
          <a:p>
            <a:pPr marL="0" indent="0">
              <a:buNone/>
            </a:pPr>
            <a:endParaRPr lang="en-US" sz="1400" b="0" dirty="0"/>
          </a:p>
          <a:p>
            <a:pPr marL="0" indent="0">
              <a:buNone/>
            </a:pPr>
            <a:r>
              <a:rPr lang="en-US" sz="1400" b="1" dirty="0">
                <a:solidFill>
                  <a:srgbClr val="C00000"/>
                </a:solidFill>
              </a:rPr>
              <a:t>Search Space: O(K^N)</a:t>
            </a:r>
          </a:p>
          <a:p>
            <a:pPr marL="457200" indent="-457200">
              <a:buNone/>
            </a:pPr>
            <a:r>
              <a:rPr lang="en-US" sz="1400" b="0" dirty="0"/>
              <a:t>N=80, K=10: ≈ 10^80 possible assignments (&gt; atoms in observable universe)</a:t>
            </a:r>
          </a:p>
          <a:p>
            <a:pPr marL="457200" indent="-457200">
              <a:buNone/>
            </a:pPr>
            <a:r>
              <a:rPr lang="en-US" sz="1400" b="0" dirty="0"/>
              <a:t>Practical limit: N ≤ 10 only.</a:t>
            </a:r>
          </a:p>
          <a:p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600" dirty="0"/>
              <a:t>4.3 Pseudocode — DFS Function</a:t>
            </a:r>
          </a:p>
        </p:txBody>
      </p:sp>
      <p:sp>
        <p:nvSpPr>
          <p:cNvPr id="3" name="Content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0" indent="0"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200" b="1" dirty="0">
                <a:latin typeface="Courier New"/>
              </a:rPr>
              <a:t>function DFS(unassigned, worker_routes, worker_times, cur_positions)</a:t>
            </a:r>
          </a:p>
          <a:p>
            <a:pPr marL="0" indent="0"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200" b="0" dirty="0">
                <a:latin typeface="Courier New"/>
              </a:rPr>
              <a:t>  key ← (frozenset(unassigned), tuple(cur_positions))</a:t>
            </a:r>
          </a:p>
          <a:p>
            <a:pPr marL="0" indent="0"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200" b="0" dirty="0">
                <a:latin typeface="Courier New"/>
              </a:rPr>
              <a:t>  if key ∈ memo AND memo[key] ≤ max(worker_times):  return</a:t>
            </a:r>
          </a:p>
          <a:p>
            <a:pPr marL="0" indent="0"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200" b="0" dirty="0">
                <a:latin typeface="Courier New"/>
              </a:rPr>
              <a:t>  memo[key] ← max(worker_times)</a:t>
            </a:r>
          </a:p>
          <a:p>
            <a:pPr marL="0" indent="0">
              <a:lnSpc>
                <a:spcPct val="100000"/>
              </a:lnSpc>
              <a:spcBef>
                <a:spcPts val="300"/>
              </a:spcBef>
              <a:buNone/>
            </a:pPr>
            <a:endParaRPr lang="en-US" sz="1200" b="0" dirty="0">
              <a:latin typeface="Courier New"/>
            </a:endParaRPr>
          </a:p>
          <a:p>
            <a:pPr marL="0" indent="0"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200" b="0" dirty="0">
                <a:latin typeface="Courier New"/>
              </a:rPr>
              <a:t>  if unassigned is empty:</a:t>
            </a:r>
          </a:p>
          <a:p>
            <a:pPr marL="457200" indent="-457200"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200" b="0" dirty="0">
                <a:latin typeface="Courier New"/>
              </a:rPr>
              <a:t>    total_times ← [worker_times[k] + dist[cur_positions[k]][0]</a:t>
            </a:r>
          </a:p>
          <a:p>
            <a:pPr marL="914400" indent="-457200"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200" b="0" dirty="0">
                <a:latin typeface="Courier New"/>
              </a:rPr>
              <a:t>                    for all k where worker_routes[k] ≠ ∅]</a:t>
            </a:r>
          </a:p>
          <a:p>
            <a:pPr marL="457200" indent="-457200"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200" b="0" dirty="0">
                <a:latin typeface="Courier New"/>
              </a:rPr>
              <a:t>    if max(total_times) &lt; best_time:</a:t>
            </a:r>
          </a:p>
          <a:p>
            <a:pPr marL="914400" indent="-457200"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200" b="0" dirty="0">
                <a:latin typeface="Courier New"/>
              </a:rPr>
              <a:t>      best_time ← max(total_times)</a:t>
            </a:r>
          </a:p>
          <a:p>
            <a:pPr marL="914400" indent="-457200"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200" b="0" dirty="0">
                <a:latin typeface="Courier New"/>
              </a:rPr>
              <a:t>      best_routes ← worker_routes (with 0 appended to each route)</a:t>
            </a:r>
          </a:p>
          <a:p>
            <a:pPr marL="457200" indent="-457200"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200" b="0" dirty="0">
                <a:latin typeface="Courier New"/>
              </a:rPr>
              <a:t>    return</a:t>
            </a:r>
          </a:p>
          <a:p>
            <a:pPr marL="0" indent="0">
              <a:lnSpc>
                <a:spcPct val="100000"/>
              </a:lnSpc>
              <a:spcBef>
                <a:spcPts val="300"/>
              </a:spcBef>
              <a:buNone/>
            </a:pPr>
            <a:endParaRPr lang="en-US" sz="1200" b="0" dirty="0">
              <a:latin typeface="Courier New"/>
            </a:endParaRPr>
          </a:p>
          <a:p>
            <a:pPr marL="0" indent="0"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200" b="0" dirty="0">
                <a:latin typeface="Courier New"/>
              </a:rPr>
              <a:t>  for each customer ∈ unassigned:</a:t>
            </a:r>
          </a:p>
          <a:p>
            <a:pPr marL="457200" indent="-457200"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200" b="0" dirty="0">
                <a:latin typeface="Courier New"/>
              </a:rPr>
              <a:t>    for k ← 0 to K−1:</a:t>
            </a:r>
          </a:p>
          <a:p>
            <a:pPr marL="914400" indent="-457200"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200" b="0" dirty="0">
                <a:latin typeface="Courier New"/>
              </a:rPr>
              <a:t>      total ← worker_times[k] + dist[cur_positions[k]][customer] + d[customer]</a:t>
            </a:r>
          </a:p>
          <a:p>
            <a:pPr marL="914400" indent="-457200"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200" b="0" dirty="0">
                <a:latin typeface="Courier New"/>
              </a:rPr>
              <a:t>      if total ≥ best_time:  continue   { PRUNING }</a:t>
            </a:r>
          </a:p>
          <a:p>
            <a:pPr marL="914400" indent="-457200"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200" b="0" dirty="0">
                <a:latin typeface="Courier New"/>
              </a:rPr>
              <a:t>      worker_routes[k].append(customer)</a:t>
            </a:r>
          </a:p>
          <a:p>
            <a:pPr marL="914400" indent="-457200"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200" b="0" dirty="0">
                <a:latin typeface="Courier New"/>
              </a:rPr>
              <a:t>      worker_times[k] ← total ;  cur_positions[k] ← customer</a:t>
            </a:r>
          </a:p>
          <a:p>
            <a:pPr marL="914400" indent="-457200"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200" b="0" dirty="0">
                <a:latin typeface="Courier New"/>
              </a:rPr>
              <a:t>      DFS(unassigned \ {customer}, worker_routes, worker_times, cur_positions)</a:t>
            </a:r>
          </a:p>
          <a:p>
            <a:pPr marL="914400" indent="-457200"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200" b="0" dirty="0">
                <a:latin typeface="Courier New"/>
              </a:rPr>
              <a:t>      worker_routes[k].pop()  { UNDO }</a:t>
            </a:r>
          </a:p>
          <a:p>
            <a:pPr marL="914400" indent="-457200"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200" b="0" dirty="0">
                <a:latin typeface="Courier New"/>
              </a:rPr>
              <a:t>      worker_times[k] ← worker_times[k] − (move_cost + service_cost)</a:t>
            </a:r>
          </a:p>
          <a:p>
            <a:pPr marL="914400" indent="-457200"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200" b="0" dirty="0">
                <a:latin typeface="Courier New"/>
              </a:rPr>
              <a:t>      cur_positions[k] ← last_pos</a:t>
            </a:r>
          </a:p>
          <a:p>
            <a:pPr marL="0" indent="0"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200" b="1" dirty="0">
                <a:latin typeface="Courier New"/>
              </a:rPr>
              <a:t>end function</a:t>
            </a:r>
          </a:p>
          <a:p>
            <a:pPr>
              <a:lnSpc>
                <a:spcPct val="100000"/>
              </a:lnSpc>
              <a:spcBef>
                <a:spcPts val="300"/>
              </a:spcBef>
            </a:pP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600" dirty="0"/>
              <a:t>5. Constraint Programming (CP-SAT)</a:t>
            </a:r>
          </a:p>
        </p:txBody>
      </p:sp>
      <p:sp>
        <p:nvSpPr>
          <p:cNvPr id="3" name="Content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0" indent="0">
              <a:buNone/>
            </a:pPr>
            <a:endParaRPr lang="en-US" sz="2200" b="0"/>
          </a:p>
          <a:p>
            <a:r>
              <a:rPr lang="en-US" sz="2200"/>
              <a:t>Background</a:t>
            </a:r>
          </a:p>
          <a:p>
            <a:r>
              <a:rPr lang="en-US" sz="2200"/>
              <a:t>Process</a:t>
            </a:r>
          </a:p>
          <a:p>
            <a:r>
              <a:rPr lang="en-US" sz="2200"/>
              <a:t>Modelling</a:t>
            </a:r>
            <a:endParaRPr lang="en-US" sz="2200" b="0" dirty="0"/>
          </a:p>
          <a:p>
            <a:r>
              <a:rPr lang="en-US" sz="2400"/>
              <a:t>Constraints</a:t>
            </a:r>
          </a:p>
          <a:p>
            <a:r>
              <a:rPr lang="en-US" sz="2400"/>
              <a:t>Results &amp; Scalability</a:t>
            </a:r>
            <a:endParaRPr lang="en-US" sz="24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600" dirty="0"/>
              <a:t>5.1 Background &amp; Key Improvements</a:t>
            </a:r>
          </a:p>
        </p:txBody>
      </p:sp>
      <p:sp>
        <p:nvSpPr>
          <p:cNvPr id="3" name="Content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1400" b="1" dirty="0"/>
              <a:t>CP with AddCircuit — Mathematically Guaranteed Solutions</a:t>
            </a:r>
          </a:p>
          <a:p>
            <a:pPr marL="0" indent="0">
              <a:buNone/>
            </a:pPr>
            <a:r>
              <a:rPr lang="en-US" sz="1400" b="0" dirty="0"/>
              <a:t>Provides provably correct solutions for small instances of the BSRM problem.</a:t>
            </a:r>
          </a:p>
          <a:p>
            <a:pPr marL="0" indent="0">
              <a:buNone/>
            </a:pPr>
            <a:endParaRPr lang="en-US" sz="1400" b="0" dirty="0"/>
          </a:p>
          <a:p>
            <a:pPr marL="0" indent="0">
              <a:buNone/>
            </a:pPr>
            <a:r>
              <a:rPr lang="en-US" sz="1400" b="1" dirty="0"/>
              <a:t>Key improvements over original MTZ-based formulation:</a:t>
            </a:r>
          </a:p>
          <a:p>
            <a:pPr marL="457200" indent="-457200">
              <a:buNone/>
            </a:pPr>
            <a:r>
              <a:rPr lang="en-US" sz="1400" b="0" dirty="0"/>
              <a:t>• Use BoolVar instead of IntVar(0,1) for routing variables</a:t>
            </a:r>
          </a:p>
          <a:p>
            <a:pPr marL="457200" indent="-457200">
              <a:buNone/>
            </a:pPr>
            <a:r>
              <a:rPr lang="en-US" sz="1400" b="0" dirty="0"/>
              <a:t>• Tighten domain bounds of y[k] and z</a:t>
            </a:r>
          </a:p>
          <a:p>
            <a:pPr marL="457200" indent="-457200">
              <a:buNone/>
            </a:pPr>
            <a:r>
              <a:rPr lang="en-US" sz="1400" b="0" dirty="0"/>
              <a:t>• Replace THREE separate constraint groups with a SINGLE AddCircuit call per technician:</a:t>
            </a:r>
          </a:p>
          <a:p>
            <a:pPr marL="914400" indent="-457200">
              <a:buNone/>
            </a:pPr>
            <a:r>
              <a:rPr lang="en-US" sz="1400" b="0" dirty="0"/>
              <a:t>  (Flow conservation  +  Depot constraints  +  MTZ subtour elimination)</a:t>
            </a:r>
          </a:p>
          <a:p>
            <a:pPr marL="457200" indent="-457200">
              <a:buNone/>
            </a:pPr>
            <a:r>
              <a:rPr lang="en-US" sz="1400" b="0" dirty="0"/>
              <a:t>• Result: significantly faster for small instances via efficient internal propagator</a:t>
            </a:r>
          </a:p>
          <a:p>
            <a:pPr marL="0" indent="0">
              <a:buNone/>
            </a:pPr>
            <a:endParaRPr lang="en-US" sz="1400" b="0" dirty="0"/>
          </a:p>
          <a:p>
            <a:pPr marL="0" indent="0">
              <a:buNone/>
            </a:pPr>
            <a:r>
              <a:rPr lang="en-US" sz="1400" b="1" dirty="0">
                <a:solidFill>
                  <a:srgbClr val="C00000"/>
                </a:solidFill>
              </a:rPr>
              <a:t>Fundamental Limitation</a:t>
            </a:r>
          </a:p>
          <a:p>
            <a:pPr marL="457200" indent="-457200">
              <a:buNone/>
            </a:pPr>
            <a:r>
              <a:rPr lang="en-US" sz="1400" b="0" dirty="0"/>
              <a:t>O(K × N²) variable count means CP CANNOT scale to large inputs.</a:t>
            </a:r>
          </a:p>
          <a:p>
            <a:pPr marL="457200" indent="-457200">
              <a:buNone/>
            </a:pPr>
            <a:r>
              <a:rPr lang="en-US" sz="1400" b="0" dirty="0"/>
              <a:t>This is not an implementation failure — it is a theoretical boundary.</a:t>
            </a:r>
          </a:p>
          <a:p>
            <a:pPr marL="457200" indent="-457200">
              <a:buNone/>
            </a:pPr>
            <a:r>
              <a:rPr lang="en-US" sz="1400" b="0" dirty="0"/>
              <a:t>VRP is NP-Hard: any exact formulation requires variables growing quadratically with N.</a:t>
            </a:r>
          </a:p>
          <a:p>
            <a:pPr marL="457200" indent="-457200">
              <a:buNone/>
            </a:pPr>
            <a:r>
              <a:rPr lang="en-US" sz="1400" b="0" dirty="0"/>
              <a:t>CP is most valuable as a benchmark producing provably correct solutions for small cases.</a:t>
            </a:r>
          </a:p>
          <a:p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600" dirty="0"/>
              <a:t>5.2 Process of Constraint Programming</a:t>
            </a:r>
          </a:p>
        </p:txBody>
      </p:sp>
      <p:sp>
        <p:nvSpPr>
          <p:cNvPr id="3" name="Content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0" indent="0">
              <a:spcBef>
                <a:spcPts val="600"/>
              </a:spcBef>
              <a:buNone/>
            </a:pPr>
            <a:r>
              <a:rPr lang="en-US" sz="1400" b="1" dirty="0"/>
              <a:t>Step 1: Model the Problem</a:t>
            </a:r>
          </a:p>
          <a:p>
            <a:pPr marL="457200" indent="-457200">
              <a:spcBef>
                <a:spcPts val="600"/>
              </a:spcBef>
              <a:buNone/>
            </a:pPr>
            <a:r>
              <a:rPr lang="en-US" sz="1400" b="0" dirty="0"/>
              <a:t>Define decision variables, their domains, and all constraints.</a:t>
            </a:r>
          </a:p>
          <a:p>
            <a:pPr marL="0" indent="0">
              <a:spcBef>
                <a:spcPts val="600"/>
              </a:spcBef>
              <a:buNone/>
            </a:pPr>
            <a:endParaRPr lang="en-US" sz="1400" b="0" dirty="0"/>
          </a:p>
          <a:p>
            <a:pPr marL="0" indent="0">
              <a:spcBef>
                <a:spcPts val="600"/>
              </a:spcBef>
              <a:buNone/>
            </a:pPr>
            <a:r>
              <a:rPr lang="en-US" sz="1400" b="1" dirty="0"/>
              <a:t>Step 2: Propagate Constraints</a:t>
            </a:r>
          </a:p>
          <a:p>
            <a:pPr marL="457200" indent="-457200">
              <a:spcBef>
                <a:spcPts val="600"/>
              </a:spcBef>
              <a:buNone/>
            </a:pPr>
            <a:r>
              <a:rPr lang="en-US" sz="1400" b="0" dirty="0"/>
              <a:t>Reduce variable domains by eliminating impossible values.</a:t>
            </a:r>
          </a:p>
          <a:p>
            <a:pPr marL="457200" indent="-457200">
              <a:spcBef>
                <a:spcPts val="600"/>
              </a:spcBef>
              <a:buNone/>
            </a:pPr>
            <a:r>
              <a:rPr lang="en-US" sz="1400" b="0" dirty="0"/>
              <a:t>Techniques: domain consistency, bound consistency.</a:t>
            </a:r>
          </a:p>
          <a:p>
            <a:pPr marL="0" indent="0">
              <a:spcBef>
                <a:spcPts val="600"/>
              </a:spcBef>
              <a:buNone/>
            </a:pPr>
            <a:endParaRPr lang="en-US" sz="1400" b="0" dirty="0"/>
          </a:p>
          <a:p>
            <a:pPr marL="0" indent="0">
              <a:spcBef>
                <a:spcPts val="600"/>
              </a:spcBef>
              <a:buNone/>
            </a:pPr>
            <a:r>
              <a:rPr lang="en-US" sz="1400" b="1" dirty="0"/>
              <a:t>Step 3: Search Systematically</a:t>
            </a:r>
          </a:p>
          <a:p>
            <a:pPr marL="457200" indent="-457200">
              <a:spcBef>
                <a:spcPts val="600"/>
              </a:spcBef>
              <a:buNone/>
            </a:pPr>
            <a:r>
              <a:rPr lang="en-US" sz="1400" b="0" dirty="0"/>
              <a:t>Assign values to variables (branching).</a:t>
            </a:r>
          </a:p>
          <a:p>
            <a:pPr marL="457200" indent="-457200">
              <a:spcBef>
                <a:spcPts val="600"/>
              </a:spcBef>
              <a:buNone/>
            </a:pPr>
            <a:r>
              <a:rPr lang="en-US" sz="1400" b="0" dirty="0"/>
              <a:t>Backtrack when constraints are violated.</a:t>
            </a:r>
          </a:p>
          <a:p>
            <a:pPr marL="457200" indent="-457200">
              <a:spcBef>
                <a:spcPts val="600"/>
              </a:spcBef>
              <a:buNone/>
            </a:pPr>
            <a:r>
              <a:rPr lang="en-US" sz="1400" b="0" dirty="0"/>
              <a:t>Use heuristics to guide variable/value selection.</a:t>
            </a:r>
          </a:p>
          <a:p>
            <a:pPr marL="0" indent="0">
              <a:spcBef>
                <a:spcPts val="600"/>
              </a:spcBef>
              <a:buNone/>
            </a:pPr>
            <a:endParaRPr lang="en-US" sz="1400" b="0" dirty="0"/>
          </a:p>
          <a:p>
            <a:pPr marL="0" indent="0">
              <a:spcBef>
                <a:spcPts val="600"/>
              </a:spcBef>
              <a:buNone/>
            </a:pPr>
            <a:r>
              <a:rPr lang="en-US" sz="1400" b="1" dirty="0"/>
              <a:t>Step 4: Optimize</a:t>
            </a:r>
          </a:p>
          <a:p>
            <a:pPr marL="457200" indent="-457200">
              <a:spcBef>
                <a:spcPts val="600"/>
              </a:spcBef>
              <a:buNone/>
            </a:pPr>
            <a:r>
              <a:rPr lang="en-US" sz="1400" b="0" dirty="0"/>
              <a:t>Tighten bounds iteratively to find the best solution within the time limit.</a:t>
            </a:r>
          </a:p>
          <a:p>
            <a:pPr marL="0" indent="0">
              <a:spcBef>
                <a:spcPts val="600"/>
              </a:spcBef>
              <a:buNone/>
            </a:pPr>
            <a:endParaRPr lang="en-US" sz="1400" b="0" dirty="0"/>
          </a:p>
          <a:p>
            <a:pPr marL="0" indent="0">
              <a:spcBef>
                <a:spcPts val="600"/>
              </a:spcBef>
              <a:buNone/>
            </a:pPr>
            <a:r>
              <a:rPr lang="en-US" sz="1400" b="1" dirty="0"/>
              <a:t>Solver configuration used:</a:t>
            </a:r>
          </a:p>
          <a:p>
            <a:pPr marL="457200" indent="-457200">
              <a:spcBef>
                <a:spcPts val="600"/>
              </a:spcBef>
              <a:buNone/>
            </a:pPr>
            <a:r>
              <a:rPr lang="en-US" sz="1400" b="0" dirty="0">
                <a:latin typeface="Courier New"/>
              </a:rPr>
              <a:t>  solver.parameters.max_time_in_seconds </a:t>
            </a:r>
            <a:r>
              <a:rPr lang="en-US" sz="1400" b="0">
                <a:latin typeface="Courier New"/>
              </a:rPr>
              <a:t>= </a:t>
            </a:r>
            <a:r>
              <a:rPr lang="en-US" sz="1400">
                <a:latin typeface="Courier New"/>
              </a:rPr>
              <a:t>100.0</a:t>
            </a:r>
            <a:endParaRPr lang="en-US" sz="1400" b="0" dirty="0">
              <a:latin typeface="Courier New"/>
            </a:endParaRPr>
          </a:p>
          <a:p>
            <a:pPr>
              <a:spcBef>
                <a:spcPts val="600"/>
              </a:spcBef>
            </a:pPr>
            <a:endParaRPr lang="en-US" sz="1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600" dirty="0"/>
              <a:t>5.3 Modelling — Decision Variables &amp; Objective</a:t>
            </a:r>
          </a:p>
        </p:txBody>
      </p:sp>
      <p:sp>
        <p:nvSpPr>
          <p:cNvPr id="3" name="Content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0" indent="0">
              <a:spcBef>
                <a:spcPts val="600"/>
              </a:spcBef>
              <a:buNone/>
            </a:pPr>
            <a:r>
              <a:rPr lang="en-US" sz="1400" b="1" dirty="0"/>
              <a:t>Decision Variables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en-US" sz="1400" b="1" dirty="0"/>
              <a:t>x[i][j][k]  (BoolVar)</a:t>
            </a:r>
          </a:p>
          <a:p>
            <a:pPr marL="457200" indent="-457200">
              <a:spcBef>
                <a:spcPts val="600"/>
              </a:spcBef>
              <a:buNone/>
            </a:pPr>
            <a:r>
              <a:rPr lang="en-US" sz="1400" b="0" dirty="0"/>
              <a:t>   = 1 if technician k travels from node i to node j   (i ≠ j)</a:t>
            </a:r>
          </a:p>
          <a:p>
            <a:pPr marL="457200" indent="-457200">
              <a:spcBef>
                <a:spcPts val="600"/>
              </a:spcBef>
              <a:buNone/>
            </a:pPr>
            <a:r>
              <a:rPr lang="en-US" sz="1400" b="0" dirty="0"/>
              <a:t>   One variable per ordered pair (i,j) per technician k</a:t>
            </a:r>
          </a:p>
          <a:p>
            <a:pPr marL="0" indent="0">
              <a:spcBef>
                <a:spcPts val="600"/>
              </a:spcBef>
              <a:buNone/>
            </a:pPr>
            <a:endParaRPr lang="en-US" sz="1400" b="0" dirty="0"/>
          </a:p>
          <a:p>
            <a:pPr marL="0" indent="0">
              <a:spcBef>
                <a:spcPts val="600"/>
              </a:spcBef>
              <a:buNone/>
            </a:pPr>
            <a:r>
              <a:rPr lang="en-US" sz="1400" b="1" dirty="0"/>
              <a:t>self_loop[i][k]  (BoolVar)</a:t>
            </a:r>
          </a:p>
          <a:p>
            <a:pPr marL="457200" indent="-457200">
              <a:spcBef>
                <a:spcPts val="600"/>
              </a:spcBef>
              <a:buNone/>
            </a:pPr>
            <a:r>
              <a:rPr lang="en-US" sz="1400" b="0" dirty="0"/>
              <a:t>   = 1 if technician k does NOT visit customer i</a:t>
            </a:r>
          </a:p>
          <a:p>
            <a:pPr marL="457200" indent="-457200">
              <a:spcBef>
                <a:spcPts val="600"/>
              </a:spcBef>
              <a:buNone/>
            </a:pPr>
            <a:r>
              <a:rPr lang="en-US" sz="1400" b="0" dirty="0"/>
              <a:t>   Required by AddCircuit to allow circuits to skip certain nodes</a:t>
            </a:r>
          </a:p>
          <a:p>
            <a:pPr marL="457200" indent="-457200">
              <a:spcBef>
                <a:spcPts val="600"/>
              </a:spcBef>
              <a:buNone/>
            </a:pPr>
            <a:r>
              <a:rPr lang="en-US" sz="1400" b="0" dirty="0"/>
              <a:t>   Replaces the MTZ ordering variable u_{i,k} from original formulation</a:t>
            </a:r>
          </a:p>
          <a:p>
            <a:pPr marL="0" indent="0">
              <a:spcBef>
                <a:spcPts val="600"/>
              </a:spcBef>
              <a:buNone/>
            </a:pPr>
            <a:endParaRPr lang="en-US" sz="1400" b="0" dirty="0"/>
          </a:p>
          <a:p>
            <a:pPr marL="0" indent="0">
              <a:spcBef>
                <a:spcPts val="600"/>
              </a:spcBef>
              <a:buNone/>
            </a:pPr>
            <a:r>
              <a:rPr lang="en-US" sz="1400" b="1" dirty="0"/>
              <a:t>y[k]  (IntVar)</a:t>
            </a:r>
          </a:p>
          <a:p>
            <a:pPr marL="457200" indent="-457200">
              <a:spcBef>
                <a:spcPts val="600"/>
              </a:spcBef>
              <a:buNone/>
            </a:pPr>
            <a:r>
              <a:rPr lang="en-US" sz="1400" b="0" dirty="0"/>
              <a:t>   Total workload of technician k.  Domain: [0, UB]</a:t>
            </a:r>
          </a:p>
          <a:p>
            <a:pPr marL="457200" indent="-457200">
              <a:spcBef>
                <a:spcPts val="600"/>
              </a:spcBef>
              <a:buNone/>
            </a:pPr>
            <a:r>
              <a:rPr lang="en-US" sz="1400" b="0" dirty="0"/>
              <a:t>   UB = N × max(t) + Σd  (tight upper bound computed from input)</a:t>
            </a:r>
          </a:p>
          <a:p>
            <a:pPr marL="0" indent="0">
              <a:spcBef>
                <a:spcPts val="600"/>
              </a:spcBef>
              <a:buNone/>
            </a:pPr>
            <a:endParaRPr lang="en-US" sz="1400" b="0" dirty="0"/>
          </a:p>
          <a:p>
            <a:pPr marL="0" indent="0">
              <a:spcBef>
                <a:spcPts val="600"/>
              </a:spcBef>
              <a:buNone/>
            </a:pPr>
            <a:r>
              <a:rPr lang="en-US" sz="1400" b="1" dirty="0"/>
              <a:t>z  (IntVar) — THE OBJECTIVE</a:t>
            </a:r>
          </a:p>
          <a:p>
            <a:pPr marL="457200" indent="-457200">
              <a:spcBef>
                <a:spcPts val="600"/>
              </a:spcBef>
              <a:buNone/>
            </a:pPr>
            <a:r>
              <a:rPr lang="en-US" sz="1400" b="0" dirty="0"/>
              <a:t>   Maximum workload across all technicians.  This is the value being MINIMIZED.</a:t>
            </a:r>
          </a:p>
          <a:p>
            <a:pPr marL="0" indent="0">
              <a:spcBef>
                <a:spcPts val="600"/>
              </a:spcBef>
              <a:buNone/>
            </a:pPr>
            <a:endParaRPr lang="en-US" sz="1400" b="0" dirty="0"/>
          </a:p>
          <a:p>
            <a:pPr marL="0" indent="0">
              <a:spcBef>
                <a:spcPts val="600"/>
              </a:spcBef>
              <a:buNone/>
            </a:pPr>
            <a:r>
              <a:rPr lang="en-US" sz="1400" b="1" dirty="0">
                <a:solidFill>
                  <a:srgbClr val="C00000"/>
                </a:solidFill>
              </a:rPr>
              <a:t>Objective Function:</a:t>
            </a:r>
          </a:p>
          <a:p>
            <a:pPr marL="914400" indent="-457200">
              <a:spcBef>
                <a:spcPts val="600"/>
              </a:spcBef>
              <a:buNone/>
            </a:pPr>
            <a:r>
              <a:rPr lang="en-US" sz="1400" b="0" dirty="0">
                <a:solidFill>
                  <a:srgbClr val="C00000"/>
                </a:solidFill>
              </a:rPr>
              <a:t>   minimize   z</a:t>
            </a:r>
          </a:p>
          <a:p>
            <a:pPr>
              <a:spcBef>
                <a:spcPts val="600"/>
              </a:spcBef>
            </a:pPr>
            <a:endParaRPr lang="en-US" sz="14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600" dirty="0"/>
              <a:t>5.4 Constraints (1) &amp; (2)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"/>
              <p:cNvSpPr>
                <a:spLocks noGrp="1"/>
              </p:cNvSpPr>
              <p:nvPr>
                <p:ph sz="quarter" idx="13"/>
              </p:nvPr>
            </p:nvSpPr>
            <p:spPr/>
            <p:txBody>
              <a:bodyPr/>
              <a:lstStyle/>
              <a:p>
                <a:pPr marL="0" indent="0">
                  <a:spcBef>
                    <a:spcPts val="300"/>
                  </a:spcBef>
                  <a:buNone/>
                </a:pPr>
                <a:r>
                  <a:rPr lang="en-US" sz="1400" b="1" dirty="0"/>
                  <a:t>Constraint 1: Each customer visited exactly once</a:t>
                </a:r>
              </a:p>
              <a:p>
                <a:pPr>
                  <a:buNone/>
                </a:pPr>
                <a:endParaRPr lang="en-US" sz="1400" i="1">
                  <a:solidFill>
                    <a:srgbClr val="EE0000"/>
                  </a:solidFill>
                  <a:effectLst/>
                  <a:latin typeface="Cambria Math" panose="02040503050406030204" pitchFamily="18" charset="0"/>
                  <a:ea typeface="Courier New" panose="02070309020205020404" pitchFamily="49" charset="0"/>
                  <a:cs typeface="Courier New" panose="02070309020205020404" pitchFamily="49" charset="0"/>
                </a:endParaRPr>
              </a:p>
              <a:p>
                <a:pPr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pHide m:val="on"/>
                          <m:ctrlPr>
                            <a:rPr lang="en-US" sz="1400" i="1" smtClean="0">
                              <a:solidFill>
                                <a:srgbClr val="EE0000"/>
                              </a:solidFill>
                              <a:effectLst/>
                              <a:latin typeface="Cambria Math" panose="02040503050406030204" pitchFamily="18" charset="0"/>
                              <a:ea typeface="Courier New" panose="02070309020205020404" pitchFamily="49" charset="0"/>
                              <a:cs typeface="Courier New" panose="02070309020205020404" pitchFamily="49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</m:rPr>
                            <a:rPr lang="en-US" sz="1400">
                              <a:solidFill>
                                <a:srgbClr val="EE0000"/>
                              </a:solidFill>
                              <a:effectLst/>
                              <a:latin typeface="Cambria Math" panose="02040503050406030204" pitchFamily="18" charset="0"/>
                              <a:ea typeface="Courier New" panose="02070309020205020404" pitchFamily="49" charset="0"/>
                              <a:cs typeface="Courier New" panose="02070309020205020404" pitchFamily="49" charset="0"/>
                            </a:rPr>
                            <m:t>i</m:t>
                          </m:r>
                        </m:sub>
                        <m:sup/>
                        <m:e>
                          <m:nary>
                            <m:naryPr>
                              <m:chr m:val="∑"/>
                              <m:supHide m:val="on"/>
                              <m:ctrlPr>
                                <a:rPr lang="en-US" sz="1400" i="1">
                                  <a:solidFill>
                                    <a:srgbClr val="EE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ourier New" panose="02070309020205020404" pitchFamily="49" charset="0"/>
                                  <a:cs typeface="Courier New" panose="02070309020205020404" pitchFamily="49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sty m:val="p"/>
                                </m:rPr>
                                <a:rPr lang="en-US" sz="1400">
                                  <a:solidFill>
                                    <a:srgbClr val="EE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ourier New" panose="02070309020205020404" pitchFamily="49" charset="0"/>
                                  <a:cs typeface="Courier New" panose="02070309020205020404" pitchFamily="49" charset="0"/>
                                </a:rPr>
                                <m:t>k</m:t>
                              </m:r>
                            </m:sub>
                            <m:sup/>
                            <m:e>
                              <m:r>
                                <m:rPr>
                                  <m:sty m:val="p"/>
                                </m:rPr>
                                <a:rPr lang="en-US" sz="1400">
                                  <a:solidFill>
                                    <a:srgbClr val="EE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ourier New" panose="02070309020205020404" pitchFamily="49" charset="0"/>
                                  <a:cs typeface="Courier New" panose="02070309020205020404" pitchFamily="49" charset="0"/>
                                </a:rPr>
                                <m:t>x</m:t>
                              </m:r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sz="1400" i="1">
                                      <a:solidFill>
                                        <a:srgbClr val="EE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Courier New" panose="02070309020205020404" pitchFamily="49" charset="0"/>
                                      <a:cs typeface="Courier New" panose="02070309020205020404" pitchFamily="49" charset="0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1400">
                                      <a:solidFill>
                                        <a:srgbClr val="EE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Courier New" panose="02070309020205020404" pitchFamily="49" charset="0"/>
                                      <a:cs typeface="Courier New" panose="02070309020205020404" pitchFamily="49" charset="0"/>
                                    </a:rPr>
                                    <m:t>i</m:t>
                                  </m:r>
                                </m:e>
                              </m:d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sz="1400" i="1">
                                      <a:solidFill>
                                        <a:srgbClr val="EE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Courier New" panose="02070309020205020404" pitchFamily="49" charset="0"/>
                                      <a:cs typeface="Courier New" panose="02070309020205020404" pitchFamily="49" charset="0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1400">
                                      <a:solidFill>
                                        <a:srgbClr val="EE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Courier New" panose="02070309020205020404" pitchFamily="49" charset="0"/>
                                      <a:cs typeface="Courier New" panose="02070309020205020404" pitchFamily="49" charset="0"/>
                                    </a:rPr>
                                    <m:t>j</m:t>
                                  </m:r>
                                </m:e>
                              </m:d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sz="1400" i="1">
                                      <a:solidFill>
                                        <a:srgbClr val="EE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Courier New" panose="02070309020205020404" pitchFamily="49" charset="0"/>
                                      <a:cs typeface="Courier New" panose="02070309020205020404" pitchFamily="49" charset="0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1400">
                                      <a:solidFill>
                                        <a:srgbClr val="EE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Courier New" panose="02070309020205020404" pitchFamily="49" charset="0"/>
                                      <a:cs typeface="Courier New" panose="02070309020205020404" pitchFamily="49" charset="0"/>
                                    </a:rPr>
                                    <m:t>k</m:t>
                                  </m:r>
                                </m:e>
                              </m:d>
                            </m:e>
                          </m:nary>
                        </m:e>
                      </m:nary>
                      <m:r>
                        <a:rPr lang="en-US" sz="1400">
                          <a:solidFill>
                            <a:srgbClr val="EE0000"/>
                          </a:solidFill>
                          <a:effectLst/>
                          <a:latin typeface="Cambria Math" panose="02040503050406030204" pitchFamily="18" charset="0"/>
                          <a:ea typeface="Courier New" panose="02070309020205020404" pitchFamily="49" charset="0"/>
                          <a:cs typeface="Courier New" panose="02070309020205020404" pitchFamily="49" charset="0"/>
                        </a:rPr>
                        <m:t>=1  ∀ </m:t>
                      </m:r>
                      <m:r>
                        <m:rPr>
                          <m:sty m:val="p"/>
                        </m:rPr>
                        <a:rPr lang="en-US" sz="1400">
                          <a:solidFill>
                            <a:srgbClr val="EE0000"/>
                          </a:solidFill>
                          <a:effectLst/>
                          <a:latin typeface="Cambria Math" panose="02040503050406030204" pitchFamily="18" charset="0"/>
                          <a:ea typeface="Courier New" panose="02070309020205020404" pitchFamily="49" charset="0"/>
                          <a:cs typeface="Courier New" panose="02070309020205020404" pitchFamily="49" charset="0"/>
                        </a:rPr>
                        <m:t>j</m:t>
                      </m:r>
                      <m:r>
                        <a:rPr lang="en-US" sz="1400">
                          <a:solidFill>
                            <a:srgbClr val="EE0000"/>
                          </a:solidFill>
                          <a:effectLst/>
                          <a:latin typeface="Cambria Math" panose="02040503050406030204" pitchFamily="18" charset="0"/>
                          <a:ea typeface="Courier New" panose="02070309020205020404" pitchFamily="49" charset="0"/>
                          <a:cs typeface="Courier New" panose="02070309020205020404" pitchFamily="49" charset="0"/>
                        </a:rPr>
                        <m:t>=1,…,</m:t>
                      </m:r>
                      <m:r>
                        <m:rPr>
                          <m:sty m:val="p"/>
                        </m:rPr>
                        <a:rPr lang="en-US" sz="1400">
                          <a:solidFill>
                            <a:srgbClr val="EE0000"/>
                          </a:solidFill>
                          <a:effectLst/>
                          <a:latin typeface="Cambria Math" panose="02040503050406030204" pitchFamily="18" charset="0"/>
                          <a:ea typeface="Courier New" panose="02070309020205020404" pitchFamily="49" charset="0"/>
                          <a:cs typeface="Courier New" panose="02070309020205020404" pitchFamily="49" charset="0"/>
                        </a:rPr>
                        <m:t>N</m:t>
                      </m:r>
                    </m:oMath>
                  </m:oMathPara>
                </a14:m>
                <a:endParaRPr lang="en-US" sz="1400" b="0" dirty="0">
                  <a:solidFill>
                    <a:srgbClr val="C00000"/>
                  </a:solidFill>
                </a:endParaRPr>
              </a:p>
              <a:p>
                <a:pPr marL="0" indent="0">
                  <a:spcBef>
                    <a:spcPts val="300"/>
                  </a:spcBef>
                  <a:buNone/>
                </a:pPr>
                <a:r>
                  <a:rPr lang="en-US" sz="1400" b="0" dirty="0">
                    <a:latin typeface="Courier New"/>
                  </a:rPr>
                  <a:t>for j in range(1, N+1):</a:t>
                </a:r>
              </a:p>
              <a:p>
                <a:pPr marL="457200" indent="-457200">
                  <a:spcBef>
                    <a:spcPts val="300"/>
                  </a:spcBef>
                  <a:buNone/>
                </a:pPr>
                <a:r>
                  <a:rPr lang="en-US" sz="1400" b="0" dirty="0">
                    <a:latin typeface="Courier New"/>
                  </a:rPr>
                  <a:t>    model.Add(</a:t>
                </a:r>
              </a:p>
              <a:p>
                <a:pPr marL="914400" indent="-457200">
                  <a:spcBef>
                    <a:spcPts val="300"/>
                  </a:spcBef>
                  <a:buNone/>
                </a:pPr>
                <a:r>
                  <a:rPr lang="en-US" sz="1400" b="0" dirty="0">
                    <a:latin typeface="Courier New"/>
                  </a:rPr>
                  <a:t>        sum(x[i,j,k]  for k in range(1, K+1)</a:t>
                </a:r>
              </a:p>
              <a:p>
                <a:pPr marL="914400" indent="-457200">
                  <a:spcBef>
                    <a:spcPts val="300"/>
                  </a:spcBef>
                  <a:buNone/>
                </a:pPr>
                <a:r>
                  <a:rPr lang="en-US" sz="1400" b="0" dirty="0">
                    <a:latin typeface="Courier New"/>
                  </a:rPr>
                  <a:t>                      for i in range(N+1) if i != j)  ==  1</a:t>
                </a:r>
              </a:p>
              <a:p>
                <a:pPr marL="457200" indent="-457200">
                  <a:spcBef>
                    <a:spcPts val="300"/>
                  </a:spcBef>
                  <a:buNone/>
                </a:pPr>
                <a:r>
                  <a:rPr lang="en-US" sz="1400" b="0" dirty="0">
                    <a:latin typeface="Courier New"/>
                  </a:rPr>
                  <a:t>    )</a:t>
                </a:r>
              </a:p>
              <a:p>
                <a:pPr marL="0" indent="0">
                  <a:spcBef>
                    <a:spcPts val="300"/>
                  </a:spcBef>
                  <a:buNone/>
                </a:pPr>
                <a:endParaRPr lang="en-US" sz="1400" b="0" dirty="0">
                  <a:latin typeface="Courier New"/>
                </a:endParaRPr>
              </a:p>
              <a:p>
                <a:pPr marL="0" indent="0">
                  <a:spcBef>
                    <a:spcPts val="300"/>
                  </a:spcBef>
                  <a:buNone/>
                </a:pPr>
                <a:r>
                  <a:rPr lang="en-US" sz="1400" b="1" dirty="0"/>
                  <a:t>Constraint 2: Link between self_loop and x</a:t>
                </a:r>
              </a:p>
              <a:p>
                <a:pPr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pHide m:val="on"/>
                          <m:ctrlPr>
                            <a:rPr lang="en-US" sz="1400" i="1" smtClean="0">
                              <a:solidFill>
                                <a:srgbClr val="EE0000"/>
                              </a:solidFill>
                              <a:effectLst/>
                              <a:latin typeface="Cambria Math" panose="02040503050406030204" pitchFamily="18" charset="0"/>
                              <a:ea typeface="Courier New" panose="02070309020205020404" pitchFamily="49" charset="0"/>
                              <a:cs typeface="Courier New" panose="02070309020205020404" pitchFamily="49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</m:rPr>
                            <a:rPr lang="en-US" sz="1400">
                              <a:solidFill>
                                <a:srgbClr val="EE0000"/>
                              </a:solidFill>
                              <a:effectLst/>
                              <a:latin typeface="Cambria Math" panose="02040503050406030204" pitchFamily="18" charset="0"/>
                              <a:ea typeface="Courier New" panose="02070309020205020404" pitchFamily="49" charset="0"/>
                              <a:cs typeface="Courier New" panose="02070309020205020404" pitchFamily="49" charset="0"/>
                            </a:rPr>
                            <m:t>i</m:t>
                          </m:r>
                        </m:sub>
                        <m:sup/>
                        <m:e>
                          <m:r>
                            <m:rPr>
                              <m:sty m:val="p"/>
                            </m:rPr>
                            <a:rPr lang="en-US" sz="1400">
                              <a:solidFill>
                                <a:srgbClr val="EE0000"/>
                              </a:solidFill>
                              <a:effectLst/>
                              <a:latin typeface="Cambria Math" panose="02040503050406030204" pitchFamily="18" charset="0"/>
                              <a:ea typeface="Courier New" panose="02070309020205020404" pitchFamily="49" charset="0"/>
                              <a:cs typeface="Courier New" panose="02070309020205020404" pitchFamily="49" charset="0"/>
                            </a:rPr>
                            <m:t>x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sz="1400" i="1">
                                  <a:solidFill>
                                    <a:srgbClr val="EE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ourier New" panose="02070309020205020404" pitchFamily="49" charset="0"/>
                                  <a:cs typeface="Courier New" panose="02070309020205020404" pitchFamily="49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en-US" sz="1400">
                                  <a:solidFill>
                                    <a:srgbClr val="EE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ourier New" panose="02070309020205020404" pitchFamily="49" charset="0"/>
                                  <a:cs typeface="Courier New" panose="02070309020205020404" pitchFamily="49" charset="0"/>
                                </a:rPr>
                                <m:t>i</m:t>
                              </m:r>
                            </m:e>
                          </m:d>
                          <m:d>
                            <m:dPr>
                              <m:begChr m:val="["/>
                              <m:endChr m:val="]"/>
                              <m:ctrlPr>
                                <a:rPr lang="en-US" sz="1400" i="1">
                                  <a:solidFill>
                                    <a:srgbClr val="EE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ourier New" panose="02070309020205020404" pitchFamily="49" charset="0"/>
                                  <a:cs typeface="Courier New" panose="02070309020205020404" pitchFamily="49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en-US" sz="1400">
                                  <a:solidFill>
                                    <a:srgbClr val="EE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ourier New" panose="02070309020205020404" pitchFamily="49" charset="0"/>
                                  <a:cs typeface="Courier New" panose="02070309020205020404" pitchFamily="49" charset="0"/>
                                </a:rPr>
                                <m:t>j</m:t>
                              </m:r>
                            </m:e>
                          </m:d>
                          <m:d>
                            <m:dPr>
                              <m:begChr m:val="["/>
                              <m:endChr m:val="]"/>
                              <m:ctrlPr>
                                <a:rPr lang="en-US" sz="1400" i="1">
                                  <a:solidFill>
                                    <a:srgbClr val="EE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ourier New" panose="02070309020205020404" pitchFamily="49" charset="0"/>
                                  <a:cs typeface="Courier New" panose="02070309020205020404" pitchFamily="49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en-US" sz="1400">
                                  <a:solidFill>
                                    <a:srgbClr val="EE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ourier New" panose="02070309020205020404" pitchFamily="49" charset="0"/>
                                  <a:cs typeface="Courier New" panose="02070309020205020404" pitchFamily="49" charset="0"/>
                                </a:rPr>
                                <m:t>k</m:t>
                              </m:r>
                            </m:e>
                          </m:d>
                        </m:e>
                      </m:nary>
                      <m:r>
                        <a:rPr lang="en-US" sz="1400">
                          <a:solidFill>
                            <a:srgbClr val="EE0000"/>
                          </a:solidFill>
                          <a:effectLst/>
                          <a:latin typeface="Cambria Math" panose="02040503050406030204" pitchFamily="18" charset="0"/>
                          <a:ea typeface="Courier New" panose="02070309020205020404" pitchFamily="49" charset="0"/>
                          <a:cs typeface="Courier New" panose="02070309020205020404" pitchFamily="49" charset="0"/>
                        </a:rPr>
                        <m:t>+</m:t>
                      </m:r>
                      <m:r>
                        <m:rPr>
                          <m:nor/>
                        </m:rPr>
                        <a:rPr lang="en-US" sz="1400">
                          <a:solidFill>
                            <a:srgbClr val="EE0000"/>
                          </a:solidFill>
                          <a:effectLst/>
                          <a:latin typeface="Cambria Math" panose="02040503050406030204" pitchFamily="18" charset="0"/>
                          <a:ea typeface="Courier New" panose="02070309020205020404" pitchFamily="49" charset="0"/>
                          <a:cs typeface="Courier New" panose="02070309020205020404" pitchFamily="49" charset="0"/>
                        </a:rPr>
                        <m:t>self</m:t>
                      </m:r>
                      <m:r>
                        <m:rPr>
                          <m:lit/>
                          <m:nor/>
                        </m:rPr>
                        <a:rPr lang="en-US" sz="1400">
                          <a:solidFill>
                            <a:srgbClr val="EE0000"/>
                          </a:solidFill>
                          <a:effectLst/>
                          <a:latin typeface="Cambria Math" panose="02040503050406030204" pitchFamily="18" charset="0"/>
                          <a:ea typeface="Courier New" panose="02070309020205020404" pitchFamily="49" charset="0"/>
                          <a:cs typeface="Courier New" panose="02070309020205020404" pitchFamily="49" charset="0"/>
                        </a:rPr>
                        <m:t>_</m:t>
                      </m:r>
                      <m:r>
                        <m:rPr>
                          <m:nor/>
                        </m:rPr>
                        <a:rPr lang="en-US" sz="1400">
                          <a:solidFill>
                            <a:srgbClr val="EE0000"/>
                          </a:solidFill>
                          <a:effectLst/>
                          <a:latin typeface="Cambria Math" panose="02040503050406030204" pitchFamily="18" charset="0"/>
                          <a:ea typeface="Courier New" panose="02070309020205020404" pitchFamily="49" charset="0"/>
                          <a:cs typeface="Courier New" panose="02070309020205020404" pitchFamily="49" charset="0"/>
                        </a:rPr>
                        <m:t>loop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400" i="1">
                              <a:solidFill>
                                <a:srgbClr val="EE0000"/>
                              </a:solidFill>
                              <a:effectLst/>
                              <a:latin typeface="Cambria Math" panose="02040503050406030204" pitchFamily="18" charset="0"/>
                              <a:ea typeface="Courier New" panose="02070309020205020404" pitchFamily="49" charset="0"/>
                              <a:cs typeface="Courier New" panose="02070309020205020404" pitchFamily="49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1400">
                              <a:solidFill>
                                <a:srgbClr val="EE0000"/>
                              </a:solidFill>
                              <a:effectLst/>
                              <a:latin typeface="Cambria Math" panose="02040503050406030204" pitchFamily="18" charset="0"/>
                              <a:ea typeface="Courier New" panose="02070309020205020404" pitchFamily="49" charset="0"/>
                              <a:cs typeface="Courier New" panose="02070309020205020404" pitchFamily="49" charset="0"/>
                            </a:rPr>
                            <m:t>j</m:t>
                          </m:r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en-US" sz="1400" i="1">
                              <a:solidFill>
                                <a:srgbClr val="EE0000"/>
                              </a:solidFill>
                              <a:effectLst/>
                              <a:latin typeface="Cambria Math" panose="02040503050406030204" pitchFamily="18" charset="0"/>
                              <a:ea typeface="Courier New" panose="02070309020205020404" pitchFamily="49" charset="0"/>
                              <a:cs typeface="Courier New" panose="02070309020205020404" pitchFamily="49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1400">
                              <a:solidFill>
                                <a:srgbClr val="EE0000"/>
                              </a:solidFill>
                              <a:effectLst/>
                              <a:latin typeface="Cambria Math" panose="02040503050406030204" pitchFamily="18" charset="0"/>
                              <a:ea typeface="Courier New" panose="02070309020205020404" pitchFamily="49" charset="0"/>
                              <a:cs typeface="Courier New" panose="02070309020205020404" pitchFamily="49" charset="0"/>
                            </a:rPr>
                            <m:t>k</m:t>
                          </m:r>
                        </m:e>
                      </m:d>
                      <m:r>
                        <a:rPr lang="en-US" sz="1400">
                          <a:solidFill>
                            <a:srgbClr val="EE0000"/>
                          </a:solidFill>
                          <a:effectLst/>
                          <a:latin typeface="Cambria Math" panose="02040503050406030204" pitchFamily="18" charset="0"/>
                          <a:ea typeface="Courier New" panose="02070309020205020404" pitchFamily="49" charset="0"/>
                          <a:cs typeface="Courier New" panose="02070309020205020404" pitchFamily="49" charset="0"/>
                        </a:rPr>
                        <m:t>=1  ∀ </m:t>
                      </m:r>
                      <m:r>
                        <m:rPr>
                          <m:sty m:val="p"/>
                        </m:rPr>
                        <a:rPr lang="en-US" sz="1400">
                          <a:solidFill>
                            <a:srgbClr val="EE0000"/>
                          </a:solidFill>
                          <a:effectLst/>
                          <a:latin typeface="Cambria Math" panose="02040503050406030204" pitchFamily="18" charset="0"/>
                          <a:ea typeface="Courier New" panose="02070309020205020404" pitchFamily="49" charset="0"/>
                          <a:cs typeface="Courier New" panose="02070309020205020404" pitchFamily="49" charset="0"/>
                        </a:rPr>
                        <m:t>j</m:t>
                      </m:r>
                      <m:r>
                        <a:rPr lang="en-US" sz="1400">
                          <a:solidFill>
                            <a:srgbClr val="EE0000"/>
                          </a:solidFill>
                          <a:effectLst/>
                          <a:latin typeface="Cambria Math" panose="02040503050406030204" pitchFamily="18" charset="0"/>
                          <a:ea typeface="Courier New" panose="02070309020205020404" pitchFamily="49" charset="0"/>
                          <a:cs typeface="Courier New" panose="02070309020205020404" pitchFamily="49" charset="0"/>
                        </a:rPr>
                        <m:t>, ∀ </m:t>
                      </m:r>
                      <m:r>
                        <m:rPr>
                          <m:sty m:val="p"/>
                        </m:rPr>
                        <a:rPr lang="en-US" sz="1400">
                          <a:solidFill>
                            <a:srgbClr val="EE0000"/>
                          </a:solidFill>
                          <a:effectLst/>
                          <a:latin typeface="Cambria Math" panose="02040503050406030204" pitchFamily="18" charset="0"/>
                          <a:ea typeface="Courier New" panose="02070309020205020404" pitchFamily="49" charset="0"/>
                          <a:cs typeface="Courier New" panose="02070309020205020404" pitchFamily="49" charset="0"/>
                        </a:rPr>
                        <m:t>k</m:t>
                      </m:r>
                    </m:oMath>
                  </m:oMathPara>
                </a14:m>
                <a:endParaRPr lang="en-US" sz="1800">
                  <a:effectLst/>
                  <a:latin typeface="Arial" panose="020B0604020202020204" pitchFamily="34" charset="0"/>
                  <a:ea typeface="Arial" panose="020B0604020202020204" pitchFamily="34" charset="0"/>
                </a:endParaRPr>
              </a:p>
              <a:p>
                <a:pPr marL="457200" indent="-457200">
                  <a:spcBef>
                    <a:spcPts val="300"/>
                  </a:spcBef>
                  <a:buNone/>
                </a:pPr>
                <a:r>
                  <a:rPr lang="en-US" sz="1400" b="0" dirty="0"/>
                  <a:t>Either technician k visits j (incoming x sums to 1) OR self_loop is active (k skips j).</a:t>
                </a:r>
              </a:p>
              <a:p>
                <a:pPr marL="0" indent="0">
                  <a:spcBef>
                    <a:spcPts val="300"/>
                  </a:spcBef>
                  <a:buNone/>
                </a:pPr>
                <a:endParaRPr lang="en-US" sz="1400" b="0" dirty="0"/>
              </a:p>
              <a:p>
                <a:pPr marL="0" indent="0">
                  <a:spcBef>
                    <a:spcPts val="300"/>
                  </a:spcBef>
                  <a:buNone/>
                </a:pPr>
                <a:r>
                  <a:rPr lang="en-US" sz="1400" b="0" dirty="0">
                    <a:latin typeface="Courier New"/>
                  </a:rPr>
                  <a:t>for j in range(1, N+1):</a:t>
                </a:r>
              </a:p>
              <a:p>
                <a:pPr marL="457200" indent="-457200">
                  <a:spcBef>
                    <a:spcPts val="300"/>
                  </a:spcBef>
                  <a:buNone/>
                </a:pPr>
                <a:r>
                  <a:rPr lang="en-US" sz="1400" b="0" dirty="0">
                    <a:latin typeface="Courier New"/>
                  </a:rPr>
                  <a:t>    for k in range(1, K+1):</a:t>
                </a:r>
              </a:p>
              <a:p>
                <a:pPr marL="914400" indent="-457200">
                  <a:spcBef>
                    <a:spcPts val="300"/>
                  </a:spcBef>
                  <a:buNone/>
                </a:pPr>
                <a:r>
                  <a:rPr lang="en-US" sz="1400" b="0" dirty="0">
                    <a:latin typeface="Courier New"/>
                  </a:rPr>
                  <a:t>        model.Add(</a:t>
                </a:r>
              </a:p>
              <a:p>
                <a:pPr marL="1371600" indent="-457200">
                  <a:spcBef>
                    <a:spcPts val="300"/>
                  </a:spcBef>
                  <a:buNone/>
                </a:pPr>
                <a:r>
                  <a:rPr lang="en-US" sz="1400" b="0" dirty="0">
                    <a:latin typeface="Courier New"/>
                  </a:rPr>
                  <a:t>            sum(x[i,j,k] for i in range(N+1) if i!=j)</a:t>
                </a:r>
              </a:p>
              <a:p>
                <a:pPr marL="1371600" indent="-457200">
                  <a:spcBef>
                    <a:spcPts val="300"/>
                  </a:spcBef>
                  <a:buNone/>
                </a:pPr>
                <a:r>
                  <a:rPr lang="en-US" sz="1400" b="0" dirty="0">
                    <a:latin typeface="Courier New"/>
                  </a:rPr>
                  <a:t>            + self_loop[j, k]  ==  1</a:t>
                </a:r>
              </a:p>
              <a:p>
                <a:pPr marL="914400" indent="-457200">
                  <a:spcBef>
                    <a:spcPts val="300"/>
                  </a:spcBef>
                  <a:buNone/>
                </a:pPr>
                <a:r>
                  <a:rPr lang="en-US" sz="1400" b="0" dirty="0">
                    <a:latin typeface="Courier New"/>
                  </a:rPr>
                  <a:t>        )</a:t>
                </a:r>
              </a:p>
              <a:p>
                <a:pPr>
                  <a:spcBef>
                    <a:spcPts val="300"/>
                  </a:spcBef>
                </a:pPr>
                <a:endParaRPr lang="en-US" sz="1400" dirty="0"/>
              </a:p>
            </p:txBody>
          </p:sp>
        </mc:Choice>
        <mc:Fallback>
          <p:sp>
            <p:nvSpPr>
              <p:cNvPr id="3" name="Content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3"/>
              </p:nvPr>
            </p:nvSpPr>
            <p:spPr>
              <a:blipFill>
                <a:blip r:embed="rId2"/>
                <a:stretch>
                  <a:fillRect l="-211" t="-459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600" dirty="0"/>
              <a:t>5.4 Constraint (3): AddCircuit — Valid Route Structure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"/>
              <p:cNvSpPr>
                <a:spLocks noGrp="1"/>
              </p:cNvSpPr>
              <p:nvPr>
                <p:ph sz="quarter" idx="13"/>
              </p:nvPr>
            </p:nvSpPr>
            <p:spPr/>
            <p:txBody>
              <a:bodyPr/>
              <a:lstStyle/>
              <a:p>
                <a:pPr marL="0" indent="0">
                  <a:spcBef>
                    <a:spcPts val="600"/>
                  </a:spcBef>
                  <a:buNone/>
                </a:pPr>
                <a:r>
                  <a:rPr lang="en-US" sz="1400" b="0" dirty="0"/>
                  <a:t>AddCircuit simultaneously replaces THREE constraint groups:</a:t>
                </a:r>
              </a:p>
              <a:p>
                <a:pPr marL="457200" indent="-457200">
                  <a:spcBef>
                    <a:spcPts val="600"/>
                  </a:spcBef>
                  <a:buNone/>
                </a:pPr>
                <a:r>
                  <a:rPr lang="en-US" sz="1400" b="0" dirty="0"/>
                  <a:t>  ① Flow conservation (in-degree = out-degree at every node)</a:t>
                </a:r>
              </a:p>
              <a:p>
                <a:pPr marL="457200" indent="-457200">
                  <a:spcBef>
                    <a:spcPts val="600"/>
                  </a:spcBef>
                  <a:buNone/>
                </a:pPr>
                <a:r>
                  <a:rPr lang="en-US" sz="1400" b="0" dirty="0"/>
                  <a:t>  ② Depot constraint (route starts and ends at node 0)</a:t>
                </a:r>
              </a:p>
              <a:p>
                <a:pPr marL="457200" indent="-457200">
                  <a:spcBef>
                    <a:spcPts val="600"/>
                  </a:spcBef>
                  <a:buNone/>
                </a:pPr>
                <a:r>
                  <a:rPr lang="en-US" sz="1400" b="0" dirty="0"/>
                  <a:t>  ③ Subtour elimination (replaces MTZ constraints)</a:t>
                </a:r>
              </a:p>
              <a:p>
                <a:pPr marL="0" indent="0">
                  <a:spcBef>
                    <a:spcPts val="600"/>
                  </a:spcBef>
                  <a:buNone/>
                </a:pPr>
                <a:endParaRPr lang="en-US" sz="1400" b="0" dirty="0"/>
              </a:p>
              <a:p>
                <a:pPr marL="0" indent="0">
                  <a:spcBef>
                    <a:spcPts val="600"/>
                  </a:spcBef>
                  <a:buNone/>
                </a:pPr>
                <a:r>
                  <a:rPr lang="en-US" sz="1400" b="1" dirty="0"/>
                  <a:t>Mathematical formulation:</a:t>
                </a:r>
              </a:p>
              <a:p>
                <a:pPr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z="1400" smtClean="0">
                          <a:solidFill>
                            <a:srgbClr val="EE0000"/>
                          </a:solidFill>
                          <a:effectLst/>
                          <a:latin typeface="Cambria Math" panose="02040503050406030204" pitchFamily="18" charset="0"/>
                          <a:ea typeface="Courier New" panose="02070309020205020404" pitchFamily="49" charset="0"/>
                          <a:cs typeface="Courier New" panose="02070309020205020404" pitchFamily="49" charset="0"/>
                        </a:rPr>
                        <m:t>AddCircuit</m:t>
                      </m:r>
                      <m:r>
                        <a:rPr lang="en-US" sz="1400">
                          <a:solidFill>
                            <a:srgbClr val="EE0000"/>
                          </a:solidFill>
                          <a:effectLst/>
                          <a:latin typeface="Cambria Math" panose="02040503050406030204" pitchFamily="18" charset="0"/>
                          <a:ea typeface="Courier New" panose="02070309020205020404" pitchFamily="49" charset="0"/>
                          <a:cs typeface="Courier New" panose="02070309020205020404" pitchFamily="49" charset="0"/>
                        </a:rPr>
                        <m:t>​</m:t>
                      </m:r>
                      <m:d>
                        <m:dPr>
                          <m:ctrlPr>
                            <a:rPr lang="en-US" sz="1400" i="1">
                              <a:solidFill>
                                <a:srgbClr val="EE0000"/>
                              </a:solidFill>
                              <a:effectLst/>
                              <a:latin typeface="Cambria Math" panose="02040503050406030204" pitchFamily="18" charset="0"/>
                              <a:ea typeface="Courier New" panose="02070309020205020404" pitchFamily="49" charset="0"/>
                              <a:cs typeface="Courier New" panose="02070309020205020404" pitchFamily="49" charset="0"/>
                            </a:rPr>
                          </m:ctrlPr>
                        </m:dPr>
                        <m:e>
                          <m:r>
                            <m:rPr>
                              <m:lit/>
                            </m:rPr>
                            <a:rPr lang="en-US" sz="1400">
                              <a:solidFill>
                                <a:srgbClr val="EE0000"/>
                              </a:solidFill>
                              <a:effectLst/>
                              <a:latin typeface="Cambria Math" panose="02040503050406030204" pitchFamily="18" charset="0"/>
                              <a:ea typeface="Courier New" panose="02070309020205020404" pitchFamily="49" charset="0"/>
                              <a:cs typeface="Courier New" panose="02070309020205020404" pitchFamily="49" charset="0"/>
                            </a:rPr>
                            <m:t>{</m:t>
                          </m:r>
                          <m:d>
                            <m:dPr>
                              <m:ctrlPr>
                                <a:rPr lang="en-US" sz="1400" i="1">
                                  <a:solidFill>
                                    <a:srgbClr val="EE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ourier New" panose="02070309020205020404" pitchFamily="49" charset="0"/>
                                  <a:cs typeface="Courier New" panose="02070309020205020404" pitchFamily="49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en-US" sz="1400">
                                  <a:solidFill>
                                    <a:srgbClr val="EE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ourier New" panose="02070309020205020404" pitchFamily="49" charset="0"/>
                                  <a:cs typeface="Courier New" panose="02070309020205020404" pitchFamily="49" charset="0"/>
                                </a:rPr>
                                <m:t>i</m:t>
                              </m:r>
                              <m:r>
                                <a:rPr lang="en-US" sz="1400">
                                  <a:solidFill>
                                    <a:srgbClr val="EE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ourier New" panose="02070309020205020404" pitchFamily="49" charset="0"/>
                                  <a:cs typeface="Courier New" panose="02070309020205020404" pitchFamily="49" charset="0"/>
                                </a:rPr>
                                <m:t>,</m:t>
                              </m:r>
                              <m:r>
                                <m:rPr>
                                  <m:sty m:val="p"/>
                                </m:rPr>
                                <a:rPr lang="en-US" sz="1400">
                                  <a:solidFill>
                                    <a:srgbClr val="EE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ourier New" panose="02070309020205020404" pitchFamily="49" charset="0"/>
                                  <a:cs typeface="Courier New" panose="02070309020205020404" pitchFamily="49" charset="0"/>
                                </a:rPr>
                                <m:t>i</m:t>
                              </m:r>
                              <m:r>
                                <a:rPr lang="en-US" sz="1400">
                                  <a:solidFill>
                                    <a:srgbClr val="EE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ourier New" panose="02070309020205020404" pitchFamily="49" charset="0"/>
                                  <a:cs typeface="Courier New" panose="02070309020205020404" pitchFamily="49" charset="0"/>
                                </a:rPr>
                                <m:t>, </m:t>
                              </m:r>
                              <m:r>
                                <m:rPr>
                                  <m:nor/>
                                </m:rPr>
                                <a:rPr lang="en-US" sz="1400">
                                  <a:solidFill>
                                    <a:srgbClr val="EE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ourier New" panose="02070309020205020404" pitchFamily="49" charset="0"/>
                                  <a:cs typeface="Courier New" panose="02070309020205020404" pitchFamily="49" charset="0"/>
                                </a:rPr>
                                <m:t>self</m:t>
                              </m:r>
                              <m:r>
                                <m:rPr>
                                  <m:lit/>
                                  <m:nor/>
                                </m:rPr>
                                <a:rPr lang="en-US" sz="1400">
                                  <a:solidFill>
                                    <a:srgbClr val="EE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ourier New" panose="02070309020205020404" pitchFamily="49" charset="0"/>
                                  <a:cs typeface="Courier New" panose="02070309020205020404" pitchFamily="49" charset="0"/>
                                </a:rPr>
                                <m:t>_</m:t>
                              </m:r>
                              <m:r>
                                <m:rPr>
                                  <m:nor/>
                                </m:rPr>
                                <a:rPr lang="en-US" sz="1400">
                                  <a:solidFill>
                                    <a:srgbClr val="EE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ourier New" panose="02070309020205020404" pitchFamily="49" charset="0"/>
                                  <a:cs typeface="Courier New" panose="02070309020205020404" pitchFamily="49" charset="0"/>
                                </a:rPr>
                                <m:t>loop</m:t>
                              </m:r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sz="1400" i="1">
                                      <a:solidFill>
                                        <a:srgbClr val="EE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Courier New" panose="02070309020205020404" pitchFamily="49" charset="0"/>
                                      <a:cs typeface="Courier New" panose="02070309020205020404" pitchFamily="49" charset="0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1400">
                                      <a:solidFill>
                                        <a:srgbClr val="EE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Courier New" panose="02070309020205020404" pitchFamily="49" charset="0"/>
                                      <a:cs typeface="Courier New" panose="02070309020205020404" pitchFamily="49" charset="0"/>
                                    </a:rPr>
                                    <m:t>i</m:t>
                                  </m:r>
                                </m:e>
                              </m:d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sz="1400" i="1">
                                      <a:solidFill>
                                        <a:srgbClr val="EE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Courier New" panose="02070309020205020404" pitchFamily="49" charset="0"/>
                                      <a:cs typeface="Courier New" panose="02070309020205020404" pitchFamily="49" charset="0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1400">
                                      <a:solidFill>
                                        <a:srgbClr val="EE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Courier New" panose="02070309020205020404" pitchFamily="49" charset="0"/>
                                      <a:cs typeface="Courier New" panose="02070309020205020404" pitchFamily="49" charset="0"/>
                                    </a:rPr>
                                    <m:t>k</m:t>
                                  </m:r>
                                </m:e>
                              </m:d>
                            </m:e>
                          </m:d>
                          <m:r>
                            <a:rPr lang="en-US" sz="1400">
                              <a:solidFill>
                                <a:srgbClr val="EE0000"/>
                              </a:solidFill>
                              <a:effectLst/>
                              <a:latin typeface="Cambria Math" panose="02040503050406030204" pitchFamily="18" charset="0"/>
                              <a:ea typeface="Courier New" panose="02070309020205020404" pitchFamily="49" charset="0"/>
                              <a:cs typeface="Courier New" panose="02070309020205020404" pitchFamily="49" charset="0"/>
                            </a:rPr>
                            <m:t>:</m:t>
                          </m:r>
                          <m:r>
                            <m:rPr>
                              <m:sty m:val="p"/>
                            </m:rPr>
                            <a:rPr lang="en-US" sz="1400">
                              <a:solidFill>
                                <a:srgbClr val="EE0000"/>
                              </a:solidFill>
                              <a:effectLst/>
                              <a:latin typeface="Cambria Math" panose="02040503050406030204" pitchFamily="18" charset="0"/>
                              <a:ea typeface="Courier New" panose="02070309020205020404" pitchFamily="49" charset="0"/>
                              <a:cs typeface="Courier New" panose="02070309020205020404" pitchFamily="49" charset="0"/>
                            </a:rPr>
                            <m:t>i</m:t>
                          </m:r>
                          <m:r>
                            <a:rPr lang="en-US" sz="1400">
                              <a:solidFill>
                                <a:srgbClr val="EE0000"/>
                              </a:solidFill>
                              <a:effectLst/>
                              <a:latin typeface="Cambria Math" panose="02040503050406030204" pitchFamily="18" charset="0"/>
                              <a:ea typeface="Courier New" panose="02070309020205020404" pitchFamily="49" charset="0"/>
                              <a:cs typeface="Courier New" panose="02070309020205020404" pitchFamily="49" charset="0"/>
                            </a:rPr>
                            <m:t>=1..</m:t>
                          </m:r>
                          <m:r>
                            <m:rPr>
                              <m:sty m:val="p"/>
                            </m:rPr>
                            <a:rPr lang="en-US" sz="1400">
                              <a:solidFill>
                                <a:srgbClr val="EE0000"/>
                              </a:solidFill>
                              <a:effectLst/>
                              <a:latin typeface="Cambria Math" panose="02040503050406030204" pitchFamily="18" charset="0"/>
                              <a:ea typeface="Courier New" panose="02070309020205020404" pitchFamily="49" charset="0"/>
                              <a:cs typeface="Courier New" panose="02070309020205020404" pitchFamily="49" charset="0"/>
                            </a:rPr>
                            <m:t>N</m:t>
                          </m:r>
                          <m:r>
                            <m:rPr>
                              <m:lit/>
                            </m:rPr>
                            <a:rPr lang="en-US" sz="1400">
                              <a:solidFill>
                                <a:srgbClr val="EE0000"/>
                              </a:solidFill>
                              <a:effectLst/>
                              <a:latin typeface="Cambria Math" panose="02040503050406030204" pitchFamily="18" charset="0"/>
                              <a:ea typeface="Courier New" panose="02070309020205020404" pitchFamily="49" charset="0"/>
                              <a:cs typeface="Courier New" panose="02070309020205020404" pitchFamily="49" charset="0"/>
                            </a:rPr>
                            <m:t>}</m:t>
                          </m:r>
                          <m:r>
                            <a:rPr lang="en-US" sz="1400">
                              <a:solidFill>
                                <a:srgbClr val="EE0000"/>
                              </a:solidFill>
                              <a:effectLst/>
                              <a:latin typeface="Cambria Math" panose="02040503050406030204" pitchFamily="18" charset="0"/>
                              <a:ea typeface="Courier New" panose="02070309020205020404" pitchFamily="49" charset="0"/>
                              <a:cs typeface="Courier New" panose="02070309020205020404" pitchFamily="49" charset="0"/>
                            </a:rPr>
                            <m:t>∪</m:t>
                          </m:r>
                          <m:r>
                            <m:rPr>
                              <m:lit/>
                            </m:rPr>
                            <a:rPr lang="en-US" sz="1400">
                              <a:solidFill>
                                <a:srgbClr val="EE0000"/>
                              </a:solidFill>
                              <a:effectLst/>
                              <a:latin typeface="Cambria Math" panose="02040503050406030204" pitchFamily="18" charset="0"/>
                              <a:ea typeface="Courier New" panose="02070309020205020404" pitchFamily="49" charset="0"/>
                              <a:cs typeface="Courier New" panose="02070309020205020404" pitchFamily="49" charset="0"/>
                            </a:rPr>
                            <m:t>{</m:t>
                          </m:r>
                          <m:d>
                            <m:dPr>
                              <m:ctrlPr>
                                <a:rPr lang="en-US" sz="1400" i="1">
                                  <a:solidFill>
                                    <a:srgbClr val="EE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ourier New" panose="02070309020205020404" pitchFamily="49" charset="0"/>
                                  <a:cs typeface="Courier New" panose="02070309020205020404" pitchFamily="49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en-US" sz="1400">
                                  <a:solidFill>
                                    <a:srgbClr val="EE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ourier New" panose="02070309020205020404" pitchFamily="49" charset="0"/>
                                  <a:cs typeface="Courier New" panose="02070309020205020404" pitchFamily="49" charset="0"/>
                                </a:rPr>
                                <m:t>i</m:t>
                              </m:r>
                              <m:r>
                                <a:rPr lang="en-US" sz="1400">
                                  <a:solidFill>
                                    <a:srgbClr val="EE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ourier New" panose="02070309020205020404" pitchFamily="49" charset="0"/>
                                  <a:cs typeface="Courier New" panose="02070309020205020404" pitchFamily="49" charset="0"/>
                                </a:rPr>
                                <m:t>,</m:t>
                              </m:r>
                              <m:r>
                                <m:rPr>
                                  <m:sty m:val="p"/>
                                </m:rPr>
                                <a:rPr lang="en-US" sz="1400">
                                  <a:solidFill>
                                    <a:srgbClr val="EE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ourier New" panose="02070309020205020404" pitchFamily="49" charset="0"/>
                                  <a:cs typeface="Courier New" panose="02070309020205020404" pitchFamily="49" charset="0"/>
                                </a:rPr>
                                <m:t>j</m:t>
                              </m:r>
                              <m:r>
                                <a:rPr lang="en-US" sz="1400">
                                  <a:solidFill>
                                    <a:srgbClr val="EE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ourier New" panose="02070309020205020404" pitchFamily="49" charset="0"/>
                                  <a:cs typeface="Courier New" panose="02070309020205020404" pitchFamily="49" charset="0"/>
                                </a:rPr>
                                <m:t>, </m:t>
                              </m:r>
                              <m:r>
                                <m:rPr>
                                  <m:sty m:val="p"/>
                                </m:rPr>
                                <a:rPr lang="en-US" sz="1400">
                                  <a:solidFill>
                                    <a:srgbClr val="EE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ourier New" panose="02070309020205020404" pitchFamily="49" charset="0"/>
                                  <a:cs typeface="Courier New" panose="02070309020205020404" pitchFamily="49" charset="0"/>
                                </a:rPr>
                                <m:t>x</m:t>
                              </m:r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sz="1400" i="1">
                                      <a:solidFill>
                                        <a:srgbClr val="EE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Courier New" panose="02070309020205020404" pitchFamily="49" charset="0"/>
                                      <a:cs typeface="Courier New" panose="02070309020205020404" pitchFamily="49" charset="0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1400">
                                      <a:solidFill>
                                        <a:srgbClr val="EE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Courier New" panose="02070309020205020404" pitchFamily="49" charset="0"/>
                                      <a:cs typeface="Courier New" panose="02070309020205020404" pitchFamily="49" charset="0"/>
                                    </a:rPr>
                                    <m:t>i</m:t>
                                  </m:r>
                                </m:e>
                              </m:d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sz="1400" i="1">
                                      <a:solidFill>
                                        <a:srgbClr val="EE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Courier New" panose="02070309020205020404" pitchFamily="49" charset="0"/>
                                      <a:cs typeface="Courier New" panose="02070309020205020404" pitchFamily="49" charset="0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1400">
                                      <a:solidFill>
                                        <a:srgbClr val="EE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Courier New" panose="02070309020205020404" pitchFamily="49" charset="0"/>
                                      <a:cs typeface="Courier New" panose="02070309020205020404" pitchFamily="49" charset="0"/>
                                    </a:rPr>
                                    <m:t>j</m:t>
                                  </m:r>
                                </m:e>
                              </m:d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sz="1400" i="1">
                                      <a:solidFill>
                                        <a:srgbClr val="EE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Courier New" panose="02070309020205020404" pitchFamily="49" charset="0"/>
                                      <a:cs typeface="Courier New" panose="02070309020205020404" pitchFamily="49" charset="0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1400">
                                      <a:solidFill>
                                        <a:srgbClr val="EE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Courier New" panose="02070309020205020404" pitchFamily="49" charset="0"/>
                                      <a:cs typeface="Courier New" panose="02070309020205020404" pitchFamily="49" charset="0"/>
                                    </a:rPr>
                                    <m:t>k</m:t>
                                  </m:r>
                                </m:e>
                              </m:d>
                            </m:e>
                          </m:d>
                          <m:r>
                            <a:rPr lang="en-US" sz="1400">
                              <a:solidFill>
                                <a:srgbClr val="EE0000"/>
                              </a:solidFill>
                              <a:effectLst/>
                              <a:latin typeface="Cambria Math" panose="02040503050406030204" pitchFamily="18" charset="0"/>
                              <a:ea typeface="Courier New" panose="02070309020205020404" pitchFamily="49" charset="0"/>
                              <a:cs typeface="Courier New" panose="02070309020205020404" pitchFamily="49" charset="0"/>
                            </a:rPr>
                            <m:t>:</m:t>
                          </m:r>
                          <m:r>
                            <m:rPr>
                              <m:sty m:val="p"/>
                            </m:rPr>
                            <a:rPr lang="en-US" sz="1400">
                              <a:solidFill>
                                <a:srgbClr val="EE0000"/>
                              </a:solidFill>
                              <a:effectLst/>
                              <a:latin typeface="Cambria Math" panose="02040503050406030204" pitchFamily="18" charset="0"/>
                              <a:ea typeface="Courier New" panose="02070309020205020404" pitchFamily="49" charset="0"/>
                              <a:cs typeface="Courier New" panose="02070309020205020404" pitchFamily="49" charset="0"/>
                            </a:rPr>
                            <m:t>i</m:t>
                          </m:r>
                          <m:r>
                            <a:rPr lang="en-US" sz="1400">
                              <a:solidFill>
                                <a:srgbClr val="EE0000"/>
                              </a:solidFill>
                              <a:effectLst/>
                              <a:latin typeface="Cambria Math" panose="02040503050406030204" pitchFamily="18" charset="0"/>
                              <a:ea typeface="Courier New" panose="02070309020205020404" pitchFamily="49" charset="0"/>
                              <a:cs typeface="Courier New" panose="02070309020205020404" pitchFamily="49" charset="0"/>
                            </a:rPr>
                            <m:t>≠</m:t>
                          </m:r>
                          <m:r>
                            <m:rPr>
                              <m:sty m:val="p"/>
                            </m:rPr>
                            <a:rPr lang="en-US" sz="1400">
                              <a:solidFill>
                                <a:srgbClr val="EE0000"/>
                              </a:solidFill>
                              <a:effectLst/>
                              <a:latin typeface="Cambria Math" panose="02040503050406030204" pitchFamily="18" charset="0"/>
                              <a:ea typeface="Courier New" panose="02070309020205020404" pitchFamily="49" charset="0"/>
                              <a:cs typeface="Courier New" panose="02070309020205020404" pitchFamily="49" charset="0"/>
                            </a:rPr>
                            <m:t>j</m:t>
                          </m:r>
                          <m:r>
                            <m:rPr>
                              <m:lit/>
                            </m:rPr>
                            <a:rPr lang="en-US" sz="1400">
                              <a:solidFill>
                                <a:srgbClr val="EE0000"/>
                              </a:solidFill>
                              <a:effectLst/>
                              <a:latin typeface="Cambria Math" panose="02040503050406030204" pitchFamily="18" charset="0"/>
                              <a:ea typeface="Courier New" panose="02070309020205020404" pitchFamily="49" charset="0"/>
                              <a:cs typeface="Courier New" panose="02070309020205020404" pitchFamily="49" charset="0"/>
                            </a:rPr>
                            <m:t>}</m:t>
                          </m:r>
                        </m:e>
                      </m:d>
                      <m:r>
                        <a:rPr lang="en-US" sz="1400">
                          <a:solidFill>
                            <a:srgbClr val="EE0000"/>
                          </a:solidFill>
                          <a:effectLst/>
                          <a:latin typeface="Cambria Math" panose="02040503050406030204" pitchFamily="18" charset="0"/>
                          <a:ea typeface="Courier New" panose="02070309020205020404" pitchFamily="49" charset="0"/>
                          <a:cs typeface="Courier New" panose="02070309020205020404" pitchFamily="49" charset="0"/>
                        </a:rPr>
                        <m:t> ∀ </m:t>
                      </m:r>
                      <m:r>
                        <m:rPr>
                          <m:sty m:val="p"/>
                        </m:rPr>
                        <a:rPr lang="en-US" sz="1400">
                          <a:solidFill>
                            <a:srgbClr val="EE0000"/>
                          </a:solidFill>
                          <a:effectLst/>
                          <a:latin typeface="Cambria Math" panose="02040503050406030204" pitchFamily="18" charset="0"/>
                          <a:ea typeface="Courier New" panose="02070309020205020404" pitchFamily="49" charset="0"/>
                          <a:cs typeface="Courier New" panose="02070309020205020404" pitchFamily="49" charset="0"/>
                        </a:rPr>
                        <m:t>k</m:t>
                      </m:r>
                    </m:oMath>
                  </m:oMathPara>
                </a14:m>
                <a:endParaRPr lang="en-US" sz="1800">
                  <a:effectLst/>
                  <a:latin typeface="Arial" panose="020B0604020202020204" pitchFamily="34" charset="0"/>
                  <a:ea typeface="Arial" panose="020B0604020202020204" pitchFamily="34" charset="0"/>
                </a:endParaRPr>
              </a:p>
              <a:p>
                <a:pPr marL="0" indent="0">
                  <a:spcBef>
                    <a:spcPts val="600"/>
                  </a:spcBef>
                  <a:buNone/>
                </a:pPr>
                <a:endParaRPr lang="en-US" sz="1400" b="0" dirty="0">
                  <a:solidFill>
                    <a:srgbClr val="C00000"/>
                  </a:solidFill>
                </a:endParaRPr>
              </a:p>
              <a:p>
                <a:pPr marL="0" indent="0">
                  <a:spcBef>
                    <a:spcPts val="600"/>
                  </a:spcBef>
                  <a:buNone/>
                </a:pPr>
                <a:r>
                  <a:rPr lang="en-US" sz="1400" b="1" dirty="0"/>
                  <a:t>Python code:</a:t>
                </a:r>
              </a:p>
              <a:p>
                <a:pPr marL="0" indent="0">
                  <a:spcBef>
                    <a:spcPts val="600"/>
                  </a:spcBef>
                  <a:buNone/>
                </a:pPr>
                <a:r>
                  <a:rPr lang="en-US" sz="1400" b="0" dirty="0">
                    <a:latin typeface="Courier New"/>
                  </a:rPr>
                  <a:t>for k in range(1, K+1):</a:t>
                </a:r>
              </a:p>
              <a:p>
                <a:pPr marL="457200" indent="-457200">
                  <a:spcBef>
                    <a:spcPts val="600"/>
                  </a:spcBef>
                  <a:buNone/>
                </a:pPr>
                <a:r>
                  <a:rPr lang="en-US" sz="1400" b="0" dirty="0">
                    <a:latin typeface="Courier New"/>
                  </a:rPr>
                  <a:t>    arcs = []</a:t>
                </a:r>
              </a:p>
              <a:p>
                <a:pPr marL="457200" indent="-457200">
                  <a:spcBef>
                    <a:spcPts val="600"/>
                  </a:spcBef>
                  <a:buNone/>
                </a:pPr>
                <a:r>
                  <a:rPr lang="en-US" sz="1400" b="0" dirty="0">
                    <a:latin typeface="Courier New"/>
                  </a:rPr>
                  <a:t>    for i in range(1, N+1):</a:t>
                </a:r>
              </a:p>
              <a:p>
                <a:pPr marL="914400" indent="-457200">
                  <a:spcBef>
                    <a:spcPts val="600"/>
                  </a:spcBef>
                  <a:buNone/>
                </a:pPr>
                <a:r>
                  <a:rPr lang="en-US" sz="1400" b="0" dirty="0">
                    <a:latin typeface="Courier New"/>
                  </a:rPr>
                  <a:t>        arcs.append((i, i, self_loop[i, k]))  # skip arc</a:t>
                </a:r>
              </a:p>
              <a:p>
                <a:pPr marL="457200" indent="-457200">
                  <a:spcBef>
                    <a:spcPts val="600"/>
                  </a:spcBef>
                  <a:buNone/>
                </a:pPr>
                <a:r>
                  <a:rPr lang="en-US" sz="1400" b="0" dirty="0">
                    <a:latin typeface="Courier New"/>
                  </a:rPr>
                  <a:t>    for i in range(N+1):</a:t>
                </a:r>
              </a:p>
              <a:p>
                <a:pPr marL="914400" indent="-457200">
                  <a:spcBef>
                    <a:spcPts val="600"/>
                  </a:spcBef>
                  <a:buNone/>
                </a:pPr>
                <a:r>
                  <a:rPr lang="en-US" sz="1400" b="0" dirty="0">
                    <a:latin typeface="Courier New"/>
                  </a:rPr>
                  <a:t>        for j in range(N+1):</a:t>
                </a:r>
              </a:p>
              <a:p>
                <a:pPr marL="1371600" indent="-457200">
                  <a:spcBef>
                    <a:spcPts val="600"/>
                  </a:spcBef>
                  <a:buNone/>
                </a:pPr>
                <a:r>
                  <a:rPr lang="en-US" sz="1400" b="0" dirty="0">
                    <a:latin typeface="Courier New"/>
                  </a:rPr>
                  <a:t>            if i != j:</a:t>
                </a:r>
              </a:p>
              <a:p>
                <a:pPr marL="1828800" indent="-457200">
                  <a:spcBef>
                    <a:spcPts val="600"/>
                  </a:spcBef>
                  <a:buNone/>
                </a:pPr>
                <a:r>
                  <a:rPr lang="en-US" sz="1400" b="0" dirty="0">
                    <a:latin typeface="Courier New"/>
                  </a:rPr>
                  <a:t>                arcs.append((i, j, x[i, j, k]))</a:t>
                </a:r>
              </a:p>
              <a:p>
                <a:pPr marL="457200" indent="-457200">
                  <a:spcBef>
                    <a:spcPts val="600"/>
                  </a:spcBef>
                  <a:buNone/>
                </a:pPr>
                <a:r>
                  <a:rPr lang="en-US" sz="1400" b="0" dirty="0">
                    <a:latin typeface="Courier New"/>
                  </a:rPr>
                  <a:t>    model.AddCircuit(arcs)</a:t>
                </a:r>
              </a:p>
              <a:p>
                <a:pPr>
                  <a:spcBef>
                    <a:spcPts val="600"/>
                  </a:spcBef>
                </a:pPr>
                <a:endParaRPr lang="en-US" sz="1400" dirty="0"/>
              </a:p>
            </p:txBody>
          </p:sp>
        </mc:Choice>
        <mc:Fallback>
          <p:sp>
            <p:nvSpPr>
              <p:cNvPr id="3" name="Content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3"/>
              </p:nvPr>
            </p:nvSpPr>
            <p:spPr>
              <a:blipFill>
                <a:blip r:embed="rId2"/>
                <a:stretch>
                  <a:fillRect l="-211" t="-6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600" dirty="0"/>
              <a:t>5.4 Constraints (4) &amp; (5): Workload &amp; Objective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"/>
              <p:cNvSpPr>
                <a:spLocks noGrp="1"/>
              </p:cNvSpPr>
              <p:nvPr>
                <p:ph sz="quarter" idx="13"/>
              </p:nvPr>
            </p:nvSpPr>
            <p:spPr/>
            <p:txBody>
              <a:bodyPr/>
              <a:lstStyle/>
              <a:p>
                <a:pPr marL="0" indent="0">
                  <a:spcBef>
                    <a:spcPts val="600"/>
                  </a:spcBef>
                  <a:buNone/>
                </a:pPr>
                <a:r>
                  <a:rPr lang="en-US" sz="1400" b="1" dirty="0"/>
                  <a:t>Constraint 4: Workload Calculation</a:t>
                </a:r>
              </a:p>
              <a:p>
                <a:pPr>
                  <a:lnSpc>
                    <a:spcPct val="107000"/>
                  </a:lnSpc>
                  <a:spcAft>
                    <a:spcPts val="8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 kern="100" smtClean="0">
                          <a:solidFill>
                            <a:srgbClr val="FF0000"/>
                          </a:solidFill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m:t>𝑦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400" i="1" kern="100">
                              <a:solidFill>
                                <a:srgbClr val="FF0000"/>
                              </a:solidFill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en-US" sz="1400" i="1" kern="100">
                              <a:solidFill>
                                <a:srgbClr val="FF0000"/>
                              </a:solidFill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sz="1400" i="1" kern="100">
                          <a:solidFill>
                            <a:srgbClr val="FF0000"/>
                          </a:solidFill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1400" i="1" kern="100">
                              <a:solidFill>
                                <a:srgbClr val="FF0000"/>
                              </a:solidFill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</m:ctrlPr>
                        </m:naryPr>
                        <m:sub>
                          <m:r>
                            <a:rPr lang="en-US" sz="1400" i="1" kern="100">
                              <a:solidFill>
                                <a:srgbClr val="FF0000"/>
                              </a:solidFill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𝑖</m:t>
                          </m:r>
                        </m:sub>
                        <m:sup/>
                        <m:e>
                          <m:nary>
                            <m:naryPr>
                              <m:chr m:val="∑"/>
                              <m:supHide m:val="on"/>
                              <m:ctrlPr>
                                <a:rPr lang="en-US" sz="1400" i="1" kern="100">
                                  <a:solidFill>
                                    <a:srgbClr val="FF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DengXian" panose="02010600030101010101" pitchFamily="2" charset="-122"/>
                                  <a:cs typeface="Times New Roman" panose="020206030504050203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sz="1400" i="1" kern="100">
                                  <a:solidFill>
                                    <a:srgbClr val="FF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DengXian" panose="02010600030101010101" pitchFamily="2" charset="-122"/>
                                  <a:cs typeface="Times New Roman" panose="02020603050405020304" pitchFamily="18" charset="0"/>
                                </a:rPr>
                                <m:t>𝑗</m:t>
                              </m:r>
                              <m:r>
                                <a:rPr lang="zh-CN" sz="1400" kern="100">
                                  <a:solidFill>
                                    <a:srgbClr val="FF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DengXian" panose="02010600030101010101" pitchFamily="2" charset="-122"/>
                                  <a:cs typeface="Times New Roman" panose="02020603050405020304" pitchFamily="18" charset="0"/>
                                </a:rPr>
                                <m:t>≠</m:t>
                              </m:r>
                              <m:r>
                                <a:rPr lang="en-US" sz="1400" i="1" kern="100">
                                  <a:solidFill>
                                    <a:srgbClr val="FF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DengXian" panose="02010600030101010101" pitchFamily="2" charset="-122"/>
                                  <a:cs typeface="Times New Roman" panose="02020603050405020304" pitchFamily="18" charset="0"/>
                                </a:rPr>
                                <m:t>0</m:t>
                              </m:r>
                            </m:sub>
                            <m:sup/>
                            <m:e>
                              <m:r>
                                <a:rPr lang="en-US" sz="1400" i="1" kern="100">
                                  <a:solidFill>
                                    <a:srgbClr val="FF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DengXian" panose="02010600030101010101" pitchFamily="2" charset="-122"/>
                                  <a:cs typeface="Times New Roman" panose="02020603050405020304" pitchFamily="18" charset="0"/>
                                </a:rPr>
                                <m:t>𝑥</m:t>
                              </m:r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sz="1400" i="1" kern="100">
                                      <a:solidFill>
                                        <a:srgbClr val="FF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DengXian" panose="02010600030101010101" pitchFamily="2" charset="-122"/>
                                      <a:cs typeface="Times New Roman" panose="020206030504050203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400" i="1" kern="100">
                                      <a:solidFill>
                                        <a:srgbClr val="FF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DengXian" panose="02010600030101010101" pitchFamily="2" charset="-122"/>
                                      <a:cs typeface="Times New Roman" panose="020206030504050203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sz="1400" i="1" kern="100">
                                      <a:solidFill>
                                        <a:srgbClr val="FF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DengXian" panose="02010600030101010101" pitchFamily="2" charset="-122"/>
                                      <a:cs typeface="Times New Roman" panose="020206030504050203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400" i="1" kern="100">
                                      <a:solidFill>
                                        <a:srgbClr val="FF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DengXian" panose="02010600030101010101" pitchFamily="2" charset="-122"/>
                                      <a:cs typeface="Times New Roman" panose="02020603050405020304" pitchFamily="18" charset="0"/>
                                    </a:rPr>
                                    <m:t>𝑗</m:t>
                                  </m:r>
                                </m:e>
                              </m:d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sz="1400" i="1" kern="100">
                                      <a:solidFill>
                                        <a:srgbClr val="FF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DengXian" panose="02010600030101010101" pitchFamily="2" charset="-122"/>
                                      <a:cs typeface="Times New Roman" panose="020206030504050203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400" i="1" kern="100">
                                      <a:solidFill>
                                        <a:srgbClr val="FF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DengXian" panose="02010600030101010101" pitchFamily="2" charset="-122"/>
                                      <a:cs typeface="Times New Roman" panose="02020603050405020304" pitchFamily="18" charset="0"/>
                                    </a:rPr>
                                    <m:t>𝑘</m:t>
                                  </m:r>
                                </m:e>
                              </m:d>
                            </m:e>
                          </m:nary>
                        </m:e>
                      </m:nary>
                      <m:r>
                        <a:rPr lang="en-US" sz="1400" kern="100">
                          <a:solidFill>
                            <a:srgbClr val="FF0000"/>
                          </a:solidFill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m:t>⋅</m:t>
                      </m:r>
                      <m:d>
                        <m:dPr>
                          <m:ctrlPr>
                            <a:rPr lang="en-US" sz="1400" i="1" kern="100">
                              <a:solidFill>
                                <a:srgbClr val="FF0000"/>
                              </a:solidFill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400" i="1" kern="100">
                                  <a:solidFill>
                                    <a:srgbClr val="FF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DengXian" panose="02010600030101010101" pitchFamily="2" charset="-122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 kern="100">
                                  <a:solidFill>
                                    <a:srgbClr val="FF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DengXian" panose="02010600030101010101" pitchFamily="2" charset="-122"/>
                                  <a:cs typeface="Times New Roman" panose="020206030504050203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sz="1400" i="1" kern="100">
                                  <a:solidFill>
                                    <a:srgbClr val="FF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DengXian" panose="02010600030101010101" pitchFamily="2" charset="-122"/>
                                  <a:cs typeface="Times New Roman" panose="02020603050405020304" pitchFamily="18" charset="0"/>
                                </a:rPr>
                                <m:t>𝑖</m:t>
                              </m:r>
                              <m:r>
                                <a:rPr lang="en-US" sz="1400" i="1" kern="100">
                                  <a:solidFill>
                                    <a:srgbClr val="FF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DengXian" panose="02010600030101010101" pitchFamily="2" charset="-122"/>
                                  <a:cs typeface="Times New Roman" panose="02020603050405020304" pitchFamily="18" charset="0"/>
                                </a:rPr>
                                <m:t>,</m:t>
                              </m:r>
                              <m:r>
                                <a:rPr lang="en-US" sz="1400" i="1" kern="100">
                                  <a:solidFill>
                                    <a:srgbClr val="FF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DengXian" panose="02010600030101010101" pitchFamily="2" charset="-122"/>
                                  <a:cs typeface="Times New Roman" panose="020206030504050203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US" sz="1400" i="1" kern="100">
                              <a:solidFill>
                                <a:srgbClr val="FF0000"/>
                              </a:solidFill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1400" i="1" kern="100">
                                  <a:solidFill>
                                    <a:srgbClr val="FF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DengXian" panose="02010600030101010101" pitchFamily="2" charset="-122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 kern="100">
                                  <a:solidFill>
                                    <a:srgbClr val="FF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DengXian" panose="02010600030101010101" pitchFamily="2" charset="-122"/>
                                  <a:cs typeface="Times New Roman" panose="020206030504050203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en-US" sz="1400" i="1" kern="100">
                                  <a:solidFill>
                                    <a:srgbClr val="FF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DengXian" panose="02010600030101010101" pitchFamily="2" charset="-122"/>
                                  <a:cs typeface="Times New Roman" panose="020206030504050203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d>
                      <m:r>
                        <a:rPr lang="en-US" sz="1400" i="1" kern="100">
                          <a:solidFill>
                            <a:srgbClr val="FF0000"/>
                          </a:solidFill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m:t>+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1400" i="1" kern="100">
                              <a:solidFill>
                                <a:srgbClr val="FF0000"/>
                              </a:solidFill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</m:ctrlPr>
                        </m:naryPr>
                        <m:sub>
                          <m:r>
                            <a:rPr lang="en-US" sz="1400" i="1" kern="100">
                              <a:solidFill>
                                <a:srgbClr val="FF0000"/>
                              </a:solidFill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𝑖</m:t>
                          </m:r>
                          <m:r>
                            <a:rPr lang="zh-CN" sz="1400" kern="100">
                              <a:solidFill>
                                <a:srgbClr val="FF0000"/>
                              </a:solidFill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≠</m:t>
                          </m:r>
                          <m:r>
                            <a:rPr lang="en-US" sz="1400" i="1" kern="100">
                              <a:solidFill>
                                <a:srgbClr val="FF0000"/>
                              </a:solidFill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0</m:t>
                          </m:r>
                        </m:sub>
                        <m:sup/>
                        <m:e>
                          <m:r>
                            <a:rPr lang="en-US" sz="1400" i="1" kern="100">
                              <a:solidFill>
                                <a:srgbClr val="FF0000"/>
                              </a:solidFill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𝑥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sz="1400" i="1" kern="100">
                                  <a:solidFill>
                                    <a:srgbClr val="FF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DengXian" panose="02010600030101010101" pitchFamily="2" charset="-122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400" i="1" kern="100">
                                  <a:solidFill>
                                    <a:srgbClr val="FF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DengXian" panose="02010600030101010101" pitchFamily="2" charset="-122"/>
                                  <a:cs typeface="Times New Roman" panose="02020603050405020304" pitchFamily="18" charset="0"/>
                                </a:rPr>
                                <m:t>𝑖</m:t>
                              </m:r>
                            </m:e>
                          </m:d>
                          <m:d>
                            <m:dPr>
                              <m:begChr m:val="["/>
                              <m:endChr m:val="]"/>
                              <m:ctrlPr>
                                <a:rPr lang="en-US" sz="1400" i="1" kern="100">
                                  <a:solidFill>
                                    <a:srgbClr val="FF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DengXian" panose="02010600030101010101" pitchFamily="2" charset="-122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400" i="1" kern="100">
                                  <a:solidFill>
                                    <a:srgbClr val="FF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DengXian" panose="02010600030101010101" pitchFamily="2" charset="-122"/>
                                  <a:cs typeface="Times New Roman" panose="02020603050405020304" pitchFamily="18" charset="0"/>
                                </a:rPr>
                                <m:t>0</m:t>
                              </m:r>
                            </m:e>
                          </m:d>
                          <m:d>
                            <m:dPr>
                              <m:begChr m:val="["/>
                              <m:endChr m:val="]"/>
                              <m:ctrlPr>
                                <a:rPr lang="en-US" sz="1400" i="1" kern="100">
                                  <a:solidFill>
                                    <a:srgbClr val="FF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DengXian" panose="02010600030101010101" pitchFamily="2" charset="-122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400" i="1" kern="100">
                                  <a:solidFill>
                                    <a:srgbClr val="FF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DengXian" panose="02010600030101010101" pitchFamily="2" charset="-122"/>
                                  <a:cs typeface="Times New Roman" panose="02020603050405020304" pitchFamily="18" charset="0"/>
                                </a:rPr>
                                <m:t>𝑘</m:t>
                              </m:r>
                            </m:e>
                          </m:d>
                        </m:e>
                      </m:nary>
                      <m:r>
                        <a:rPr lang="en-US" sz="1400" kern="100">
                          <a:solidFill>
                            <a:srgbClr val="FF0000"/>
                          </a:solidFill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sz="1400" i="1" kern="100">
                              <a:solidFill>
                                <a:srgbClr val="FF0000"/>
                              </a:solidFill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sz="1400" i="1" kern="100">
                              <a:solidFill>
                                <a:srgbClr val="FF0000"/>
                              </a:solidFill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sz="1400" i="1" kern="100">
                              <a:solidFill>
                                <a:srgbClr val="FF0000"/>
                              </a:solidFill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𝑖</m:t>
                          </m:r>
                          <m:r>
                            <a:rPr lang="en-US" sz="1400" i="1" kern="100">
                              <a:solidFill>
                                <a:srgbClr val="FF0000"/>
                              </a:solidFill>
                              <a:effectLst/>
                              <a:latin typeface="Cambria Math" panose="02040503050406030204" pitchFamily="18" charset="0"/>
                              <a:ea typeface="DengXian" panose="02010600030101010101" pitchFamily="2" charset="-122"/>
                              <a:cs typeface="Times New Roman" panose="02020603050405020304" pitchFamily="18" charset="0"/>
                            </a:rPr>
                            <m:t>,0</m:t>
                          </m:r>
                        </m:sub>
                      </m:sSub>
                      <m:r>
                        <a:rPr lang="en-US" sz="1400" kern="100">
                          <a:solidFill>
                            <a:srgbClr val="FF0000"/>
                          </a:solidFill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m:t> ∀</m:t>
                      </m:r>
                      <m:r>
                        <a:rPr lang="en-US" sz="1400" i="1" kern="100">
                          <a:solidFill>
                            <a:srgbClr val="FF0000"/>
                          </a:solidFill>
                          <a:effectLst/>
                          <a:latin typeface="Cambria Math" panose="02040503050406030204" pitchFamily="18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m:t>𝑘</m:t>
                      </m:r>
                    </m:oMath>
                  </m:oMathPara>
                </a14:m>
                <a:endParaRPr lang="en-US" sz="1400" b="0">
                  <a:solidFill>
                    <a:srgbClr val="C00000"/>
                  </a:solidFill>
                </a:endParaRPr>
              </a:p>
              <a:p>
                <a:pPr marL="0" indent="0">
                  <a:spcBef>
                    <a:spcPts val="600"/>
                  </a:spcBef>
                  <a:buNone/>
                </a:pPr>
                <a:r>
                  <a:rPr lang="en-US" sz="1400" b="0">
                    <a:latin typeface="Courier New"/>
                  </a:rPr>
                  <a:t>for </a:t>
                </a:r>
                <a:r>
                  <a:rPr lang="en-US" sz="1400" b="0" dirty="0">
                    <a:latin typeface="Courier New"/>
                  </a:rPr>
                  <a:t>k in range(1, K+1):</a:t>
                </a:r>
              </a:p>
              <a:p>
                <a:pPr marL="457200" indent="-457200">
                  <a:spcBef>
                    <a:spcPts val="600"/>
                  </a:spcBef>
                  <a:buNone/>
                </a:pPr>
                <a:r>
                  <a:rPr lang="en-US" sz="1400" b="0" dirty="0">
                    <a:latin typeface="Courier New"/>
                  </a:rPr>
                  <a:t>    total = []</a:t>
                </a:r>
              </a:p>
              <a:p>
                <a:pPr marL="457200" indent="-457200">
                  <a:spcBef>
                    <a:spcPts val="600"/>
                  </a:spcBef>
                  <a:buNone/>
                </a:pPr>
                <a:r>
                  <a:rPr lang="en-US" sz="1400" b="0" dirty="0">
                    <a:latin typeface="Courier New"/>
                  </a:rPr>
                  <a:t>    for i in range(N+1):</a:t>
                </a:r>
              </a:p>
              <a:p>
                <a:pPr marL="914400" indent="-457200">
                  <a:spcBef>
                    <a:spcPts val="600"/>
                  </a:spcBef>
                  <a:buNone/>
                </a:pPr>
                <a:r>
                  <a:rPr lang="en-US" sz="1400" b="0" dirty="0">
                    <a:latin typeface="Courier New"/>
                  </a:rPr>
                  <a:t>        for j in range(N+1):</a:t>
                </a:r>
              </a:p>
              <a:p>
                <a:pPr marL="1371600" indent="-457200">
                  <a:spcBef>
                    <a:spcPts val="600"/>
                  </a:spcBef>
                  <a:buNone/>
                </a:pPr>
                <a:r>
                  <a:rPr lang="en-US" sz="1400" b="0" dirty="0">
                    <a:latin typeface="Courier New"/>
                  </a:rPr>
                  <a:t>            if i != j:</a:t>
                </a:r>
              </a:p>
              <a:p>
                <a:pPr marL="1828800" indent="-457200">
                  <a:spcBef>
                    <a:spcPts val="600"/>
                  </a:spcBef>
                  <a:buNone/>
                </a:pPr>
                <a:r>
                  <a:rPr lang="en-US" sz="1400" b="0" dirty="0">
                    <a:latin typeface="Courier New"/>
                  </a:rPr>
                  <a:t>                cost    = matrix[i][j]</a:t>
                </a:r>
              </a:p>
              <a:p>
                <a:pPr marL="1828800" indent="-457200">
                  <a:spcBef>
                    <a:spcPts val="600"/>
                  </a:spcBef>
                  <a:buNone/>
                </a:pPr>
                <a:r>
                  <a:rPr lang="en-US" sz="1400" b="0" dirty="0">
                    <a:latin typeface="Courier New"/>
                  </a:rPr>
                  <a:t>                service = d[j] if j != 0 else 0</a:t>
                </a:r>
              </a:p>
              <a:p>
                <a:pPr marL="1828800" indent="-457200">
                  <a:spcBef>
                    <a:spcPts val="600"/>
                  </a:spcBef>
                  <a:buNone/>
                </a:pPr>
                <a:r>
                  <a:rPr lang="en-US" sz="1400" b="0" dirty="0">
                    <a:latin typeface="Courier New"/>
                  </a:rPr>
                  <a:t>                total.append(x[i,j,k] * (cost + service))</a:t>
                </a:r>
              </a:p>
              <a:p>
                <a:pPr marL="457200" indent="-457200">
                  <a:spcBef>
                    <a:spcPts val="600"/>
                  </a:spcBef>
                  <a:buNone/>
                </a:pPr>
                <a:r>
                  <a:rPr lang="en-US" sz="1400" b="0" dirty="0">
                    <a:latin typeface="Courier New"/>
                  </a:rPr>
                  <a:t>    model.Add(y[k] == sum(total))</a:t>
                </a:r>
              </a:p>
              <a:p>
                <a:pPr marL="0" indent="0">
                  <a:spcBef>
                    <a:spcPts val="600"/>
                  </a:spcBef>
                  <a:buNone/>
                </a:pPr>
                <a:endParaRPr lang="en-US" sz="1400" b="0" dirty="0">
                  <a:latin typeface="Courier New"/>
                </a:endParaRPr>
              </a:p>
              <a:p>
                <a:pPr marL="0" indent="0">
                  <a:spcBef>
                    <a:spcPts val="600"/>
                  </a:spcBef>
                  <a:buNone/>
                </a:pPr>
                <a:r>
                  <a:rPr lang="en-US" sz="1400" b="1" dirty="0"/>
                  <a:t>Constraint 5: z is the Maximum Workload</a:t>
                </a:r>
              </a:p>
              <a:p>
                <a:pPr marL="457200" indent="-457200">
                  <a:spcBef>
                    <a:spcPts val="600"/>
                  </a:spcBef>
                  <a:buNone/>
                </a:pPr>
                <a:r>
                  <a:rPr lang="en-US" sz="1400" b="0" dirty="0">
                    <a:solidFill>
                      <a:srgbClr val="C00000"/>
                    </a:solidFill>
                  </a:rPr>
                  <a:t>z  ≥  y[k]     ∀ k = 1, …, K</a:t>
                </a:r>
              </a:p>
              <a:p>
                <a:pPr marL="0" indent="0">
                  <a:spcBef>
                    <a:spcPts val="600"/>
                  </a:spcBef>
                  <a:buNone/>
                </a:pPr>
                <a:endParaRPr lang="en-US" sz="1400" b="0" dirty="0">
                  <a:solidFill>
                    <a:srgbClr val="C00000"/>
                  </a:solidFill>
                </a:endParaRPr>
              </a:p>
              <a:p>
                <a:pPr marL="0" indent="0">
                  <a:spcBef>
                    <a:spcPts val="600"/>
                  </a:spcBef>
                  <a:buNone/>
                </a:pPr>
                <a:r>
                  <a:rPr lang="en-US" sz="1400" b="0" dirty="0">
                    <a:latin typeface="Courier New"/>
                  </a:rPr>
                  <a:t>for k in range(1, K+1):</a:t>
                </a:r>
              </a:p>
              <a:p>
                <a:pPr marL="457200" indent="-457200">
                  <a:spcBef>
                    <a:spcPts val="600"/>
                  </a:spcBef>
                  <a:buNone/>
                </a:pPr>
                <a:r>
                  <a:rPr lang="en-US" sz="1400" b="0" dirty="0">
                    <a:latin typeface="Courier New"/>
                  </a:rPr>
                  <a:t>    model.Add(z &gt;= y[k])</a:t>
                </a:r>
              </a:p>
              <a:p>
                <a:pPr marL="0" indent="0">
                  <a:spcBef>
                    <a:spcPts val="600"/>
                  </a:spcBef>
                  <a:buNone/>
                </a:pPr>
                <a:r>
                  <a:rPr lang="en-US" sz="1400" b="0" dirty="0">
                    <a:latin typeface="Courier New"/>
                  </a:rPr>
                  <a:t>model.Minimize(z)</a:t>
                </a:r>
              </a:p>
              <a:p>
                <a:pPr>
                  <a:spcBef>
                    <a:spcPts val="600"/>
                  </a:spcBef>
                </a:pPr>
                <a:endParaRPr lang="en-US" sz="1400" dirty="0"/>
              </a:p>
            </p:txBody>
          </p:sp>
        </mc:Choice>
        <mc:Fallback>
          <p:sp>
            <p:nvSpPr>
              <p:cNvPr id="3" name="Content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3"/>
              </p:nvPr>
            </p:nvSpPr>
            <p:spPr>
              <a:blipFill>
                <a:blip r:embed="rId2"/>
                <a:stretch>
                  <a:fillRect l="-211" t="-690" b="-46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600" dirty="0"/>
              <a:t>5.5 CP Results — Online Judge Test Execution</a:t>
            </a:r>
          </a:p>
        </p:txBody>
      </p:sp>
      <p:sp>
        <p:nvSpPr>
          <p:cNvPr id="3" name="Content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1400" b="1" dirty="0"/>
              <a:t>Test Results Submitted to Online Judge</a:t>
            </a:r>
          </a:p>
          <a:p>
            <a:pPr marL="0" indent="0">
              <a:buNone/>
            </a:pPr>
            <a:endParaRPr lang="en-US" sz="1400" b="1" dirty="0"/>
          </a:p>
          <a:p>
            <a:pPr marL="0" indent="0">
              <a:buNone/>
            </a:pPr>
            <a:r>
              <a:rPr lang="en-US" sz="1400" b="1" dirty="0">
                <a:latin typeface="Courier New"/>
              </a:rPr>
              <a:t>  N     K     Message                    Runtime (ms)   Memory (</a:t>
            </a:r>
            <a:r>
              <a:rPr lang="en-US" sz="1400" b="1">
                <a:latin typeface="Courier New"/>
              </a:rPr>
              <a:t>MB)</a:t>
            </a:r>
          </a:p>
          <a:p>
            <a:pPr marL="0" indent="0">
              <a:buNone/>
            </a:pPr>
            <a:r>
              <a:rPr lang="en-US" sz="1400" b="0">
                <a:latin typeface="Courier New"/>
              </a:rPr>
              <a:t>  </a:t>
            </a:r>
          </a:p>
          <a:p>
            <a:pPr marL="0" indent="0">
              <a:buNone/>
            </a:pPr>
            <a:r>
              <a:rPr lang="en-US" sz="1400" b="0">
                <a:latin typeface="Courier New"/>
              </a:rPr>
              <a:t>  </a:t>
            </a:r>
          </a:p>
          <a:p>
            <a:pPr marL="0" indent="0">
              <a:buNone/>
            </a:pPr>
            <a:endParaRPr lang="en-US" sz="1400">
              <a:latin typeface="Courier New"/>
            </a:endParaRPr>
          </a:p>
          <a:p>
            <a:pPr marL="0" indent="0">
              <a:buNone/>
            </a:pPr>
            <a:endParaRPr lang="en-US" sz="1400" b="0" dirty="0">
              <a:latin typeface="Courier New"/>
            </a:endParaRPr>
          </a:p>
          <a:p>
            <a:pPr marL="0" indent="0">
              <a:buNone/>
            </a:pPr>
            <a:r>
              <a:rPr lang="en-US" sz="1400" b="0" dirty="0"/>
              <a:t>Tests 3 and 7 PASSED (small inputs, fit within 1024 MB limit).</a:t>
            </a:r>
          </a:p>
          <a:p>
            <a:pPr marL="0" indent="0">
              <a:buNone/>
            </a:pPr>
            <a:r>
              <a:rPr lang="en-US" sz="1400" b="0" dirty="0"/>
              <a:t>All 8 failing tests hit Memory Limit Exceeded before any search began.</a:t>
            </a:r>
          </a:p>
          <a:p>
            <a:pPr marL="0" indent="0">
              <a:buNone/>
            </a:pPr>
            <a:r>
              <a:rPr lang="en-US" sz="1400" b="0" dirty="0">
                <a:solidFill>
                  <a:srgbClr val="C00000"/>
                </a:solidFill>
              </a:rPr>
              <a:t>Memory consumed entirely during MODEL CONSTRUCTION — not during search.</a:t>
            </a:r>
          </a:p>
          <a:p>
            <a:pPr marL="0" indent="0">
              <a:buNone/>
            </a:pPr>
            <a:endParaRPr lang="en-US" sz="1400" b="0" dirty="0">
              <a:solidFill>
                <a:srgbClr val="C00000"/>
              </a:solidFill>
            </a:endParaRPr>
          </a:p>
          <a:p>
            <a:pPr marL="0" indent="0">
              <a:buNone/>
            </a:pPr>
            <a:r>
              <a:rPr lang="en-US" sz="1400" b="1" dirty="0"/>
              <a:t>Why the hard 1,024 MB ceiling?</a:t>
            </a:r>
          </a:p>
          <a:p>
            <a:pPr marL="457200" indent="-457200">
              <a:buNone/>
            </a:pPr>
            <a:r>
              <a:rPr lang="en-US" sz="1400" b="0" dirty="0"/>
              <a:t>At N=1000, K=100: ~100 million BoolVars required.</a:t>
            </a:r>
          </a:p>
          <a:p>
            <a:pPr marL="457200" indent="-457200">
              <a:buNone/>
            </a:pPr>
            <a:r>
              <a:rPr lang="en-US" sz="1400" b="0" dirty="0"/>
              <a:t>Each BoolVar carries internal memory overhead beyond a single bit.</a:t>
            </a:r>
          </a:p>
          <a:p>
            <a:pPr marL="457200" indent="-457200">
              <a:buNone/>
            </a:pPr>
            <a:r>
              <a:rPr lang="en-US" sz="1400" b="0" dirty="0"/>
              <a:t>Failing tests show EXACTLY 1,024 MB used — the hard ceiling is hit during model build.</a:t>
            </a:r>
          </a:p>
          <a:p>
            <a:endParaRPr lang="en-US" sz="1400" dirty="0"/>
          </a:p>
        </p:txBody>
      </p:sp>
      <p:graphicFrame>
        <p:nvGraphicFramePr>
          <p:cNvPr id="4" name="Bảng 3">
            <a:extLst>
              <a:ext uri="{FF2B5EF4-FFF2-40B4-BE49-F238E27FC236}">
                <a16:creationId xmlns:a16="http://schemas.microsoft.com/office/drawing/2014/main" id="{6DADF5C2-C252-BC2E-9EB2-3CC2B0646CB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84247686"/>
              </p:ext>
            </p:extLst>
          </p:nvPr>
        </p:nvGraphicFramePr>
        <p:xfrm>
          <a:off x="437070" y="1828321"/>
          <a:ext cx="6998900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32605">
                  <a:extLst>
                    <a:ext uri="{9D8B030D-6E8A-4147-A177-3AD203B41FA5}">
                      <a16:colId xmlns:a16="http://schemas.microsoft.com/office/drawing/2014/main" val="1965931159"/>
                    </a:ext>
                  </a:extLst>
                </a:gridCol>
                <a:gridCol w="638355">
                  <a:extLst>
                    <a:ext uri="{9D8B030D-6E8A-4147-A177-3AD203B41FA5}">
                      <a16:colId xmlns:a16="http://schemas.microsoft.com/office/drawing/2014/main" val="3899966820"/>
                    </a:ext>
                  </a:extLst>
                </a:gridCol>
                <a:gridCol w="2872596">
                  <a:extLst>
                    <a:ext uri="{9D8B030D-6E8A-4147-A177-3AD203B41FA5}">
                      <a16:colId xmlns:a16="http://schemas.microsoft.com/office/drawing/2014/main" val="2243873248"/>
                    </a:ext>
                  </a:extLst>
                </a:gridCol>
                <a:gridCol w="1630393">
                  <a:extLst>
                    <a:ext uri="{9D8B030D-6E8A-4147-A177-3AD203B41FA5}">
                      <a16:colId xmlns:a16="http://schemas.microsoft.com/office/drawing/2014/main" val="2434008259"/>
                    </a:ext>
                  </a:extLst>
                </a:gridCol>
                <a:gridCol w="1224951">
                  <a:extLst>
                    <a:ext uri="{9D8B030D-6E8A-4147-A177-3AD203B41FA5}">
                      <a16:colId xmlns:a16="http://schemas.microsoft.com/office/drawing/2014/main" val="283738182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sz="1200" b="0">
                          <a:solidFill>
                            <a:schemeClr val="tx1"/>
                          </a:solidFill>
                          <a:latin typeface="Lato" panose="020F0502020204030203" pitchFamily="34" charset="0"/>
                          <a:ea typeface="Lato" panose="020F0502020204030203" pitchFamily="34" charset="0"/>
                          <a:cs typeface="Lato" panose="020F0502020204030203" pitchFamily="34" charset="0"/>
                        </a:rPr>
                        <a:t>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b="0">
                          <a:solidFill>
                            <a:schemeClr val="tx1"/>
                          </a:solidFill>
                          <a:latin typeface="Lato" panose="020F0502020204030203" pitchFamily="34" charset="0"/>
                          <a:ea typeface="Lato" panose="020F0502020204030203" pitchFamily="34" charset="0"/>
                          <a:cs typeface="Lato" panose="020F0502020204030203" pitchFamily="34" charset="0"/>
                        </a:rPr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b="0" i="0" kern="1200">
                          <a:solidFill>
                            <a:schemeClr val="tx1"/>
                          </a:solidFill>
                          <a:effectLst/>
                          <a:latin typeface="Lato" panose="020F0502020204030203" pitchFamily="34" charset="0"/>
                          <a:ea typeface="Lato" panose="020F0502020204030203" pitchFamily="34" charset="0"/>
                          <a:cs typeface="Lato" panose="020F0502020204030203" pitchFamily="34" charset="0"/>
                        </a:rPr>
                        <a:t>Perfect, jury solution is 370, participant solution is 360</a:t>
                      </a:r>
                      <a:endParaRPr lang="en-US" sz="1200" b="0">
                        <a:solidFill>
                          <a:schemeClr val="tx1"/>
                        </a:solidFill>
                        <a:latin typeface="Lato" panose="020F0502020204030203" pitchFamily="34" charset="0"/>
                        <a:ea typeface="Lato" panose="020F0502020204030203" pitchFamily="34" charset="0"/>
                        <a:cs typeface="Lato" panose="020F0502020204030203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b="0">
                          <a:solidFill>
                            <a:schemeClr val="tx1"/>
                          </a:solidFill>
                          <a:latin typeface="Lato" panose="020F0502020204030203" pitchFamily="34" charset="0"/>
                          <a:ea typeface="Lato" panose="020F0502020204030203" pitchFamily="34" charset="0"/>
                          <a:cs typeface="Lato" panose="020F0502020204030203" pitchFamily="34" charset="0"/>
                        </a:rPr>
                        <a:t>2,538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b="0">
                          <a:solidFill>
                            <a:schemeClr val="tx1"/>
                          </a:solidFill>
                          <a:latin typeface="Lato" panose="020F0502020204030203" pitchFamily="34" charset="0"/>
                          <a:ea typeface="Lato" panose="020F0502020204030203" pitchFamily="34" charset="0"/>
                          <a:cs typeface="Lato" panose="020F0502020204030203" pitchFamily="34" charset="0"/>
                        </a:rPr>
                        <a:t>49,633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827847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sz="1200" b="0">
                          <a:solidFill>
                            <a:schemeClr val="tx1"/>
                          </a:solidFill>
                          <a:latin typeface="Lato" panose="020F0502020204030203" pitchFamily="34" charset="0"/>
                          <a:ea typeface="Lato" panose="020F0502020204030203" pitchFamily="34" charset="0"/>
                          <a:cs typeface="Lato" panose="020F0502020204030203" pitchFamily="34" charset="0"/>
                        </a:rPr>
                        <a:t>10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b="0">
                          <a:solidFill>
                            <a:schemeClr val="tx1"/>
                          </a:solidFill>
                          <a:latin typeface="Lato" panose="020F0502020204030203" pitchFamily="34" charset="0"/>
                          <a:ea typeface="Lato" panose="020F0502020204030203" pitchFamily="34" charset="0"/>
                          <a:cs typeface="Lato" panose="020F0502020204030203" pitchFamily="34" charset="0"/>
                        </a:rPr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b="0" i="0" kern="1200">
                          <a:solidFill>
                            <a:schemeClr val="tx1"/>
                          </a:solidFill>
                          <a:effectLst/>
                          <a:latin typeface="Lato" panose="020F0502020204030203" pitchFamily="34" charset="0"/>
                          <a:ea typeface="Lato" panose="020F0502020204030203" pitchFamily="34" charset="0"/>
                          <a:cs typeface="Lato" panose="020F0502020204030203" pitchFamily="34" charset="0"/>
                        </a:rPr>
                        <a:t>Perfect, jury solution is 560, participant solution is 540</a:t>
                      </a:r>
                      <a:endParaRPr lang="en-US" sz="1200" b="0">
                        <a:solidFill>
                          <a:schemeClr val="tx1"/>
                        </a:solidFill>
                        <a:latin typeface="Lato" panose="020F0502020204030203" pitchFamily="34" charset="0"/>
                        <a:ea typeface="Lato" panose="020F0502020204030203" pitchFamily="34" charset="0"/>
                        <a:cs typeface="Lato" panose="020F0502020204030203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b="0">
                          <a:solidFill>
                            <a:schemeClr val="tx1"/>
                          </a:solidFill>
                          <a:latin typeface="Lato" panose="020F0502020204030203" pitchFamily="34" charset="0"/>
                          <a:ea typeface="Lato" panose="020F0502020204030203" pitchFamily="34" charset="0"/>
                          <a:cs typeface="Lato" panose="020F0502020204030203" pitchFamily="34" charset="0"/>
                        </a:rPr>
                        <a:t>12,811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b="0">
                          <a:solidFill>
                            <a:schemeClr val="tx1"/>
                          </a:solidFill>
                          <a:latin typeface="Lato" panose="020F0502020204030203" pitchFamily="34" charset="0"/>
                          <a:ea typeface="Lato" panose="020F0502020204030203" pitchFamily="34" charset="0"/>
                          <a:cs typeface="Lato" panose="020F0502020204030203" pitchFamily="34" charset="0"/>
                        </a:rPr>
                        <a:t>90,867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2365515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600" dirty="0"/>
              <a:t>5.6 Why CP Cannot Scale — Variable Count Analysis</a:t>
            </a:r>
          </a:p>
        </p:txBody>
      </p:sp>
      <p:sp>
        <p:nvSpPr>
          <p:cNvPr id="3" name="Content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0" indent="0">
              <a:spcBef>
                <a:spcPts val="300"/>
              </a:spcBef>
              <a:buNone/>
            </a:pPr>
            <a:r>
              <a:rPr lang="en-US" sz="1400" b="1" dirty="0">
                <a:solidFill>
                  <a:srgbClr val="C00000"/>
                </a:solidFill>
              </a:rPr>
              <a:t>Variable Count: O(K × N²)</a:t>
            </a:r>
          </a:p>
          <a:p>
            <a:pPr marL="457200" indent="-457200">
              <a:spcBef>
                <a:spcPts val="300"/>
              </a:spcBef>
              <a:buNone/>
            </a:pPr>
            <a:r>
              <a:rPr lang="en-US" sz="1400" b="0" dirty="0"/>
              <a:t>x[i][j][k] BoolVars: one per ordered pair (i,j) per technician k  →  K × N(N+1) vars</a:t>
            </a:r>
          </a:p>
          <a:p>
            <a:pPr marL="457200" indent="-457200">
              <a:spcBef>
                <a:spcPts val="300"/>
              </a:spcBef>
              <a:buNone/>
            </a:pPr>
            <a:r>
              <a:rPr lang="en-US" sz="1400" b="0" dirty="0"/>
              <a:t>self_loop[i][k] BoolVars: N × K additional vars</a:t>
            </a:r>
          </a:p>
          <a:p>
            <a:pPr marL="0" indent="0">
              <a:spcBef>
                <a:spcPts val="300"/>
              </a:spcBef>
              <a:buNone/>
            </a:pPr>
            <a:endParaRPr lang="en-US" sz="1400" b="0" dirty="0"/>
          </a:p>
          <a:p>
            <a:pPr marL="0" indent="0">
              <a:spcBef>
                <a:spcPts val="300"/>
              </a:spcBef>
              <a:buNone/>
            </a:pPr>
            <a:r>
              <a:rPr lang="en-US" sz="1400" b="1" dirty="0"/>
              <a:t>Variable Count Scaling Table</a:t>
            </a:r>
          </a:p>
          <a:p>
            <a:pPr marL="0" indent="0">
              <a:spcBef>
                <a:spcPts val="300"/>
              </a:spcBef>
              <a:buNone/>
            </a:pPr>
            <a:r>
              <a:rPr lang="en-US" sz="1400" b="1" dirty="0">
                <a:latin typeface="Courier New"/>
              </a:rPr>
              <a:t>  </a:t>
            </a:r>
            <a:r>
              <a:rPr lang="en-US" sz="1400" b="1">
                <a:latin typeface="Courier New"/>
              </a:rPr>
              <a:t>N     |    K   |  </a:t>
            </a:r>
            <a:r>
              <a:rPr lang="en-US" sz="1400" b="1" dirty="0">
                <a:latin typeface="Courier New"/>
              </a:rPr>
              <a:t>x[i][j][k] </a:t>
            </a:r>
            <a:r>
              <a:rPr lang="en-US" sz="1400" b="1">
                <a:latin typeface="Courier New"/>
              </a:rPr>
              <a:t>vars  |  </a:t>
            </a:r>
            <a:r>
              <a:rPr lang="en-US" sz="1400" b="1" dirty="0">
                <a:latin typeface="Courier New"/>
              </a:rPr>
              <a:t>self_loop </a:t>
            </a:r>
            <a:r>
              <a:rPr lang="en-US" sz="1400" b="1">
                <a:latin typeface="Courier New"/>
              </a:rPr>
              <a:t>vars  |  </a:t>
            </a:r>
            <a:r>
              <a:rPr lang="en-US" sz="1400" b="1" dirty="0">
                <a:latin typeface="Courier New"/>
              </a:rPr>
              <a:t>Total</a:t>
            </a:r>
          </a:p>
          <a:p>
            <a:pPr marL="0" indent="0">
              <a:spcBef>
                <a:spcPts val="300"/>
              </a:spcBef>
              <a:buNone/>
            </a:pPr>
            <a:r>
              <a:rPr lang="en-US" sz="1400" b="0">
                <a:latin typeface="Courier New"/>
              </a:rPr>
              <a:t>──────────────────────────────────────────────────────────────</a:t>
            </a:r>
            <a:r>
              <a:rPr lang="en-US" sz="1400">
                <a:latin typeface="Courier New"/>
              </a:rPr>
              <a:t>──────────────</a:t>
            </a:r>
          </a:p>
          <a:p>
            <a:pPr marL="0" indent="0">
              <a:spcBef>
                <a:spcPts val="300"/>
              </a:spcBef>
              <a:buNone/>
            </a:pPr>
            <a:r>
              <a:rPr lang="en-US" sz="1400" b="0">
                <a:latin typeface="Courier New"/>
              </a:rPr>
              <a:t>     5  |    2   |          60       |         10       | ≥ 73</a:t>
            </a:r>
          </a:p>
          <a:p>
            <a:pPr marL="0" indent="0">
              <a:spcBef>
                <a:spcPts val="300"/>
              </a:spcBef>
              <a:buNone/>
            </a:pPr>
            <a:r>
              <a:rPr lang="en-US" sz="1400" b="0">
                <a:latin typeface="Courier New"/>
              </a:rPr>
              <a:t>    10  |    2   |         220       |         20       | </a:t>
            </a:r>
            <a:r>
              <a:rPr lang="en-US" sz="1400" b="0" dirty="0">
                <a:latin typeface="Courier New"/>
              </a:rPr>
              <a:t>≥ 243</a:t>
            </a:r>
          </a:p>
          <a:p>
            <a:pPr marL="0" indent="0">
              <a:spcBef>
                <a:spcPts val="300"/>
              </a:spcBef>
              <a:buNone/>
            </a:pPr>
            <a:r>
              <a:rPr lang="en-US" sz="1400" b="0" dirty="0">
                <a:latin typeface="Courier New"/>
              </a:rPr>
              <a:t>    </a:t>
            </a:r>
            <a:r>
              <a:rPr lang="en-US" sz="1400" b="0">
                <a:latin typeface="Courier New"/>
              </a:rPr>
              <a:t>20  |    3   </a:t>
            </a:r>
            <a:r>
              <a:rPr lang="en-US" sz="1400">
                <a:latin typeface="Courier New"/>
              </a:rPr>
              <a:t>|</a:t>
            </a:r>
            <a:r>
              <a:rPr lang="en-US" sz="1400" b="0">
                <a:latin typeface="Courier New"/>
              </a:rPr>
              <a:t>       1,260       |         60       | </a:t>
            </a:r>
            <a:r>
              <a:rPr lang="en-US" sz="1400" b="0" dirty="0">
                <a:latin typeface="Courier New"/>
              </a:rPr>
              <a:t>≥ 1,324</a:t>
            </a:r>
          </a:p>
          <a:p>
            <a:pPr marL="0" indent="0">
              <a:spcBef>
                <a:spcPts val="300"/>
              </a:spcBef>
              <a:buNone/>
            </a:pPr>
            <a:r>
              <a:rPr lang="en-US" sz="1400" b="0" dirty="0">
                <a:latin typeface="Courier New"/>
              </a:rPr>
              <a:t>   </a:t>
            </a:r>
            <a:r>
              <a:rPr lang="en-US" sz="1400" b="0">
                <a:latin typeface="Courier New"/>
              </a:rPr>
              <a:t>100  |   10   |     100,100       |      1,000       | </a:t>
            </a:r>
            <a:r>
              <a:rPr lang="en-US" sz="1400" b="0" dirty="0">
                <a:latin typeface="Courier New"/>
              </a:rPr>
              <a:t>≥ 102,011</a:t>
            </a:r>
          </a:p>
          <a:p>
            <a:pPr marL="0" indent="0">
              <a:spcBef>
                <a:spcPts val="300"/>
              </a:spcBef>
              <a:buNone/>
            </a:pPr>
            <a:r>
              <a:rPr lang="en-US" sz="1400" b="0" dirty="0">
                <a:latin typeface="Courier New"/>
              </a:rPr>
              <a:t>   </a:t>
            </a:r>
            <a:r>
              <a:rPr lang="en-US" sz="1400" b="0">
                <a:latin typeface="Courier New"/>
              </a:rPr>
              <a:t>400  |   40   |   6,400,160       |     16,000       | </a:t>
            </a:r>
            <a:r>
              <a:rPr lang="en-US" sz="1400" b="0" dirty="0">
                <a:latin typeface="Courier New"/>
              </a:rPr>
              <a:t>≥ 6,432,041</a:t>
            </a:r>
          </a:p>
          <a:p>
            <a:pPr marL="0" indent="0">
              <a:spcBef>
                <a:spcPts val="300"/>
              </a:spcBef>
              <a:buNone/>
            </a:pPr>
            <a:r>
              <a:rPr lang="en-US" sz="1400" b="0" dirty="0">
                <a:latin typeface="Courier New"/>
              </a:rPr>
              <a:t> </a:t>
            </a:r>
            <a:r>
              <a:rPr lang="en-US" sz="1400" b="0">
                <a:latin typeface="Courier New"/>
              </a:rPr>
              <a:t>1,000  |  100   | 100,100,000       |    100,000       | </a:t>
            </a:r>
            <a:r>
              <a:rPr lang="en-US" sz="1400" b="0" dirty="0">
                <a:latin typeface="Courier New"/>
              </a:rPr>
              <a:t>≥ 100,200,101</a:t>
            </a:r>
          </a:p>
          <a:p>
            <a:pPr marL="0" indent="0">
              <a:spcBef>
                <a:spcPts val="300"/>
              </a:spcBef>
              <a:buNone/>
            </a:pPr>
            <a:r>
              <a:rPr lang="en-US" sz="1400">
                <a:latin typeface="Courier New"/>
              </a:rPr>
              <a:t>────────────────────────────────────────────────────────────────────────────</a:t>
            </a:r>
          </a:p>
          <a:p>
            <a:pPr marL="0" indent="0">
              <a:spcBef>
                <a:spcPts val="300"/>
              </a:spcBef>
              <a:buNone/>
            </a:pPr>
            <a:endParaRPr lang="en-US" sz="1400" b="0" dirty="0">
              <a:latin typeface="Courier New"/>
            </a:endParaRPr>
          </a:p>
          <a:p>
            <a:pPr marL="0" indent="0">
              <a:spcBef>
                <a:spcPts val="300"/>
              </a:spcBef>
              <a:buNone/>
            </a:pPr>
            <a:r>
              <a:rPr lang="en-US" sz="1400" b="1" dirty="0">
                <a:solidFill>
                  <a:srgbClr val="C00000"/>
                </a:solidFill>
              </a:rPr>
              <a:t>VRP is NP-Hard</a:t>
            </a:r>
          </a:p>
          <a:p>
            <a:pPr marL="457200" indent="-457200">
              <a:spcBef>
                <a:spcPts val="300"/>
              </a:spcBef>
              <a:buNone/>
            </a:pPr>
            <a:r>
              <a:rPr lang="en-US" sz="1400" b="0" dirty="0"/>
              <a:t>Even unlimited memory would not help — the search space grows exponentially.</a:t>
            </a:r>
          </a:p>
          <a:p>
            <a:pPr marL="457200" indent="-457200">
              <a:spcBef>
                <a:spcPts val="300"/>
              </a:spcBef>
              <a:buNone/>
            </a:pPr>
            <a:r>
              <a:rPr lang="en-US" sz="1400" b="0" dirty="0"/>
              <a:t>K=10, N=80: search space ≈ 10^80 (&gt; atoms in observable universe).</a:t>
            </a:r>
          </a:p>
          <a:p>
            <a:pPr marL="457200" indent="-457200">
              <a:spcBef>
                <a:spcPts val="300"/>
              </a:spcBef>
              <a:buNone/>
            </a:pPr>
            <a:r>
              <a:rPr lang="en-US" sz="1400" b="0" dirty="0"/>
              <a:t>AddCircuit improves small-instance speed but does NOT reduce the O(K×N²) variable count.</a:t>
            </a:r>
          </a:p>
          <a:p>
            <a:pPr>
              <a:spcBef>
                <a:spcPts val="300"/>
              </a:spcBef>
            </a:pPr>
            <a:endParaRPr lang="en-US" sz="14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600" dirty="0"/>
              <a:t>6. Hill Climbing Heuristic</a:t>
            </a:r>
          </a:p>
        </p:txBody>
      </p:sp>
      <p:sp>
        <p:nvSpPr>
          <p:cNvPr id="3" name="Content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en-US" sz="2400" b="0" dirty="0"/>
          </a:p>
          <a:p>
            <a:r>
              <a:rPr lang="en-US" sz="2400"/>
              <a:t>Background</a:t>
            </a:r>
          </a:p>
          <a:p>
            <a:r>
              <a:rPr lang="en-US" sz="2400"/>
              <a:t>Logic</a:t>
            </a:r>
          </a:p>
          <a:p>
            <a:r>
              <a:rPr lang="en-US" sz="2400"/>
              <a:t>6 Sub-Algorithms with Pseudocode</a:t>
            </a:r>
            <a:endParaRPr lang="en-US" sz="24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600" dirty="0"/>
              <a:t>6.1 Background &amp; Logic</a:t>
            </a:r>
          </a:p>
        </p:txBody>
      </p:sp>
      <p:sp>
        <p:nvSpPr>
          <p:cNvPr id="3" name="Content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1400" b="1" dirty="0"/>
              <a:t>Background</a:t>
            </a:r>
          </a:p>
          <a:p>
            <a:pPr marL="0" indent="0">
              <a:buNone/>
            </a:pPr>
            <a:r>
              <a:rPr lang="en-US" sz="1400" b="0" dirty="0"/>
              <a:t>Hill climbing is a mathematical optimization and heuristic search technique.</a:t>
            </a:r>
          </a:p>
          <a:p>
            <a:pPr marL="0" indent="0">
              <a:buNone/>
            </a:pPr>
            <a:r>
              <a:rPr lang="en-US" sz="1400" b="0" dirty="0"/>
              <a:t>Belongs to the family of LOCAL SEARCH methods.</a:t>
            </a:r>
          </a:p>
          <a:p>
            <a:pPr marL="0" indent="0">
              <a:buNone/>
            </a:pPr>
            <a:r>
              <a:rPr lang="en-US" sz="1400" b="0" dirty="0"/>
              <a:t>Continually moves in the direction of decreasing cost to find the best possible solution.</a:t>
            </a:r>
          </a:p>
          <a:p>
            <a:pPr marL="0" indent="0">
              <a:buNone/>
            </a:pPr>
            <a:endParaRPr lang="en-US" sz="1400" b="0" dirty="0"/>
          </a:p>
          <a:p>
            <a:pPr marL="0" indent="0">
              <a:buNone/>
            </a:pPr>
            <a:r>
              <a:rPr lang="en-US" sz="1400" b="1" dirty="0"/>
              <a:t>Search Logic</a:t>
            </a:r>
          </a:p>
          <a:p>
            <a:pPr marL="457200" indent="-457200">
              <a:buNone/>
            </a:pPr>
            <a:r>
              <a:rPr lang="en-US" sz="1400" b="0" dirty="0"/>
              <a:t>① Initialize:    Generate initial candidate solution using greedy algorithm.</a:t>
            </a:r>
          </a:p>
          <a:p>
            <a:pPr marL="457200" indent="-457200">
              <a:buNone/>
            </a:pPr>
            <a:r>
              <a:rPr lang="en-US" sz="1400" b="0" dirty="0"/>
              <a:t>② Compute:      Use compute_max_time() to measure total makespan of current state.</a:t>
            </a:r>
          </a:p>
          <a:p>
            <a:pPr marL="457200" indent="-457200">
              <a:buNone/>
            </a:pPr>
            <a:r>
              <a:rPr lang="en-US" sz="1400" b="0" dirty="0"/>
              <a:t>③ Check Neighbors:  Make minor tweaks to create nearby alternative solutions:</a:t>
            </a:r>
          </a:p>
          <a:p>
            <a:pPr marL="914400" indent="-457200">
              <a:buNone/>
            </a:pPr>
            <a:r>
              <a:rPr lang="en-US" sz="1400" b="0" dirty="0"/>
              <a:t>   • Swap:           Choose 2 routes randomly; swap 1 customer between them.</a:t>
            </a:r>
          </a:p>
          <a:p>
            <a:pPr marL="914400" indent="-457200">
              <a:buNone/>
            </a:pPr>
            <a:r>
              <a:rPr lang="en-US" sz="1400" b="0" dirty="0"/>
              <a:t>   • Multiple Swap:  Choose 2 routes randomly; swap multiple customers between them.</a:t>
            </a:r>
          </a:p>
          <a:p>
            <a:pPr marL="914400" indent="-457200">
              <a:buNone/>
            </a:pPr>
            <a:r>
              <a:rPr lang="en-US" sz="1400" b="0" dirty="0"/>
              <a:t>   • Move:           Choose 1 customer from a route; move it to another route.</a:t>
            </a:r>
          </a:p>
          <a:p>
            <a:pPr marL="457200" indent="-457200">
              <a:buNone/>
            </a:pPr>
            <a:r>
              <a:rPr lang="en-US" sz="1400" b="0" dirty="0"/>
              <a:t>④ If a neighboring state has a BETTER (lower) makespan → step into it.</a:t>
            </a:r>
          </a:p>
          <a:p>
            <a:pPr marL="457200" indent="-457200">
              <a:buNone/>
            </a:pPr>
            <a:r>
              <a:rPr lang="en-US" sz="1400" b="0" dirty="0"/>
              <a:t>⑤ Stop when no surrounding neighbor offers an improvement (local minimum).</a:t>
            </a:r>
          </a:p>
          <a:p>
            <a:endParaRPr lang="en-US" sz="14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400" dirty="0"/>
              <a:t>6.2 Algorithm 1: Compute Max Time  &amp;  Algorithm 2: Swap</a:t>
            </a:r>
          </a:p>
        </p:txBody>
      </p:sp>
      <p:sp>
        <p:nvSpPr>
          <p:cNvPr id="3" name="Content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0" indent="0">
              <a:spcBef>
                <a:spcPts val="200"/>
              </a:spcBef>
              <a:buNone/>
            </a:pPr>
            <a:r>
              <a:rPr lang="en-US" sz="1400" b="1" dirty="0"/>
              <a:t>Algorithm 1: compute_max_time(routes)</a:t>
            </a:r>
          </a:p>
          <a:p>
            <a:pPr marL="0" indent="0">
              <a:spcBef>
                <a:spcPts val="200"/>
              </a:spcBef>
              <a:buNone/>
            </a:pPr>
            <a:r>
              <a:rPr lang="en-US" sz="1400" b="0" dirty="0">
                <a:latin typeface="Courier New"/>
              </a:rPr>
              <a:t>function compute_max_time(routes):</a:t>
            </a:r>
          </a:p>
          <a:p>
            <a:pPr marL="457200" indent="-457200">
              <a:spcBef>
                <a:spcPts val="200"/>
              </a:spcBef>
              <a:buNone/>
            </a:pPr>
            <a:r>
              <a:rPr lang="en-US" sz="1400" b="0" dirty="0">
                <a:latin typeface="Courier New"/>
              </a:rPr>
              <a:t>  Initialize max_time = 0, time = 0</a:t>
            </a:r>
          </a:p>
          <a:p>
            <a:pPr marL="457200" indent="-457200">
              <a:spcBef>
                <a:spcPts val="200"/>
              </a:spcBef>
              <a:buNone/>
            </a:pPr>
            <a:r>
              <a:rPr lang="en-US" sz="1400" b="0" dirty="0">
                <a:latin typeface="Courier New"/>
              </a:rPr>
              <a:t>  for each route do</a:t>
            </a:r>
          </a:p>
          <a:p>
            <a:pPr marL="914400" indent="-457200">
              <a:spcBef>
                <a:spcPts val="200"/>
              </a:spcBef>
              <a:buNone/>
            </a:pPr>
            <a:r>
              <a:rPr lang="en-US" sz="1400" b="0" dirty="0">
                <a:latin typeface="Courier New"/>
              </a:rPr>
              <a:t>    time = 0</a:t>
            </a:r>
          </a:p>
          <a:p>
            <a:pPr marL="914400" indent="-457200">
              <a:spcBef>
                <a:spcPts val="200"/>
              </a:spcBef>
              <a:buNone/>
            </a:pPr>
            <a:r>
              <a:rPr lang="en-US" sz="1400" b="0" dirty="0">
                <a:latin typeface="Courier New"/>
              </a:rPr>
              <a:t>    for i = 0 to (length of route − 1) do</a:t>
            </a:r>
          </a:p>
          <a:p>
            <a:pPr marL="1371600" indent="-457200">
              <a:spcBef>
                <a:spcPts val="200"/>
              </a:spcBef>
              <a:buNone/>
            </a:pPr>
            <a:r>
              <a:rPr lang="en-US" sz="1400" b="0" dirty="0">
                <a:latin typeface="Courier New"/>
              </a:rPr>
              <a:t>      time += travel_time(route[i], route[i+1])</a:t>
            </a:r>
          </a:p>
          <a:p>
            <a:pPr marL="1371600" indent="-457200">
              <a:spcBef>
                <a:spcPts val="200"/>
              </a:spcBef>
              <a:buNone/>
            </a:pPr>
            <a:r>
              <a:rPr lang="en-US" sz="1400" b="0" dirty="0">
                <a:latin typeface="Courier New"/>
              </a:rPr>
              <a:t>      if route[i+1] != depot:  time += service_time(route[i+1])</a:t>
            </a:r>
          </a:p>
          <a:p>
            <a:pPr marL="914400" indent="-457200">
              <a:spcBef>
                <a:spcPts val="200"/>
              </a:spcBef>
              <a:buNone/>
            </a:pPr>
            <a:r>
              <a:rPr lang="en-US" sz="1400" b="0" dirty="0">
                <a:latin typeface="Courier New"/>
              </a:rPr>
              <a:t>    max_time = max(max_time, time)</a:t>
            </a:r>
          </a:p>
          <a:p>
            <a:pPr marL="457200" indent="-457200">
              <a:spcBef>
                <a:spcPts val="200"/>
              </a:spcBef>
              <a:buNone/>
            </a:pPr>
            <a:r>
              <a:rPr lang="en-US" sz="1400" b="0" dirty="0">
                <a:latin typeface="Courier New"/>
              </a:rPr>
              <a:t>  return max_time</a:t>
            </a:r>
          </a:p>
          <a:p>
            <a:pPr marL="0" indent="0">
              <a:spcBef>
                <a:spcPts val="200"/>
              </a:spcBef>
              <a:buNone/>
            </a:pPr>
            <a:r>
              <a:rPr lang="en-US" sz="1400" b="1" dirty="0">
                <a:latin typeface="Courier New"/>
              </a:rPr>
              <a:t>end function</a:t>
            </a:r>
          </a:p>
          <a:p>
            <a:pPr marL="0" indent="0">
              <a:spcBef>
                <a:spcPts val="200"/>
              </a:spcBef>
              <a:buNone/>
            </a:pPr>
            <a:endParaRPr lang="en-US" sz="1400" b="1" dirty="0">
              <a:latin typeface="Courier New"/>
            </a:endParaRPr>
          </a:p>
          <a:p>
            <a:pPr marL="0" indent="0">
              <a:spcBef>
                <a:spcPts val="200"/>
              </a:spcBef>
              <a:buNone/>
            </a:pPr>
            <a:r>
              <a:rPr lang="en-US" sz="1400" b="1" dirty="0"/>
              <a:t>Algorithm 2: try_neighbor_swap(routes, best_cost)</a:t>
            </a:r>
          </a:p>
          <a:p>
            <a:pPr marL="0" indent="0">
              <a:spcBef>
                <a:spcPts val="200"/>
              </a:spcBef>
              <a:buNone/>
            </a:pPr>
            <a:r>
              <a:rPr lang="en-US" sz="1400" b="0" dirty="0">
                <a:latin typeface="Courier New"/>
              </a:rPr>
              <a:t>function try_neighbor_swap(routes, best_cost):</a:t>
            </a:r>
          </a:p>
          <a:p>
            <a:pPr marL="457200" indent="-457200">
              <a:spcBef>
                <a:spcPts val="200"/>
              </a:spcBef>
              <a:buNone/>
            </a:pPr>
            <a:r>
              <a:rPr lang="en-US" sz="1400" b="0" dirty="0">
                <a:latin typeface="Courier New"/>
              </a:rPr>
              <a:t>  Randomly select two routes r1, r2 with |r1| &gt;= 2 and |r2| &gt;= 2</a:t>
            </a:r>
          </a:p>
          <a:p>
            <a:pPr marL="457200" indent="-457200">
              <a:spcBef>
                <a:spcPts val="200"/>
              </a:spcBef>
              <a:buNone/>
            </a:pPr>
            <a:r>
              <a:rPr lang="en-US" sz="1400" b="0" dirty="0">
                <a:latin typeface="Courier New"/>
              </a:rPr>
              <a:t>  Randomly select nodes i in r1 \ {0},  j in r2 \ {0}</a:t>
            </a:r>
          </a:p>
          <a:p>
            <a:pPr marL="457200" indent="-457200">
              <a:spcBef>
                <a:spcPts val="200"/>
              </a:spcBef>
              <a:buNone/>
            </a:pPr>
            <a:r>
              <a:rPr lang="en-US" sz="1400" b="0" dirty="0">
                <a:latin typeface="Courier New"/>
              </a:rPr>
              <a:t>  Swap nodes i and j between routes</a:t>
            </a:r>
          </a:p>
          <a:p>
            <a:pPr marL="457200" indent="-457200">
              <a:spcBef>
                <a:spcPts val="200"/>
              </a:spcBef>
              <a:buNone/>
            </a:pPr>
            <a:r>
              <a:rPr lang="en-US" sz="1400" b="0" dirty="0">
                <a:latin typeface="Courier New"/>
              </a:rPr>
              <a:t>  if modified solution is improved (lower cost):</a:t>
            </a:r>
          </a:p>
          <a:p>
            <a:pPr marL="914400" indent="-457200">
              <a:spcBef>
                <a:spcPts val="200"/>
              </a:spcBef>
              <a:buNone/>
            </a:pPr>
            <a:r>
              <a:rPr lang="en-US" sz="1400" b="0" dirty="0">
                <a:latin typeface="Courier New"/>
              </a:rPr>
              <a:t>    return modified cost</a:t>
            </a:r>
          </a:p>
          <a:p>
            <a:pPr marL="457200" indent="-457200">
              <a:spcBef>
                <a:spcPts val="200"/>
              </a:spcBef>
              <a:buNone/>
            </a:pPr>
            <a:r>
              <a:rPr lang="en-US" sz="1400" b="0" dirty="0">
                <a:latin typeface="Courier New"/>
              </a:rPr>
              <a:t>  If not: UNDO the swap</a:t>
            </a:r>
          </a:p>
          <a:p>
            <a:pPr marL="457200" indent="-457200">
              <a:spcBef>
                <a:spcPts val="200"/>
              </a:spcBef>
              <a:buNone/>
            </a:pPr>
            <a:r>
              <a:rPr lang="en-US" sz="1400" b="0" dirty="0">
                <a:latin typeface="Courier New"/>
              </a:rPr>
              <a:t>  return best_cost</a:t>
            </a:r>
          </a:p>
          <a:p>
            <a:pPr marL="0" indent="0">
              <a:spcBef>
                <a:spcPts val="200"/>
              </a:spcBef>
              <a:buNone/>
            </a:pPr>
            <a:r>
              <a:rPr lang="en-US" sz="1400" b="1" dirty="0">
                <a:latin typeface="Courier New"/>
              </a:rPr>
              <a:t>end function</a:t>
            </a:r>
          </a:p>
          <a:p>
            <a:pPr>
              <a:spcBef>
                <a:spcPts val="200"/>
              </a:spcBef>
            </a:pPr>
            <a:endParaRPr lang="en-US" sz="14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600" dirty="0"/>
              <a:t>6.2 Algorithm 3: Multiple Swap  &amp;  Algorithm 4: Move</a:t>
            </a:r>
          </a:p>
        </p:txBody>
      </p:sp>
      <p:sp>
        <p:nvSpPr>
          <p:cNvPr id="3" name="Content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0" indent="0">
              <a:spcBef>
                <a:spcPts val="300"/>
              </a:spcBef>
              <a:buNone/>
            </a:pPr>
            <a:r>
              <a:rPr lang="en-US" sz="1400" b="1" dirty="0"/>
              <a:t>Algorithm 3: try_neighbor_swap_multiples(routes, best_cost, num_nodes)</a:t>
            </a:r>
          </a:p>
          <a:p>
            <a:pPr marL="0" indent="0">
              <a:spcBef>
                <a:spcPts val="300"/>
              </a:spcBef>
              <a:buNone/>
            </a:pPr>
            <a:r>
              <a:rPr lang="en-US" sz="1400" b="0" dirty="0">
                <a:latin typeface="Courier New"/>
              </a:rPr>
              <a:t>function try_neighbor_swap_multiples(routes, best_cost, num_nodes):</a:t>
            </a:r>
          </a:p>
          <a:p>
            <a:pPr marL="457200" indent="-457200">
              <a:spcBef>
                <a:spcPts val="300"/>
              </a:spcBef>
              <a:buNone/>
            </a:pPr>
            <a:r>
              <a:rPr lang="en-US" sz="1400" b="0" dirty="0">
                <a:latin typeface="Courier New"/>
              </a:rPr>
              <a:t>  Randomly select two routes r1, r2 with |r1| &gt;= 2 and |r2| &gt;= 2</a:t>
            </a:r>
          </a:p>
          <a:p>
            <a:pPr marL="457200" indent="-457200">
              <a:spcBef>
                <a:spcPts val="300"/>
              </a:spcBef>
              <a:buNone/>
            </a:pPr>
            <a:r>
              <a:rPr lang="en-US" sz="1400" b="0" dirty="0">
                <a:latin typeface="Courier New"/>
              </a:rPr>
              <a:t>  Randomly select starting nodes i in r1 \ {0},  j in r2 \ {0}</a:t>
            </a:r>
          </a:p>
          <a:p>
            <a:pPr marL="457200" indent="-457200">
              <a:spcBef>
                <a:spcPts val="300"/>
              </a:spcBef>
              <a:buNone/>
            </a:pPr>
            <a:r>
              <a:rPr lang="en-US" sz="1400" b="0" dirty="0">
                <a:latin typeface="Courier New"/>
              </a:rPr>
              <a:t>  for i = 0 to (num_nodes − 1) do</a:t>
            </a:r>
          </a:p>
          <a:p>
            <a:pPr marL="914400" indent="-457200">
              <a:spcBef>
                <a:spcPts val="300"/>
              </a:spcBef>
              <a:buNone/>
            </a:pPr>
            <a:r>
              <a:rPr lang="en-US" sz="1400" b="0" dirty="0">
                <a:latin typeface="Courier New"/>
              </a:rPr>
              <a:t>    Swap consecutive nodes i and j between routes</a:t>
            </a:r>
          </a:p>
          <a:p>
            <a:pPr marL="457200" indent="-457200">
              <a:spcBef>
                <a:spcPts val="300"/>
              </a:spcBef>
              <a:buNone/>
            </a:pPr>
            <a:r>
              <a:rPr lang="en-US" sz="1400" b="0" dirty="0">
                <a:latin typeface="Courier New"/>
              </a:rPr>
              <a:t>  if modified solution is improved:</a:t>
            </a:r>
          </a:p>
          <a:p>
            <a:pPr marL="914400" indent="-457200">
              <a:spcBef>
                <a:spcPts val="300"/>
              </a:spcBef>
              <a:buNone/>
            </a:pPr>
            <a:r>
              <a:rPr lang="en-US" sz="1400" b="0" dirty="0">
                <a:latin typeface="Courier New"/>
              </a:rPr>
              <a:t>    return modified cost</a:t>
            </a:r>
          </a:p>
          <a:p>
            <a:pPr marL="457200" indent="-457200">
              <a:spcBef>
                <a:spcPts val="300"/>
              </a:spcBef>
              <a:buNone/>
            </a:pPr>
            <a:r>
              <a:rPr lang="en-US" sz="1400" b="0" dirty="0">
                <a:latin typeface="Courier New"/>
              </a:rPr>
              <a:t>  If not: UNDO the multi-swap</a:t>
            </a:r>
          </a:p>
          <a:p>
            <a:pPr marL="457200" indent="-457200">
              <a:spcBef>
                <a:spcPts val="300"/>
              </a:spcBef>
              <a:buNone/>
            </a:pPr>
            <a:r>
              <a:rPr lang="en-US" sz="1400" b="0" dirty="0">
                <a:latin typeface="Courier New"/>
              </a:rPr>
              <a:t>  return best_cost</a:t>
            </a:r>
          </a:p>
          <a:p>
            <a:pPr marL="0" indent="0">
              <a:spcBef>
                <a:spcPts val="300"/>
              </a:spcBef>
              <a:buNone/>
            </a:pPr>
            <a:r>
              <a:rPr lang="en-US" sz="1400" b="1" dirty="0">
                <a:latin typeface="Courier New"/>
              </a:rPr>
              <a:t>end function</a:t>
            </a:r>
          </a:p>
          <a:p>
            <a:pPr marL="0" indent="0">
              <a:spcBef>
                <a:spcPts val="300"/>
              </a:spcBef>
              <a:buNone/>
            </a:pPr>
            <a:endParaRPr lang="en-US" sz="1400" b="1" dirty="0">
              <a:latin typeface="Courier New"/>
            </a:endParaRPr>
          </a:p>
          <a:p>
            <a:pPr marL="0" indent="0">
              <a:spcBef>
                <a:spcPts val="300"/>
              </a:spcBef>
              <a:buNone/>
            </a:pPr>
            <a:r>
              <a:rPr lang="en-US" sz="1400" b="1" dirty="0"/>
              <a:t>Algorithm 4: try_neighbor_move(routes, best_cost)</a:t>
            </a:r>
          </a:p>
          <a:p>
            <a:pPr marL="0" indent="0">
              <a:spcBef>
                <a:spcPts val="300"/>
              </a:spcBef>
              <a:buNone/>
            </a:pPr>
            <a:r>
              <a:rPr lang="en-US" sz="1400" b="0" dirty="0">
                <a:latin typeface="Courier New"/>
              </a:rPr>
              <a:t>function try_neighbor_move(routes, best_cost):</a:t>
            </a:r>
          </a:p>
          <a:p>
            <a:pPr marL="457200" indent="-457200">
              <a:spcBef>
                <a:spcPts val="300"/>
              </a:spcBef>
              <a:buNone/>
            </a:pPr>
            <a:r>
              <a:rPr lang="en-US" sz="1400" b="0" dirty="0">
                <a:latin typeface="Courier New"/>
              </a:rPr>
              <a:t>  Randomly select two routes r1, r2 with |r1| &gt;= 2 and |r2| &gt;= 2</a:t>
            </a:r>
          </a:p>
          <a:p>
            <a:pPr marL="457200" indent="-457200">
              <a:spcBef>
                <a:spcPts val="300"/>
              </a:spcBef>
              <a:buNone/>
            </a:pPr>
            <a:r>
              <a:rPr lang="en-US" sz="1400" b="0" dirty="0">
                <a:latin typeface="Courier New"/>
              </a:rPr>
              <a:t>  Randomly select node i in r1 \ {0},  j in r2 \ {0}</a:t>
            </a:r>
          </a:p>
          <a:p>
            <a:pPr marL="457200" indent="-457200">
              <a:spcBef>
                <a:spcPts val="300"/>
              </a:spcBef>
              <a:buNone/>
            </a:pPr>
            <a:r>
              <a:rPr lang="en-US" sz="1400" b="0" dirty="0">
                <a:latin typeface="Courier New"/>
              </a:rPr>
              <a:t>  MOVE the customer from node i into route r2 at position j</a:t>
            </a:r>
          </a:p>
          <a:p>
            <a:pPr marL="457200" indent="-457200">
              <a:spcBef>
                <a:spcPts val="300"/>
              </a:spcBef>
              <a:buNone/>
            </a:pPr>
            <a:r>
              <a:rPr lang="en-US" sz="1400" b="0" dirty="0">
                <a:latin typeface="Courier New"/>
              </a:rPr>
              <a:t>  if modified solution is improved:</a:t>
            </a:r>
          </a:p>
          <a:p>
            <a:pPr marL="914400" indent="-457200">
              <a:spcBef>
                <a:spcPts val="300"/>
              </a:spcBef>
              <a:buNone/>
            </a:pPr>
            <a:r>
              <a:rPr lang="en-US" sz="1400" b="0" dirty="0">
                <a:latin typeface="Courier New"/>
              </a:rPr>
              <a:t>    return modified cost</a:t>
            </a:r>
          </a:p>
          <a:p>
            <a:pPr marL="457200" indent="-457200">
              <a:spcBef>
                <a:spcPts val="300"/>
              </a:spcBef>
              <a:buNone/>
            </a:pPr>
            <a:r>
              <a:rPr lang="en-US" sz="1400" b="0" dirty="0">
                <a:latin typeface="Courier New"/>
              </a:rPr>
              <a:t>  If not: UNDO the move</a:t>
            </a:r>
          </a:p>
          <a:p>
            <a:pPr marL="457200" indent="-457200">
              <a:spcBef>
                <a:spcPts val="300"/>
              </a:spcBef>
              <a:buNone/>
            </a:pPr>
            <a:r>
              <a:rPr lang="en-US" sz="1400" b="0" dirty="0">
                <a:latin typeface="Courier New"/>
              </a:rPr>
              <a:t>  return best_cost</a:t>
            </a:r>
          </a:p>
          <a:p>
            <a:pPr marL="0" indent="0">
              <a:spcBef>
                <a:spcPts val="300"/>
              </a:spcBef>
              <a:buNone/>
            </a:pPr>
            <a:r>
              <a:rPr lang="en-US" sz="1400" b="1" dirty="0">
                <a:latin typeface="Courier New"/>
              </a:rPr>
              <a:t>end function</a:t>
            </a:r>
          </a:p>
          <a:p>
            <a:pPr>
              <a:spcBef>
                <a:spcPts val="300"/>
              </a:spcBef>
            </a:pPr>
            <a:endParaRPr lang="en-US" sz="14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600" dirty="0"/>
              <a:t>6.2 Algorithm 5: Greedy Initialization (Part 1)</a:t>
            </a:r>
          </a:p>
        </p:txBody>
      </p:sp>
      <p:sp>
        <p:nvSpPr>
          <p:cNvPr id="3" name="Content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0" indent="0">
              <a:spcBef>
                <a:spcPts val="200"/>
              </a:spcBef>
              <a:buNone/>
            </a:pPr>
            <a:r>
              <a:rPr lang="en-US" sz="1400" b="1" dirty="0">
                <a:latin typeface="Courier New"/>
              </a:rPr>
              <a:t>function greedy():</a:t>
            </a:r>
          </a:p>
          <a:p>
            <a:pPr marL="0" indent="0">
              <a:spcBef>
                <a:spcPts val="200"/>
              </a:spcBef>
              <a:buNone/>
            </a:pPr>
            <a:r>
              <a:rPr lang="en-US" sz="1400" b="0" dirty="0">
                <a:latin typeface="Courier New"/>
              </a:rPr>
              <a:t>  // Initialize K technicians</a:t>
            </a:r>
          </a:p>
          <a:p>
            <a:pPr marL="457200" indent="-457200">
              <a:spcBef>
                <a:spcPts val="200"/>
              </a:spcBef>
              <a:buNone/>
            </a:pPr>
            <a:r>
              <a:rPr lang="en-US" sz="1400" b="0" dirty="0">
                <a:latin typeface="Courier New"/>
              </a:rPr>
              <a:t>  technicians = array of K elements, each with:</a:t>
            </a:r>
          </a:p>
          <a:p>
            <a:pPr marL="914400" indent="-457200">
              <a:spcBef>
                <a:spcPts val="200"/>
              </a:spcBef>
              <a:buNone/>
            </a:pPr>
            <a:r>
              <a:rPr lang="en-US" sz="1400" b="0" dirty="0">
                <a:latin typeface="Courier New"/>
              </a:rPr>
              <a:t>      route = [0]   and   work = 0</a:t>
            </a:r>
          </a:p>
          <a:p>
            <a:pPr marL="0" indent="0">
              <a:spcBef>
                <a:spcPts val="200"/>
              </a:spcBef>
              <a:buNone/>
            </a:pPr>
            <a:endParaRPr lang="en-US" sz="1400" b="0" dirty="0">
              <a:latin typeface="Courier New"/>
            </a:endParaRPr>
          </a:p>
          <a:p>
            <a:pPr marL="457200" indent="-457200">
              <a:spcBef>
                <a:spcPts val="200"/>
              </a:spcBef>
              <a:buNone/>
            </a:pPr>
            <a:r>
              <a:rPr lang="en-US" sz="1400" b="0" dirty="0">
                <a:latin typeface="Courier New"/>
              </a:rPr>
              <a:t>  visited = array of size (N+1) filled with FALSE</a:t>
            </a:r>
          </a:p>
          <a:p>
            <a:pPr marL="457200" indent="-457200">
              <a:spcBef>
                <a:spcPts val="200"/>
              </a:spcBef>
              <a:buNone/>
            </a:pPr>
            <a:r>
              <a:rPr lang="en-US" sz="1400" b="0" dirty="0">
                <a:latin typeface="Courier New"/>
              </a:rPr>
              <a:t>  visited[0] = TRUE</a:t>
            </a:r>
          </a:p>
          <a:p>
            <a:pPr marL="0" indent="0">
              <a:spcBef>
                <a:spcPts val="200"/>
              </a:spcBef>
              <a:buNone/>
            </a:pPr>
            <a:endParaRPr lang="en-US" sz="1400" b="0" dirty="0">
              <a:latin typeface="Courier New"/>
            </a:endParaRPr>
          </a:p>
          <a:p>
            <a:pPr marL="457200" indent="-457200">
              <a:spcBef>
                <a:spcPts val="200"/>
              </a:spcBef>
              <a:buNone/>
            </a:pPr>
            <a:r>
              <a:rPr lang="en-US" sz="1400" b="0" dirty="0">
                <a:latin typeface="Courier New"/>
              </a:rPr>
              <a:t>  customers = list [1..N]</a:t>
            </a:r>
          </a:p>
          <a:p>
            <a:pPr marL="457200" indent="-457200">
              <a:spcBef>
                <a:spcPts val="200"/>
              </a:spcBef>
              <a:buNone/>
            </a:pPr>
            <a:r>
              <a:rPr lang="en-US" sz="1400" b="0" dirty="0">
                <a:latin typeface="Courier New"/>
              </a:rPr>
              <a:t>  SHUFFLE customers randomly</a:t>
            </a:r>
          </a:p>
          <a:p>
            <a:pPr marL="0" indent="0">
              <a:spcBef>
                <a:spcPts val="200"/>
              </a:spcBef>
              <a:buNone/>
            </a:pPr>
            <a:endParaRPr lang="en-US" sz="1400" b="0" dirty="0">
              <a:latin typeface="Courier New"/>
            </a:endParaRPr>
          </a:p>
          <a:p>
            <a:pPr marL="457200" indent="-457200">
              <a:spcBef>
                <a:spcPts val="200"/>
              </a:spcBef>
              <a:buNone/>
            </a:pPr>
            <a:r>
              <a:rPr lang="en-US" sz="1400" b="0" dirty="0">
                <a:latin typeface="Courier New"/>
              </a:rPr>
              <a:t>  for N iterations do:</a:t>
            </a:r>
          </a:p>
          <a:p>
            <a:pPr marL="914400" indent="-457200">
              <a:spcBef>
                <a:spcPts val="200"/>
              </a:spcBef>
              <a:buNone/>
            </a:pPr>
            <a:r>
              <a:rPr lang="en-US" sz="1400" b="0" dirty="0">
                <a:latin typeface="Courier New"/>
              </a:rPr>
              <a:t>    best_cost = INFINITY ;  best_tech = −1 ;  best_cust = −1</a:t>
            </a:r>
          </a:p>
          <a:p>
            <a:pPr marL="0" indent="0">
              <a:spcBef>
                <a:spcPts val="200"/>
              </a:spcBef>
              <a:buNone/>
            </a:pPr>
            <a:endParaRPr lang="en-US" sz="1400" b="0" dirty="0">
              <a:latin typeface="Courier New"/>
            </a:endParaRPr>
          </a:p>
          <a:p>
            <a:pPr marL="914400" indent="-457200">
              <a:spcBef>
                <a:spcPts val="200"/>
              </a:spcBef>
              <a:buNone/>
            </a:pPr>
            <a:r>
              <a:rPr lang="en-US" sz="1400" b="0" dirty="0">
                <a:latin typeface="Courier New"/>
              </a:rPr>
              <a:t>    for each cust in customers do:</a:t>
            </a:r>
          </a:p>
          <a:p>
            <a:pPr marL="1371600" indent="-457200">
              <a:spcBef>
                <a:spcPts val="200"/>
              </a:spcBef>
              <a:buNone/>
            </a:pPr>
            <a:r>
              <a:rPr lang="en-US" sz="1400" b="0" dirty="0">
                <a:latin typeface="Courier New"/>
              </a:rPr>
              <a:t>      if visited[cust]: continue</a:t>
            </a:r>
          </a:p>
          <a:p>
            <a:pPr marL="1371600" indent="-457200">
              <a:spcBef>
                <a:spcPts val="200"/>
              </a:spcBef>
              <a:buNone/>
            </a:pPr>
            <a:r>
              <a:rPr lang="en-US" sz="1400" b="0" dirty="0">
                <a:latin typeface="Courier New"/>
              </a:rPr>
              <a:t>      for k = 0 to K−1 do:</a:t>
            </a:r>
          </a:p>
          <a:p>
            <a:pPr marL="1828800" indent="-457200">
              <a:spcBef>
                <a:spcPts val="200"/>
              </a:spcBef>
              <a:buNone/>
            </a:pPr>
            <a:r>
              <a:rPr lang="en-US" sz="1400" b="0" dirty="0">
                <a:latin typeface="Courier New"/>
              </a:rPr>
              <a:t>        last_node = last node in technicians[k].route</a:t>
            </a:r>
          </a:p>
          <a:p>
            <a:pPr marL="1828800" indent="-457200">
              <a:spcBef>
                <a:spcPts val="200"/>
              </a:spcBef>
              <a:buNone/>
            </a:pPr>
            <a:r>
              <a:rPr lang="en-US" sz="1400" b="0" dirty="0">
                <a:latin typeface="Courier New"/>
              </a:rPr>
              <a:t>        cost = technicians[k].work + matrix[last_node][cust] + d[cust]</a:t>
            </a:r>
          </a:p>
          <a:p>
            <a:pPr marL="1828800" indent="-457200">
              <a:spcBef>
                <a:spcPts val="200"/>
              </a:spcBef>
              <a:buNone/>
            </a:pPr>
            <a:r>
              <a:rPr lang="en-US" sz="1400" b="0" dirty="0">
                <a:latin typeface="Courier New"/>
              </a:rPr>
              <a:t>        if cost &lt; best_cost:</a:t>
            </a:r>
          </a:p>
          <a:p>
            <a:pPr marL="2286000" indent="-457200">
              <a:spcBef>
                <a:spcPts val="200"/>
              </a:spcBef>
              <a:buNone/>
            </a:pPr>
            <a:r>
              <a:rPr lang="en-US" sz="1400" b="0" dirty="0">
                <a:latin typeface="Courier New"/>
              </a:rPr>
              <a:t>          best_cost = cost ;  best_tech = k ;  best_cust = cust</a:t>
            </a:r>
          </a:p>
          <a:p>
            <a:pPr>
              <a:spcBef>
                <a:spcPts val="200"/>
              </a:spcBef>
            </a:pPr>
            <a:endParaRPr lang="en-US" sz="14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600" dirty="0"/>
              <a:t>6.2 Algorithm 5 (Part 2) &amp; Algorithm 6: Hill Climbing Loop</a:t>
            </a:r>
          </a:p>
        </p:txBody>
      </p:sp>
      <p:sp>
        <p:nvSpPr>
          <p:cNvPr id="3" name="Content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914400" indent="-457200">
              <a:spcBef>
                <a:spcPts val="200"/>
              </a:spcBef>
              <a:buNone/>
            </a:pPr>
            <a:r>
              <a:rPr lang="en-US" sz="1400" b="0" dirty="0">
                <a:latin typeface="Courier New"/>
              </a:rPr>
              <a:t>    // Assign best customer to selected technician</a:t>
            </a:r>
          </a:p>
          <a:p>
            <a:pPr marL="914400" indent="-457200">
              <a:spcBef>
                <a:spcPts val="200"/>
              </a:spcBef>
              <a:buNone/>
            </a:pPr>
            <a:r>
              <a:rPr lang="en-US" sz="1400" b="0" dirty="0">
                <a:latin typeface="Courier New"/>
              </a:rPr>
              <a:t>    technicians[best_tech].route.append(best_cust)</a:t>
            </a:r>
          </a:p>
          <a:p>
            <a:pPr marL="914400" indent="-457200">
              <a:spcBef>
                <a:spcPts val="200"/>
              </a:spcBef>
              <a:buNone/>
            </a:pPr>
            <a:r>
              <a:rPr lang="en-US" sz="1400" b="0" dirty="0">
                <a:latin typeface="Courier New"/>
              </a:rPr>
              <a:t>    technicians[best_tech].work += matrix[prev_node][best_cust] + d[best_cust]</a:t>
            </a:r>
          </a:p>
          <a:p>
            <a:pPr marL="914400" indent="-457200">
              <a:spcBef>
                <a:spcPts val="200"/>
              </a:spcBef>
              <a:buNone/>
            </a:pPr>
            <a:r>
              <a:rPr lang="en-US" sz="1400" b="0" dirty="0">
                <a:latin typeface="Courier New"/>
              </a:rPr>
              <a:t>    visited[best_cust] = TRUE</a:t>
            </a:r>
          </a:p>
          <a:p>
            <a:pPr marL="457200" indent="-457200">
              <a:spcBef>
                <a:spcPts val="200"/>
              </a:spcBef>
              <a:buNone/>
            </a:pPr>
            <a:r>
              <a:rPr lang="en-US" sz="1400" b="0" dirty="0">
                <a:latin typeface="Courier New"/>
              </a:rPr>
              <a:t>  // Return all technicians to depot</a:t>
            </a:r>
          </a:p>
          <a:p>
            <a:pPr marL="457200" indent="-457200">
              <a:spcBef>
                <a:spcPts val="200"/>
              </a:spcBef>
              <a:buNone/>
            </a:pPr>
            <a:r>
              <a:rPr lang="en-US" sz="1400" b="0" dirty="0">
                <a:latin typeface="Courier New"/>
              </a:rPr>
              <a:t>  for each tech: tech.route.append(0)</a:t>
            </a:r>
          </a:p>
          <a:p>
            <a:pPr marL="457200" indent="-457200">
              <a:spcBef>
                <a:spcPts val="200"/>
              </a:spcBef>
              <a:buNone/>
            </a:pPr>
            <a:r>
              <a:rPr lang="en-US" sz="1400" b="0" dirty="0">
                <a:latin typeface="Courier New"/>
              </a:rPr>
              <a:t>  return list of routes from all technicians</a:t>
            </a:r>
          </a:p>
          <a:p>
            <a:pPr marL="0" indent="0">
              <a:spcBef>
                <a:spcPts val="200"/>
              </a:spcBef>
              <a:buNone/>
            </a:pPr>
            <a:r>
              <a:rPr lang="en-US" sz="1400" b="1" dirty="0">
                <a:latin typeface="Courier New"/>
              </a:rPr>
              <a:t>end function</a:t>
            </a:r>
          </a:p>
          <a:p>
            <a:pPr marL="0" indent="0">
              <a:spcBef>
                <a:spcPts val="200"/>
              </a:spcBef>
              <a:buNone/>
            </a:pPr>
            <a:endParaRPr lang="en-US" sz="1400" b="1" dirty="0">
              <a:latin typeface="Courier New"/>
            </a:endParaRPr>
          </a:p>
          <a:p>
            <a:pPr marL="0" indent="0">
              <a:spcBef>
                <a:spcPts val="200"/>
              </a:spcBef>
              <a:buNone/>
            </a:pPr>
            <a:r>
              <a:rPr lang="en-US" sz="1400" b="1" dirty="0"/>
              <a:t>Algorithm 6: hill_climbing(routes, max_iter=20000)</a:t>
            </a:r>
          </a:p>
          <a:p>
            <a:pPr marL="0" indent="0">
              <a:spcBef>
                <a:spcPts val="200"/>
              </a:spcBef>
              <a:buNone/>
            </a:pPr>
            <a:r>
              <a:rPr lang="en-US" sz="1400" b="0" dirty="0">
                <a:latin typeface="Courier New"/>
              </a:rPr>
              <a:t>function hill_climbing(routes, max_iter=20000):</a:t>
            </a:r>
          </a:p>
          <a:p>
            <a:pPr marL="457200" indent="-457200">
              <a:spcBef>
                <a:spcPts val="200"/>
              </a:spcBef>
              <a:buNone/>
            </a:pPr>
            <a:r>
              <a:rPr lang="en-US" sz="1400" b="0" dirty="0">
                <a:latin typeface="Courier New"/>
              </a:rPr>
              <a:t>  best_cost = compute_max_time(routes)</a:t>
            </a:r>
          </a:p>
          <a:p>
            <a:pPr marL="457200" indent="-457200">
              <a:spcBef>
                <a:spcPts val="200"/>
              </a:spcBef>
              <a:buNone/>
            </a:pPr>
            <a:r>
              <a:rPr lang="en-US" sz="1400" b="0" dirty="0">
                <a:latin typeface="Courier New"/>
              </a:rPr>
              <a:t>  for iteration = 1 to max_iter do:</a:t>
            </a:r>
          </a:p>
          <a:p>
            <a:pPr marL="914400" indent="-457200">
              <a:spcBef>
                <a:spcPts val="200"/>
              </a:spcBef>
              <a:buNone/>
            </a:pPr>
            <a:r>
              <a:rPr lang="en-US" sz="1400" b="0" dirty="0">
                <a:latin typeface="Courier New"/>
              </a:rPr>
              <a:t>    old_cost = best_cost</a:t>
            </a:r>
          </a:p>
          <a:p>
            <a:pPr marL="914400" indent="-457200">
              <a:spcBef>
                <a:spcPts val="200"/>
              </a:spcBef>
              <a:buNone/>
            </a:pPr>
            <a:r>
              <a:rPr lang="en-US" sz="1400" b="0" dirty="0">
                <a:latin typeface="Courier New"/>
              </a:rPr>
              <a:t>    best_cost = try_neighbor_swap(routes, best_cost)</a:t>
            </a:r>
          </a:p>
          <a:p>
            <a:pPr marL="914400" indent="-457200">
              <a:spcBef>
                <a:spcPts val="200"/>
              </a:spcBef>
              <a:buNone/>
            </a:pPr>
            <a:r>
              <a:rPr lang="en-US" sz="1400" b="0" dirty="0">
                <a:latin typeface="Courier New"/>
              </a:rPr>
              <a:t>    if best_cost &lt; old_cost:  continue  { restart search }</a:t>
            </a:r>
          </a:p>
          <a:p>
            <a:pPr marL="914400" indent="-457200">
              <a:spcBef>
                <a:spcPts val="200"/>
              </a:spcBef>
              <a:buNone/>
            </a:pPr>
            <a:r>
              <a:rPr lang="en-US" sz="1400" b="0" dirty="0">
                <a:latin typeface="Courier New"/>
              </a:rPr>
              <a:t>    best_cost = try_neighbor_swap_multiple(routes, best_cost)</a:t>
            </a:r>
          </a:p>
          <a:p>
            <a:pPr marL="914400" indent="-457200">
              <a:spcBef>
                <a:spcPts val="200"/>
              </a:spcBef>
              <a:buNone/>
            </a:pPr>
            <a:r>
              <a:rPr lang="en-US" sz="1400" b="0" dirty="0">
                <a:latin typeface="Courier New"/>
              </a:rPr>
              <a:t>    if best_cost &lt; old_cost:  continue  { restart search }</a:t>
            </a:r>
          </a:p>
          <a:p>
            <a:pPr marL="914400" indent="-457200">
              <a:spcBef>
                <a:spcPts val="200"/>
              </a:spcBef>
              <a:buNone/>
            </a:pPr>
            <a:r>
              <a:rPr lang="en-US" sz="1400" b="0" dirty="0">
                <a:latin typeface="Courier New"/>
              </a:rPr>
              <a:t>    best_cost = try_neighbor_move(routes, best_cost)</a:t>
            </a:r>
          </a:p>
          <a:p>
            <a:pPr marL="457200" indent="-457200">
              <a:spcBef>
                <a:spcPts val="200"/>
              </a:spcBef>
              <a:buNone/>
            </a:pPr>
            <a:r>
              <a:rPr lang="en-US" sz="1400" b="0" dirty="0">
                <a:latin typeface="Courier New"/>
              </a:rPr>
              <a:t>  return routes</a:t>
            </a:r>
          </a:p>
          <a:p>
            <a:pPr marL="0" indent="0">
              <a:spcBef>
                <a:spcPts val="200"/>
              </a:spcBef>
              <a:buNone/>
            </a:pPr>
            <a:r>
              <a:rPr lang="en-US" sz="1400" b="1" dirty="0">
                <a:latin typeface="Courier New"/>
              </a:rPr>
              <a:t>end function</a:t>
            </a:r>
          </a:p>
          <a:p>
            <a:pPr>
              <a:spcBef>
                <a:spcPts val="200"/>
              </a:spcBef>
            </a:pPr>
            <a:endParaRPr lang="en-US" sz="14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600" dirty="0"/>
              <a:t>7. Results &amp; Comparative Analysis</a:t>
            </a:r>
          </a:p>
        </p:txBody>
      </p:sp>
      <p:sp>
        <p:nvSpPr>
          <p:cNvPr id="3" name="Content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2200" b="0" dirty="0"/>
              <a:t>Experimental Setup  ·  Benchmark Table  ·  Analysis &amp; Remarks</a:t>
            </a:r>
          </a:p>
          <a:p>
            <a:endParaRPr lang="en-US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600" dirty="0"/>
              <a:t>7.1 Experimental Setup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"/>
              <p:cNvSpPr>
                <a:spLocks noGrp="1"/>
              </p:cNvSpPr>
              <p:nvPr>
                <p:ph sz="quarter" idx="13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sz="1400" b="1" dirty="0"/>
                  <a:t>Test Instance Generation</a:t>
                </a:r>
              </a:p>
              <a:p>
                <a:pPr marL="457200" indent="-457200">
                  <a:buNone/>
                </a:pPr>
                <a:r>
                  <a:rPr lang="en-US" sz="1400" b="0" dirty="0"/>
                  <a:t>• Instances scale from small (N=5, K=2) to very large (N=1000, K=100)</a:t>
                </a:r>
              </a:p>
              <a:p>
                <a:pPr marL="457200" indent="-457200">
                  <a:buNone/>
                </a:pPr>
                <a:r>
                  <a:rPr lang="en-US" sz="1400" b="0" dirty="0"/>
                  <a:t>• Coordinate-based model: depot and customers distributed on a 100×100 grid</a:t>
                </a:r>
              </a:p>
              <a:p>
                <a:pPr marL="457200" indent="-457200">
                  <a:buNone/>
                </a:pPr>
                <a:r>
                  <a:rPr lang="en-US" sz="1400" b="0" dirty="0"/>
                  <a:t>• Euclidean distances scaled by factor of 10</a:t>
                </a:r>
              </a:p>
              <a:p>
                <a:pPr marL="457200" indent="-457200">
                  <a:buNone/>
                </a:pPr>
                <a:r>
                  <a:rPr lang="en-US" sz="1400" b="0" dirty="0"/>
                  <a:t>• Service times d(i) randomly selected in range [10, 100]</a:t>
                </a:r>
              </a:p>
              <a:p>
                <a:pPr marL="0" indent="0">
                  <a:buNone/>
                </a:pPr>
                <a:endParaRPr lang="en-US" sz="1400" b="0" dirty="0"/>
              </a:p>
              <a:p>
                <a:pPr marL="0" indent="0">
                  <a:buNone/>
                </a:pPr>
                <a:r>
                  <a:rPr lang="en-US" sz="1400" b="1" dirty="0"/>
                  <a:t>Execution Environment</a:t>
                </a:r>
              </a:p>
              <a:p>
                <a:pPr marL="457200" indent="-457200">
                  <a:buNone/>
                </a:pPr>
                <a:r>
                  <a:rPr lang="en-US" sz="1400" b="0" dirty="0"/>
                  <a:t>• Same machine, Python 3</a:t>
                </a:r>
              </a:p>
              <a:p>
                <a:pPr marL="457200" indent="-457200">
                  <a:buNone/>
                </a:pPr>
                <a:r>
                  <a:rPr lang="en-US" sz="1400" b="0" dirty="0"/>
                  <a:t>• Timeout: 15 seconds for exact methods (CP and Branch &amp; Bound)</a:t>
                </a:r>
              </a:p>
              <a:p>
                <a:pPr marL="457200" indent="-457200">
                  <a:buNone/>
                </a:pPr>
                <a:r>
                  <a:rPr lang="en-US" sz="1400" b="0" dirty="0"/>
                  <a:t>• Runtime measured in milliseconds (ms)</a:t>
                </a:r>
              </a:p>
              <a:p>
                <a:pPr marL="0" indent="0">
                  <a:buNone/>
                </a:pPr>
                <a:endParaRPr lang="en-US" sz="1400" b="0" dirty="0"/>
              </a:p>
              <a:p>
                <a:pPr marL="0" indent="0">
                  <a:buNone/>
                </a:pPr>
                <a:r>
                  <a:rPr lang="en-US" sz="1400" b="1" dirty="0"/>
                  <a:t>Algorithms Compared</a:t>
                </a:r>
              </a:p>
              <a:p>
                <a:pPr marL="457200" indent="-457200">
                  <a:buNone/>
                </a:pPr>
                <a:r>
                  <a:rPr lang="en-US" sz="1400" b="0" dirty="0"/>
                  <a:t>① Constraint Programming (CP-SAT)     ② Branch &amp; Bound (Backtracking)</a:t>
                </a:r>
              </a:p>
              <a:p>
                <a:pPr marL="457200" indent="-457200">
                  <a:buNone/>
                </a:pPr>
                <a:r>
                  <a:rPr lang="en-US" sz="1400" b="0" dirty="0"/>
                  <a:t>③ Sorted Cheapest Insertion (Greedy)  ④ Hill Climbing Metaheuristic</a:t>
                </a:r>
              </a:p>
              <a:p>
                <a:pPr marL="0" indent="0">
                  <a:buNone/>
                </a:pPr>
                <a:endParaRPr lang="en-US" sz="1400" b="0" dirty="0"/>
              </a:p>
              <a:p>
                <a:pPr marL="0" indent="0">
                  <a:buNone/>
                </a:pPr>
                <a:r>
                  <a:rPr lang="en-US" sz="1400" b="1" dirty="0"/>
                  <a:t>Evaluation Metric</a:t>
                </a:r>
              </a:p>
              <a:p>
                <a:pPr>
                  <a:buNone/>
                </a:pPr>
                <a:r>
                  <a:rPr lang="en-US" sz="1400" b="0" dirty="0"/>
                  <a:t>Makespan = maximum workload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400" smtClean="0">
                        <a:solidFill>
                          <a:srgbClr val="EE0000"/>
                        </a:solidFill>
                        <a:effectLst/>
                        <a:latin typeface="Cambria Math" panose="02040503050406030204" pitchFamily="18" charset="0"/>
                        <a:ea typeface="Courier New" panose="02070309020205020404" pitchFamily="49" charset="0"/>
                        <a:cs typeface="Courier New" panose="02070309020205020404" pitchFamily="49" charset="0"/>
                      </a:rPr>
                      <m:t>z</m:t>
                    </m:r>
                    <m:r>
                      <a:rPr lang="en-US" sz="1400" smtClean="0">
                        <a:solidFill>
                          <a:srgbClr val="EE0000"/>
                        </a:solidFill>
                        <a:effectLst/>
                        <a:latin typeface="Cambria Math" panose="02040503050406030204" pitchFamily="18" charset="0"/>
                        <a:ea typeface="Courier New" panose="02070309020205020404" pitchFamily="49" charset="0"/>
                        <a:cs typeface="Courier New" panose="02070309020205020404" pitchFamily="49" charset="0"/>
                      </a:rPr>
                      <m:t>=</m:t>
                    </m:r>
                    <m:func>
                      <m:funcPr>
                        <m:ctrlPr>
                          <a:rPr lang="en-US" sz="1400" i="1">
                            <a:solidFill>
                              <a:srgbClr val="EE0000"/>
                            </a:solidFill>
                            <a:effectLst/>
                            <a:latin typeface="Cambria Math" panose="02040503050406030204" pitchFamily="18" charset="0"/>
                            <a:ea typeface="Courier New" panose="02070309020205020404" pitchFamily="49" charset="0"/>
                            <a:cs typeface="Courier New" panose="02070309020205020404" pitchFamily="49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sz="1400" i="1">
                                <a:solidFill>
                                  <a:srgbClr val="EE0000"/>
                                </a:solidFill>
                                <a:effectLst/>
                                <a:latin typeface="Cambria Math" panose="02040503050406030204" pitchFamily="18" charset="0"/>
                                <a:ea typeface="Courier New" panose="02070309020205020404" pitchFamily="49" charset="0"/>
                                <a:cs typeface="Courier New" panose="02070309020205020404" pitchFamily="49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sz="1400">
                                <a:solidFill>
                                  <a:srgbClr val="EE0000"/>
                                </a:solidFill>
                                <a:effectLst/>
                                <a:latin typeface="Cambria Math" panose="02040503050406030204" pitchFamily="18" charset="0"/>
                                <a:ea typeface="Courier New" panose="02070309020205020404" pitchFamily="49" charset="0"/>
                                <a:cs typeface="Courier New" panose="02070309020205020404" pitchFamily="49" charset="0"/>
                              </a:rPr>
                              <m:t>max</m:t>
                            </m:r>
                          </m:e>
                          <m:lim>
                            <m:r>
                              <m:rPr>
                                <m:sty m:val="p"/>
                              </m:rPr>
                              <a:rPr lang="en-US" sz="1400">
                                <a:solidFill>
                                  <a:srgbClr val="EE0000"/>
                                </a:solidFill>
                                <a:effectLst/>
                                <a:latin typeface="Cambria Math" panose="02040503050406030204" pitchFamily="18" charset="0"/>
                                <a:ea typeface="Courier New" panose="02070309020205020404" pitchFamily="49" charset="0"/>
                                <a:cs typeface="Courier New" panose="02070309020205020404" pitchFamily="49" charset="0"/>
                              </a:rPr>
                              <m:t>k</m:t>
                            </m:r>
                          </m:lim>
                        </m:limLow>
                      </m:fName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sz="1400" i="1">
                                <a:solidFill>
                                  <a:srgbClr val="EE0000"/>
                                </a:solidFill>
                                <a:effectLst/>
                                <a:latin typeface="Cambria Math" panose="02040503050406030204" pitchFamily="18" charset="0"/>
                                <a:ea typeface="Courier New" panose="02070309020205020404" pitchFamily="49" charset="0"/>
                                <a:cs typeface="Courier New" panose="02070309020205020404" pitchFamily="49" charset="0"/>
                              </a:rPr>
                            </m:ctrlPr>
                          </m:dPr>
                          <m:e>
                            <m:r>
                              <m:rPr>
                                <m:sty m:val="p"/>
                              </m:rPr>
                              <a:rPr lang="en-US" sz="1400">
                                <a:solidFill>
                                  <a:srgbClr val="EE0000"/>
                                </a:solidFill>
                                <a:effectLst/>
                                <a:latin typeface="Cambria Math" panose="02040503050406030204" pitchFamily="18" charset="0"/>
                                <a:ea typeface="Courier New" panose="02070309020205020404" pitchFamily="49" charset="0"/>
                                <a:cs typeface="Courier New" panose="02070309020205020404" pitchFamily="49" charset="0"/>
                              </a:rPr>
                              <m:t>W</m:t>
                            </m:r>
                            <m:d>
                              <m:dPr>
                                <m:ctrlPr>
                                  <a:rPr lang="en-US" sz="1400" i="1">
                                    <a:solidFill>
                                      <a:srgbClr val="EE0000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ourier New" panose="02070309020205020404" pitchFamily="49" charset="0"/>
                                    <a:cs typeface="Courier New" panose="02070309020205020404" pitchFamily="49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sz="1400" i="1">
                                        <a:solidFill>
                                          <a:srgbClr val="EE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Courier New" panose="02070309020205020404" pitchFamily="49" charset="0"/>
                                        <a:cs typeface="Courier New" panose="02070309020205020404" pitchFamily="49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1400">
                                        <a:solidFill>
                                          <a:srgbClr val="EE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Courier New" panose="02070309020205020404" pitchFamily="49" charset="0"/>
                                        <a:cs typeface="Courier New" panose="02070309020205020404" pitchFamily="49" charset="0"/>
                                      </a:rPr>
                                      <m:t>R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1400">
                                        <a:solidFill>
                                          <a:srgbClr val="EE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Courier New" panose="02070309020205020404" pitchFamily="49" charset="0"/>
                                        <a:cs typeface="Courier New" panose="02070309020205020404" pitchFamily="49" charset="0"/>
                                      </a:rPr>
                                      <m:t>k</m:t>
                                    </m:r>
                                  </m:sub>
                                </m:sSub>
                              </m:e>
                            </m:d>
                          </m:e>
                        </m:d>
                      </m:e>
                    </m:func>
                  </m:oMath>
                </a14:m>
                <a:r>
                  <a:rPr lang="en-US" sz="1800">
                    <a:latin typeface="Arial" panose="020B0604020202020204" pitchFamily="34" charset="0"/>
                  </a:rPr>
                  <a:t> </a:t>
                </a:r>
                <a:r>
                  <a:rPr lang="en-US" sz="1400" b="0" dirty="0"/>
                  <a:t>across all technicians.</a:t>
                </a:r>
              </a:p>
              <a:p>
                <a:endParaRPr lang="en-US" sz="1400" dirty="0"/>
              </a:p>
            </p:txBody>
          </p:sp>
        </mc:Choice>
        <mc:Fallback>
          <p:sp>
            <p:nvSpPr>
              <p:cNvPr id="3" name="Content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3"/>
              </p:nvPr>
            </p:nvSpPr>
            <p:spPr>
              <a:blipFill>
                <a:blip r:embed="rId2"/>
                <a:stretch>
                  <a:fillRect l="-211" t="-690" b="-32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600" dirty="0"/>
              <a:t>7.2 Benchmark Results — Full Comparison Table</a:t>
            </a:r>
          </a:p>
        </p:txBody>
      </p:sp>
      <p:sp>
        <p:nvSpPr>
          <p:cNvPr id="3" name="Content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1000" b="1">
                <a:latin typeface="Courier New"/>
              </a:rPr>
              <a:t> N    </a:t>
            </a:r>
            <a:r>
              <a:rPr lang="en-US" sz="1000" b="1" dirty="0">
                <a:latin typeface="Courier New"/>
              </a:rPr>
              <a:t>K   |  CP Makespan  CP Time  |  B&amp;B Makespan  B&amp;B </a:t>
            </a:r>
            <a:r>
              <a:rPr lang="en-US" sz="1000" b="1">
                <a:latin typeface="Courier New"/>
              </a:rPr>
              <a:t>Time |  </a:t>
            </a:r>
            <a:r>
              <a:rPr lang="en-US" sz="1000" b="1" dirty="0">
                <a:latin typeface="Courier New"/>
              </a:rPr>
              <a:t>Greedy Makespan  Time  |  HC Makespan  Time</a:t>
            </a:r>
          </a:p>
          <a:p>
            <a:pPr marL="0" indent="0">
              <a:buNone/>
            </a:pPr>
            <a:r>
              <a:rPr lang="en-US" sz="1000" b="1">
                <a:latin typeface="Courier New"/>
              </a:rPr>
              <a:t>─────────────────────────────────────────────────────────────────────────────────────────────────────────────</a:t>
            </a:r>
          </a:p>
          <a:p>
            <a:pPr marL="0" indent="0">
              <a:buNone/>
            </a:pPr>
            <a:r>
              <a:rPr lang="en-US" sz="1000" b="1">
                <a:latin typeface="Courier New"/>
              </a:rPr>
              <a:t>   </a:t>
            </a:r>
            <a:r>
              <a:rPr lang="en-US" sz="1000" b="1" dirty="0">
                <a:latin typeface="Courier New"/>
              </a:rPr>
              <a:t>5    2  |      1,800       571  |      1,800         44   |      1,800         29   |    1,800      235</a:t>
            </a:r>
          </a:p>
          <a:p>
            <a:pPr marL="0" indent="0">
              <a:buNone/>
            </a:pPr>
            <a:r>
              <a:rPr lang="en-US" sz="1000" b="1" dirty="0">
                <a:latin typeface="Courier New"/>
              </a:rPr>
              <a:t>  10    2  |      2,560       589  |      2,560        581   |      2,740         25   |    2,730      243</a:t>
            </a:r>
          </a:p>
          <a:p>
            <a:pPr marL="0" indent="0">
              <a:buNone/>
            </a:pPr>
            <a:r>
              <a:rPr lang="en-US" sz="1000" b="1" dirty="0">
                <a:latin typeface="Courier New"/>
              </a:rPr>
              <a:t> 100   10  |       N/A       N/</a:t>
            </a:r>
            <a:r>
              <a:rPr lang="en-US" sz="1000" b="1">
                <a:latin typeface="Courier New"/>
              </a:rPr>
              <a:t>A   |       </a:t>
            </a:r>
            <a:r>
              <a:rPr lang="en-US" sz="1000" b="1" dirty="0">
                <a:latin typeface="Courier New"/>
              </a:rPr>
              <a:t>N/A        N/</a:t>
            </a:r>
            <a:r>
              <a:rPr lang="en-US" sz="1000" b="1">
                <a:latin typeface="Courier New"/>
              </a:rPr>
              <a:t>A    |      </a:t>
            </a:r>
            <a:r>
              <a:rPr lang="en-US" sz="1000" b="1" dirty="0">
                <a:latin typeface="Courier New"/>
              </a:rPr>
              <a:t>2,370         27   |    2,440      709</a:t>
            </a:r>
          </a:p>
          <a:p>
            <a:pPr marL="0" indent="0">
              <a:buNone/>
            </a:pPr>
            <a:r>
              <a:rPr lang="en-US" sz="1000" b="1" dirty="0">
                <a:latin typeface="Courier New"/>
              </a:rPr>
              <a:t> 200   10  |       N/A       N/</a:t>
            </a:r>
            <a:r>
              <a:rPr lang="en-US" sz="1000" b="1">
                <a:latin typeface="Courier New"/>
              </a:rPr>
              <a:t>A   |       </a:t>
            </a:r>
            <a:r>
              <a:rPr lang="en-US" sz="1000" b="1" dirty="0">
                <a:latin typeface="Courier New"/>
              </a:rPr>
              <a:t>N/A        N/</a:t>
            </a:r>
            <a:r>
              <a:rPr lang="en-US" sz="1000" b="1">
                <a:latin typeface="Courier New"/>
              </a:rPr>
              <a:t>A    |      </a:t>
            </a:r>
            <a:r>
              <a:rPr lang="en-US" sz="1000" b="1" dirty="0">
                <a:latin typeface="Courier New"/>
              </a:rPr>
              <a:t>3,120         32   |    3,790    1,119</a:t>
            </a:r>
          </a:p>
          <a:p>
            <a:pPr marL="0" indent="0">
              <a:buNone/>
            </a:pPr>
            <a:r>
              <a:rPr lang="en-US" sz="1000" b="1" dirty="0">
                <a:latin typeface="Courier New"/>
              </a:rPr>
              <a:t> 200   20  |       N/A       N/</a:t>
            </a:r>
            <a:r>
              <a:rPr lang="en-US" sz="1000" b="1">
                <a:latin typeface="Courier New"/>
              </a:rPr>
              <a:t>A   |       </a:t>
            </a:r>
            <a:r>
              <a:rPr lang="en-US" sz="1000" b="1" dirty="0">
                <a:latin typeface="Courier New"/>
              </a:rPr>
              <a:t>N/A        N/</a:t>
            </a:r>
            <a:r>
              <a:rPr lang="en-US" sz="1000" b="1">
                <a:latin typeface="Courier New"/>
              </a:rPr>
              <a:t>A    |      </a:t>
            </a:r>
            <a:r>
              <a:rPr lang="en-US" sz="1000" b="1" dirty="0">
                <a:latin typeface="Courier New"/>
              </a:rPr>
              <a:t>2,220         31   |    2,180    1,179</a:t>
            </a:r>
          </a:p>
          <a:p>
            <a:pPr marL="0" indent="0">
              <a:buNone/>
            </a:pPr>
            <a:r>
              <a:rPr lang="en-US" sz="1000" b="1" dirty="0">
                <a:latin typeface="Courier New"/>
              </a:rPr>
              <a:t> 400   40  |       N/A       N/</a:t>
            </a:r>
            <a:r>
              <a:rPr lang="en-US" sz="1000" b="1">
                <a:latin typeface="Courier New"/>
              </a:rPr>
              <a:t>A   |       </a:t>
            </a:r>
            <a:r>
              <a:rPr lang="en-US" sz="1000" b="1" dirty="0">
                <a:latin typeface="Courier New"/>
              </a:rPr>
              <a:t>N/A        N/</a:t>
            </a:r>
            <a:r>
              <a:rPr lang="en-US" sz="1000" b="1">
                <a:latin typeface="Courier New"/>
              </a:rPr>
              <a:t>A    |      </a:t>
            </a:r>
            <a:r>
              <a:rPr lang="en-US" sz="1000" b="1" dirty="0">
                <a:latin typeface="Courier New"/>
              </a:rPr>
              <a:t>2,050         61   |    2,300    2,586</a:t>
            </a:r>
          </a:p>
          <a:p>
            <a:pPr marL="0" indent="0">
              <a:buNone/>
            </a:pPr>
            <a:r>
              <a:rPr lang="en-US" sz="1000" b="1" dirty="0">
                <a:latin typeface="Courier New"/>
              </a:rPr>
              <a:t> 500   50  |       N/A       N/</a:t>
            </a:r>
            <a:r>
              <a:rPr lang="en-US" sz="1000" b="1">
                <a:latin typeface="Courier New"/>
              </a:rPr>
              <a:t>A   |       </a:t>
            </a:r>
            <a:r>
              <a:rPr lang="en-US" sz="1000" b="1" dirty="0">
                <a:latin typeface="Courier New"/>
              </a:rPr>
              <a:t>N/A        N/</a:t>
            </a:r>
            <a:r>
              <a:rPr lang="en-US" sz="1000" b="1">
                <a:latin typeface="Courier New"/>
              </a:rPr>
              <a:t>A    |      </a:t>
            </a:r>
            <a:r>
              <a:rPr lang="en-US" sz="1000" b="1" dirty="0">
                <a:latin typeface="Courier New"/>
              </a:rPr>
              <a:t>2,020         85   |    2,290    3,438</a:t>
            </a:r>
          </a:p>
          <a:p>
            <a:pPr marL="0" indent="0">
              <a:buNone/>
            </a:pPr>
            <a:r>
              <a:rPr lang="en-US" sz="1000" b="1" dirty="0">
                <a:latin typeface="Courier New"/>
              </a:rPr>
              <a:t> 700   70  |       N/A       N/</a:t>
            </a:r>
            <a:r>
              <a:rPr lang="en-US" sz="1000" b="1">
                <a:latin typeface="Courier New"/>
              </a:rPr>
              <a:t>A   |       </a:t>
            </a:r>
            <a:r>
              <a:rPr lang="en-US" sz="1000" b="1" dirty="0">
                <a:latin typeface="Courier New"/>
              </a:rPr>
              <a:t>N/A        N/</a:t>
            </a:r>
            <a:r>
              <a:rPr lang="en-US" sz="1000" b="1">
                <a:latin typeface="Courier New"/>
              </a:rPr>
              <a:t>A    |      </a:t>
            </a:r>
            <a:r>
              <a:rPr lang="en-US" sz="1000" b="1" dirty="0">
                <a:latin typeface="Courier New"/>
              </a:rPr>
              <a:t>1,990        140   |    2,090    5,733</a:t>
            </a:r>
          </a:p>
          <a:p>
            <a:pPr marL="0" indent="0">
              <a:buNone/>
            </a:pPr>
            <a:r>
              <a:rPr lang="en-US" sz="1000" b="1" dirty="0">
                <a:latin typeface="Courier New"/>
              </a:rPr>
              <a:t> 900   90  |       N/A       N/</a:t>
            </a:r>
            <a:r>
              <a:rPr lang="en-US" sz="1000" b="1">
                <a:latin typeface="Courier New"/>
              </a:rPr>
              <a:t>A   |       </a:t>
            </a:r>
            <a:r>
              <a:rPr lang="en-US" sz="1000" b="1" dirty="0">
                <a:latin typeface="Courier New"/>
              </a:rPr>
              <a:t>N/A        N/</a:t>
            </a:r>
            <a:r>
              <a:rPr lang="en-US" sz="1000" b="1">
                <a:latin typeface="Courier New"/>
              </a:rPr>
              <a:t>A    |      </a:t>
            </a:r>
            <a:r>
              <a:rPr lang="en-US" sz="1000" b="1" dirty="0">
                <a:latin typeface="Courier New"/>
              </a:rPr>
              <a:t>2,050        244   |    2,110    9,575</a:t>
            </a:r>
          </a:p>
          <a:p>
            <a:pPr marL="0" indent="0">
              <a:buNone/>
            </a:pPr>
            <a:r>
              <a:rPr lang="en-US" sz="1000" b="1" dirty="0">
                <a:latin typeface="Courier New"/>
              </a:rPr>
              <a:t>1000  100  |       N/A       N/</a:t>
            </a:r>
            <a:r>
              <a:rPr lang="en-US" sz="1000" b="1">
                <a:latin typeface="Courier New"/>
              </a:rPr>
              <a:t>A   |       </a:t>
            </a:r>
            <a:r>
              <a:rPr lang="en-US" sz="1000" b="1" dirty="0">
                <a:latin typeface="Courier New"/>
              </a:rPr>
              <a:t>N/A        N/</a:t>
            </a:r>
            <a:r>
              <a:rPr lang="en-US" sz="1000" b="1">
                <a:latin typeface="Courier New"/>
              </a:rPr>
              <a:t>A    |      </a:t>
            </a:r>
            <a:r>
              <a:rPr lang="en-US" sz="1000" b="1" dirty="0">
                <a:latin typeface="Courier New"/>
              </a:rPr>
              <a:t>2,020        325   |    2,160   12,118</a:t>
            </a:r>
          </a:p>
          <a:p>
            <a:pPr marL="0" indent="0">
              <a:buNone/>
            </a:pPr>
            <a:r>
              <a:rPr lang="en-US" sz="1000" b="1">
                <a:latin typeface="Courier New"/>
              </a:rPr>
              <a:t>─────────────────────────────────────────────────────────────────────────────────────────────────────────────</a:t>
            </a:r>
            <a:endParaRPr lang="en-US" sz="1000" b="1" dirty="0">
              <a:latin typeface="Courier New"/>
            </a:endParaRPr>
          </a:p>
          <a:p>
            <a:pPr marL="0" indent="0">
              <a:buNone/>
            </a:pPr>
            <a:r>
              <a:rPr lang="en-US" sz="1000" b="1" dirty="0"/>
              <a:t>Time unit: milliseconds (ms).  N/A = exceeded memory or time limit (15s).</a:t>
            </a:r>
          </a:p>
          <a:p>
            <a:endParaRPr lang="en-US" sz="1000" b="1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600" dirty="0"/>
              <a:t>7.3 Analysis — CP &amp; Branch and Bound</a:t>
            </a:r>
          </a:p>
        </p:txBody>
      </p:sp>
      <p:sp>
        <p:nvSpPr>
          <p:cNvPr id="3" name="Content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1400" b="1" dirty="0"/>
              <a:t>Optimality (Small Instances)</a:t>
            </a:r>
          </a:p>
          <a:p>
            <a:pPr marL="457200" indent="-457200">
              <a:buNone/>
            </a:pPr>
            <a:r>
              <a:rPr lang="en-US" sz="1400" b="0" dirty="0"/>
              <a:t>Both methods achieve mathematically OPTIMAL workloads for N=5 (1,800) and N=10 (2,560).</a:t>
            </a:r>
          </a:p>
          <a:p>
            <a:pPr marL="0" indent="0">
              <a:buNone/>
            </a:pPr>
            <a:endParaRPr lang="en-US" sz="1400" b="0" dirty="0"/>
          </a:p>
          <a:p>
            <a:pPr marL="0" indent="0">
              <a:buNone/>
            </a:pPr>
            <a:r>
              <a:rPr lang="en-US" sz="1400" b="1" dirty="0"/>
              <a:t>Computational Bottleneck (CP)</a:t>
            </a:r>
          </a:p>
          <a:p>
            <a:pPr marL="457200" indent="-457200">
              <a:buNone/>
            </a:pPr>
            <a:r>
              <a:rPr lang="en-US" sz="1400" b="0" dirty="0"/>
              <a:t>Variable count O(K × N²) requires ~100 million BoolVars at N=1000, K=100.</a:t>
            </a:r>
          </a:p>
          <a:p>
            <a:pPr marL="457200" indent="-457200">
              <a:buNone/>
            </a:pPr>
            <a:r>
              <a:rPr lang="en-US" sz="1400" b="0" dirty="0"/>
              <a:t>Memory limit (1,024 MB) is hit during model construction — before search even begins.</a:t>
            </a:r>
          </a:p>
          <a:p>
            <a:pPr marL="0" indent="0">
              <a:buNone/>
            </a:pPr>
            <a:endParaRPr lang="en-US" sz="1400" b="0" dirty="0"/>
          </a:p>
          <a:p>
            <a:pPr marL="0" indent="0">
              <a:buNone/>
            </a:pPr>
            <a:r>
              <a:rPr lang="en-US" sz="1400" b="1" dirty="0"/>
              <a:t>Computational Bottleneck (Branch &amp; Bound)</a:t>
            </a:r>
          </a:p>
          <a:p>
            <a:pPr marL="457200" indent="-457200">
              <a:buNone/>
            </a:pPr>
            <a:r>
              <a:rPr lang="en-US" sz="1400" b="0" dirty="0"/>
              <a:t>Explores the state space O(K^N) using DFS with memoization and pruning.</a:t>
            </a:r>
          </a:p>
          <a:p>
            <a:pPr marL="457200" indent="-457200">
              <a:buNone/>
            </a:pPr>
            <a:r>
              <a:rPr lang="en-US" sz="1400" b="0" dirty="0"/>
              <a:t>For N ≥ 100, recursion depth and state space exceed standard computing limits → timeout.</a:t>
            </a:r>
          </a:p>
          <a:p>
            <a:pPr marL="0" indent="0">
              <a:buNone/>
            </a:pPr>
            <a:endParaRPr lang="en-US" sz="1400" b="0" dirty="0"/>
          </a:p>
          <a:p>
            <a:pPr marL="0" indent="0">
              <a:buNone/>
            </a:pPr>
            <a:r>
              <a:rPr lang="en-US" sz="1400" b="1" dirty="0">
                <a:solidFill>
                  <a:srgbClr val="C00000"/>
                </a:solidFill>
              </a:rPr>
              <a:t>Common Conclusion</a:t>
            </a:r>
          </a:p>
          <a:p>
            <a:pPr marL="457200" indent="-457200">
              <a:buNone/>
            </a:pPr>
            <a:r>
              <a:rPr lang="en-US" sz="1400" b="0" dirty="0"/>
              <a:t>Both exact methods are strictly limited to tiny instances (N ≤ 10).</a:t>
            </a:r>
          </a:p>
          <a:p>
            <a:pPr marL="457200" indent="-457200">
              <a:buNone/>
            </a:pPr>
            <a:r>
              <a:rPr lang="en-US" sz="1400" b="0" dirty="0"/>
              <a:t>They are most useful as correctness benchmarks for evaluating heuristic outputs.</a:t>
            </a:r>
          </a:p>
          <a:p>
            <a:endParaRPr lang="en-US" sz="14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600" dirty="0"/>
              <a:t>7.3 Analysis — Sorted Greedy &amp; Hill Climbing</a:t>
            </a:r>
          </a:p>
        </p:txBody>
      </p:sp>
      <p:sp>
        <p:nvSpPr>
          <p:cNvPr id="3" name="Content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1400" b="1" dirty="0"/>
              <a:t>Sorted Cheapest Insertion (Greedy)</a:t>
            </a:r>
          </a:p>
          <a:p>
            <a:pPr marL="457200" indent="-457200">
              <a:buNone/>
            </a:pPr>
            <a:r>
              <a:rPr lang="en-US" sz="1400" b="0" dirty="0"/>
              <a:t>Extremely fast: N=1000, K=100 solved in only 325 ms.</a:t>
            </a:r>
          </a:p>
          <a:p>
            <a:pPr marL="457200" indent="-457200">
              <a:buNone/>
            </a:pPr>
            <a:r>
              <a:rPr lang="en-US" sz="1400" b="0" dirty="0"/>
              <a:t>Sorting by P(u) = t(0,u)+d(u) (descending) is critical: avoids isolated distant nodes.</a:t>
            </a:r>
          </a:p>
          <a:p>
            <a:pPr marL="457200" indent="-457200">
              <a:buNone/>
            </a:pPr>
            <a:r>
              <a:rPr lang="en-US" sz="1400" b="0" dirty="0"/>
              <a:t>Achieves near-optimal solutions (matches exact solver makespan of 1,800 at N=5).</a:t>
            </a:r>
          </a:p>
          <a:p>
            <a:pPr marL="457200" indent="-457200">
              <a:buNone/>
            </a:pPr>
            <a:r>
              <a:rPr lang="en-US" sz="1400" b="0" dirty="0">
                <a:solidFill>
                  <a:srgbClr val="C00000"/>
                </a:solidFill>
              </a:rPr>
              <a:t>BEST algorithm for large-scale deployment.</a:t>
            </a:r>
          </a:p>
          <a:p>
            <a:pPr marL="0" indent="0">
              <a:buNone/>
            </a:pPr>
            <a:endParaRPr lang="en-US" sz="1400" b="0" dirty="0">
              <a:solidFill>
                <a:srgbClr val="C00000"/>
              </a:solidFill>
            </a:endParaRPr>
          </a:p>
          <a:p>
            <a:pPr marL="0" indent="0">
              <a:buNone/>
            </a:pPr>
            <a:r>
              <a:rPr lang="en-US" sz="1400" b="1" dirty="0"/>
              <a:t>Hill Climbing (Metaheuristic)</a:t>
            </a:r>
          </a:p>
          <a:p>
            <a:pPr marL="457200" indent="-457200">
              <a:buNone/>
            </a:pPr>
            <a:r>
              <a:rPr lang="en-US" sz="1400" b="0" dirty="0"/>
              <a:t>Starts with greedy random init; iteratively refines via swap, multi-swap, and move.</a:t>
            </a:r>
          </a:p>
          <a:p>
            <a:pPr marL="457200" indent="-457200">
              <a:buNone/>
            </a:pPr>
            <a:r>
              <a:rPr lang="en-US" sz="1400" b="0" dirty="0"/>
              <a:t>CAN outperform Greedy on medium instances (e.g., N=200, K=20: HC=2,180 vs Greedy=2,220).</a:t>
            </a:r>
          </a:p>
          <a:p>
            <a:pPr marL="457200" indent="-457200">
              <a:buNone/>
            </a:pPr>
            <a:r>
              <a:rPr lang="en-US" sz="1400" b="0" dirty="0"/>
              <a:t>Performance Trade-off: evaluating 20,000 neighborhood modifications is expensive.</a:t>
            </a:r>
          </a:p>
          <a:p>
            <a:pPr marL="457200" indent="-457200">
              <a:buNone/>
            </a:pPr>
            <a:r>
              <a:rPr lang="en-US" sz="1400" b="0" dirty="0"/>
              <a:t>Runtime at N=1000, K=100: 12.1 seconds — exceeds practical real-time dispatch limits.</a:t>
            </a:r>
          </a:p>
          <a:p>
            <a:pPr marL="457200" indent="-457200">
              <a:buNone/>
            </a:pPr>
            <a:r>
              <a:rPr lang="en-US" sz="1400" b="0" dirty="0"/>
              <a:t>Prone to LOCAL MINIMA due to stochastic random initialization.</a:t>
            </a:r>
          </a:p>
          <a:p>
            <a:pPr marL="0" indent="0">
              <a:buNone/>
            </a:pPr>
            <a:endParaRPr lang="en-US" sz="1400" b="0" dirty="0"/>
          </a:p>
          <a:p>
            <a:pPr marL="0" indent="0">
              <a:buNone/>
            </a:pPr>
            <a:r>
              <a:rPr lang="en-US" sz="1400" b="1" dirty="0"/>
              <a:t>Summary</a:t>
            </a:r>
          </a:p>
          <a:p>
            <a:pPr marL="457200" indent="-457200">
              <a:buNone/>
            </a:pPr>
            <a:r>
              <a:rPr lang="en-US" sz="1400" b="0" dirty="0"/>
              <a:t>Greedy: deterministic, O(N²+NK), sub-second. Best for production use.</a:t>
            </a:r>
          </a:p>
          <a:p>
            <a:pPr marL="457200" indent="-457200">
              <a:buNone/>
            </a:pPr>
            <a:r>
              <a:rPr lang="en-US" sz="1400" b="0" dirty="0"/>
              <a:t>Hill Climbing: stochastic, competitive on medium N, too slow for N &gt; 500.</a:t>
            </a:r>
          </a:p>
          <a:p>
            <a:endParaRPr lang="en-US" sz="14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600" dirty="0"/>
              <a:t>8. Conclusion</a:t>
            </a:r>
          </a:p>
        </p:txBody>
      </p:sp>
      <p:sp>
        <p:nvSpPr>
          <p:cNvPr id="3" name="Content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2200" b="0" dirty="0"/>
              <a:t>Key Findings  ·  Trade-offs  ·  Recommendations</a:t>
            </a:r>
          </a:p>
          <a:p>
            <a:endParaRPr lang="en-US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600" dirty="0"/>
              <a:t>8. Conclusion</a:t>
            </a:r>
          </a:p>
        </p:txBody>
      </p:sp>
      <p:sp>
        <p:nvSpPr>
          <p:cNvPr id="3" name="Content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0" indent="0">
              <a:spcBef>
                <a:spcPts val="600"/>
              </a:spcBef>
              <a:buNone/>
            </a:pPr>
            <a:r>
              <a:rPr lang="en-US" sz="1400" b="1" dirty="0"/>
              <a:t>Problem Complexity</a:t>
            </a:r>
          </a:p>
          <a:p>
            <a:pPr marL="457200" indent="-457200">
              <a:spcBef>
                <a:spcPts val="600"/>
              </a:spcBef>
              <a:buNone/>
            </a:pPr>
            <a:r>
              <a:rPr lang="en-US" sz="1400" b="0" dirty="0"/>
              <a:t>Balanced Staff Routing for Maintenance inherits NP-hard complexity from TSP.</a:t>
            </a:r>
          </a:p>
          <a:p>
            <a:pPr marL="457200" indent="-457200">
              <a:spcBef>
                <a:spcPts val="600"/>
              </a:spcBef>
              <a:buNone/>
            </a:pPr>
            <a:r>
              <a:rPr lang="en-US" sz="1400" b="0" dirty="0"/>
              <a:t>The fundamental trade-off: solution optimality vs. computational scalability.</a:t>
            </a:r>
          </a:p>
          <a:p>
            <a:pPr marL="0" indent="0">
              <a:spcBef>
                <a:spcPts val="600"/>
              </a:spcBef>
              <a:buNone/>
            </a:pPr>
            <a:endParaRPr lang="en-US" sz="1400" b="0" dirty="0"/>
          </a:p>
          <a:p>
            <a:pPr marL="0" indent="0">
              <a:spcBef>
                <a:spcPts val="600"/>
              </a:spcBef>
              <a:buNone/>
            </a:pPr>
            <a:r>
              <a:rPr lang="en-US" sz="1400" b="1" dirty="0"/>
              <a:t>Exact Methods (CP, Branch &amp; Bound)</a:t>
            </a:r>
          </a:p>
          <a:p>
            <a:pPr marL="457200" indent="-457200">
              <a:spcBef>
                <a:spcPts val="600"/>
              </a:spcBef>
              <a:buNone/>
            </a:pPr>
            <a:r>
              <a:rPr lang="en-US" sz="1400" b="0" dirty="0"/>
              <a:t>Guarantee optimal solutions but strictly limited to N ≤ 10.</a:t>
            </a:r>
          </a:p>
          <a:p>
            <a:pPr marL="457200" indent="-457200">
              <a:spcBef>
                <a:spcPts val="600"/>
              </a:spcBef>
              <a:buNone/>
            </a:pPr>
            <a:r>
              <a:rPr lang="en-US" sz="1400" b="0" dirty="0"/>
              <a:t>CP hits memory limits (O(K×N²) variables) during model construction.</a:t>
            </a:r>
          </a:p>
          <a:p>
            <a:pPr marL="457200" indent="-457200">
              <a:spcBef>
                <a:spcPts val="600"/>
              </a:spcBef>
              <a:buNone/>
            </a:pPr>
            <a:r>
              <a:rPr lang="en-US" sz="1400" b="0" dirty="0"/>
              <a:t>B&amp;B hits exponential search space O(K^N) beyond N=10.</a:t>
            </a:r>
          </a:p>
          <a:p>
            <a:pPr marL="0" indent="0">
              <a:spcBef>
                <a:spcPts val="600"/>
              </a:spcBef>
              <a:buNone/>
            </a:pPr>
            <a:endParaRPr lang="en-US" sz="1400" b="0" dirty="0"/>
          </a:p>
          <a:p>
            <a:pPr marL="0" indent="0">
              <a:spcBef>
                <a:spcPts val="600"/>
              </a:spcBef>
              <a:buNone/>
            </a:pPr>
            <a:r>
              <a:rPr lang="en-US" sz="1400" b="1" dirty="0"/>
              <a:t>Heuristic Approaches</a:t>
            </a:r>
          </a:p>
          <a:p>
            <a:pPr marL="457200" indent="-457200">
              <a:spcBef>
                <a:spcPts val="600"/>
              </a:spcBef>
              <a:buNone/>
            </a:pPr>
            <a:r>
              <a:rPr lang="en-US" sz="1400" b="0" dirty="0"/>
              <a:t>Offer excellent scaling characteristics without sacrificing much quality.</a:t>
            </a:r>
          </a:p>
          <a:p>
            <a:pPr marL="0" indent="0">
              <a:spcBef>
                <a:spcPts val="600"/>
              </a:spcBef>
              <a:buNone/>
            </a:pPr>
            <a:endParaRPr lang="en-US" sz="1400" b="0" dirty="0"/>
          </a:p>
          <a:p>
            <a:pPr marL="0" indent="0">
              <a:spcBef>
                <a:spcPts val="600"/>
              </a:spcBef>
              <a:buNone/>
            </a:pPr>
            <a:r>
              <a:rPr lang="en-US" sz="1400" b="1" dirty="0">
                <a:solidFill>
                  <a:srgbClr val="C00000"/>
                </a:solidFill>
              </a:rPr>
              <a:t>Recommendation</a:t>
            </a:r>
          </a:p>
          <a:p>
            <a:pPr marL="457200" indent="-457200">
              <a:spcBef>
                <a:spcPts val="600"/>
              </a:spcBef>
              <a:buNone/>
            </a:pPr>
            <a:r>
              <a:rPr lang="en-US" sz="1400" b="0" dirty="0"/>
              <a:t>The DETERMINISTIC Sorted Cheapest Insertion algorithm provides:</a:t>
            </a:r>
          </a:p>
          <a:p>
            <a:pPr marL="914400" indent="-457200">
              <a:spcBef>
                <a:spcPts val="600"/>
              </a:spcBef>
              <a:buNone/>
            </a:pPr>
            <a:r>
              <a:rPr lang="en-US" sz="1400" b="0" dirty="0"/>
              <a:t>  • High-quality balanced routes in milliseconds</a:t>
            </a:r>
          </a:p>
          <a:p>
            <a:pPr marL="914400" indent="-457200">
              <a:spcBef>
                <a:spcPts val="600"/>
              </a:spcBef>
              <a:buNone/>
            </a:pPr>
            <a:r>
              <a:rPr lang="en-US" sz="1400" b="0" dirty="0"/>
              <a:t>  • Near-optimal results at maximum scale (N=1000, makespan=2,020 in 325ms)</a:t>
            </a:r>
          </a:p>
          <a:p>
            <a:pPr marL="914400" indent="-457200">
              <a:spcBef>
                <a:spcPts val="600"/>
              </a:spcBef>
              <a:buNone/>
            </a:pPr>
            <a:r>
              <a:rPr lang="en-US" sz="1400" b="0" dirty="0"/>
              <a:t>  • Fully deterministic — no stochastic variance between runs</a:t>
            </a:r>
          </a:p>
          <a:p>
            <a:pPr marL="914400" indent="-457200">
              <a:spcBef>
                <a:spcPts val="600"/>
              </a:spcBef>
              <a:buNone/>
            </a:pPr>
            <a:r>
              <a:rPr lang="en-US" sz="1400" b="0" dirty="0"/>
              <a:t>  • Highly suitable for LARGE-SCALE real-world maintenance dispatching operations</a:t>
            </a:r>
          </a:p>
          <a:p>
            <a:pPr>
              <a:spcBef>
                <a:spcPts val="600"/>
              </a:spcBef>
            </a:pPr>
            <a:endParaRPr lang="en-US" sz="14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A37B5C8-2095-4D2D-97FE-E4E8D89379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41</a:t>
            </a:fld>
            <a:endParaRPr lang="en-US" dirty="0"/>
          </a:p>
        </p:txBody>
      </p:sp>
      <p:sp>
        <p:nvSpPr>
          <p:cNvPr id="3" name="Title 10">
            <a:extLst>
              <a:ext uri="{FF2B5EF4-FFF2-40B4-BE49-F238E27FC236}">
                <a16:creationId xmlns:a16="http://schemas.microsoft.com/office/drawing/2014/main" id="{F78B3876-6ECC-4098-BDD1-C48CE4B42721}"/>
              </a:ext>
            </a:extLst>
          </p:cNvPr>
          <p:cNvSpPr txBox="1">
            <a:spLocks/>
          </p:cNvSpPr>
          <p:nvPr/>
        </p:nvSpPr>
        <p:spPr>
          <a:xfrm>
            <a:off x="4181094" y="3021991"/>
            <a:ext cx="4197975" cy="814017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b="1" kern="1200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sz="4800" dirty="0"/>
              <a:t>THANK YOU !</a:t>
            </a:r>
          </a:p>
        </p:txBody>
      </p:sp>
    </p:spTree>
    <p:extLst>
      <p:ext uri="{BB962C8B-B14F-4D97-AF65-F5344CB8AC3E}">
        <p14:creationId xmlns:p14="http://schemas.microsoft.com/office/powerpoint/2010/main" val="283053568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256</TotalTime>
  <Words>5392</Words>
  <Application>Microsoft Office PowerPoint</Application>
  <PresentationFormat>Trình chiếu Trên màn hình (4:3)</PresentationFormat>
  <Paragraphs>587</Paragraphs>
  <Slides>41</Slides>
  <Notes>0</Notes>
  <HiddenSlides>0</HiddenSlides>
  <MMClips>0</MMClips>
  <ScaleCrop>false</ScaleCrop>
  <HeadingPairs>
    <vt:vector size="6" baseType="variant">
      <vt:variant>
        <vt:lpstr>Phông được Dùng</vt:lpstr>
      </vt:variant>
      <vt:variant>
        <vt:i4>5</vt:i4>
      </vt:variant>
      <vt:variant>
        <vt:lpstr>Chủ đề</vt:lpstr>
      </vt:variant>
      <vt:variant>
        <vt:i4>1</vt:i4>
      </vt:variant>
      <vt:variant>
        <vt:lpstr>Tiêu đề Bản chiếu</vt:lpstr>
      </vt:variant>
      <vt:variant>
        <vt:i4>41</vt:i4>
      </vt:variant>
    </vt:vector>
  </HeadingPairs>
  <TitlesOfParts>
    <vt:vector size="47" baseType="lpstr">
      <vt:lpstr>Arial</vt:lpstr>
      <vt:lpstr>Calibri</vt:lpstr>
      <vt:lpstr>Cambria Math</vt:lpstr>
      <vt:lpstr>Courier New</vt:lpstr>
      <vt:lpstr>Lato</vt:lpstr>
      <vt:lpstr>Office Theme</vt:lpstr>
      <vt:lpstr>Bản trình bày PowerPoint</vt:lpstr>
      <vt:lpstr>Bản trình bày PowerPoint</vt:lpstr>
      <vt:lpstr>Bản trình bày PowerPoint</vt:lpstr>
      <vt:lpstr>Table of Contents</vt:lpstr>
      <vt:lpstr>1. Introduction</vt:lpstr>
      <vt:lpstr>2. Problem Overview</vt:lpstr>
      <vt:lpstr>2.1 Objective &amp; Inputs</vt:lpstr>
      <vt:lpstr>2.2 Outputs, Constraints &amp; Workload Formula</vt:lpstr>
      <vt:lpstr>3. Greedy Algorithm</vt:lpstr>
      <vt:lpstr>3.1 Background</vt:lpstr>
      <vt:lpstr>3.2 Logic — Phase 1: Initialization &amp; Phase 2: Sorting</vt:lpstr>
      <vt:lpstr>3.3 Logic — Phase 3: Incremental Cheapest Insertion</vt:lpstr>
      <vt:lpstr>3.4 Pseudocode — SolveSRM (Part 1 of 2)</vt:lpstr>
      <vt:lpstr>3.5 Complexity &amp; Performance Analysis</vt:lpstr>
      <vt:lpstr>4. Branch &amp; Bound Algorithm</vt:lpstr>
      <vt:lpstr>4.1 Background &amp; State Representation</vt:lpstr>
      <vt:lpstr>4.2 Base Case &amp; Recursive Step</vt:lpstr>
      <vt:lpstr>4.3 Pseudocode — DFS Function</vt:lpstr>
      <vt:lpstr>5. Constraint Programming (CP-SAT)</vt:lpstr>
      <vt:lpstr>5.1 Background &amp; Key Improvements</vt:lpstr>
      <vt:lpstr>5.2 Process of Constraint Programming</vt:lpstr>
      <vt:lpstr>5.3 Modelling — Decision Variables &amp; Objective</vt:lpstr>
      <vt:lpstr>5.4 Constraints (1) &amp; (2)</vt:lpstr>
      <vt:lpstr>5.4 Constraint (3): AddCircuit — Valid Route Structure</vt:lpstr>
      <vt:lpstr>5.4 Constraints (4) &amp; (5): Workload &amp; Objective</vt:lpstr>
      <vt:lpstr>5.5 CP Results — Online Judge Test Execution</vt:lpstr>
      <vt:lpstr>5.6 Why CP Cannot Scale — Variable Count Analysis</vt:lpstr>
      <vt:lpstr>6. Hill Climbing Heuristic</vt:lpstr>
      <vt:lpstr>6.1 Background &amp; Logic</vt:lpstr>
      <vt:lpstr>6.2 Algorithm 1: Compute Max Time  &amp;  Algorithm 2: Swap</vt:lpstr>
      <vt:lpstr>6.2 Algorithm 3: Multiple Swap  &amp;  Algorithm 4: Move</vt:lpstr>
      <vt:lpstr>6.2 Algorithm 5: Greedy Initialization (Part 1)</vt:lpstr>
      <vt:lpstr>6.2 Algorithm 5 (Part 2) &amp; Algorithm 6: Hill Climbing Loop</vt:lpstr>
      <vt:lpstr>7. Results &amp; Comparative Analysis</vt:lpstr>
      <vt:lpstr>7.1 Experimental Setup</vt:lpstr>
      <vt:lpstr>7.2 Benchmark Results — Full Comparison Table</vt:lpstr>
      <vt:lpstr>7.3 Analysis — CP &amp; Branch and Bound</vt:lpstr>
      <vt:lpstr>7.3 Analysis — Sorted Greedy &amp; Hill Climbing</vt:lpstr>
      <vt:lpstr>8. Conclusion</vt:lpstr>
      <vt:lpstr>8. Conclusion</vt:lpstr>
      <vt:lpstr>Bản trình bày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Phong TT &amp; QTTH</dc:creator>
  <cp:lastModifiedBy>Ngo Nam Nhat Minh</cp:lastModifiedBy>
  <cp:revision>14</cp:revision>
  <dcterms:created xsi:type="dcterms:W3CDTF">2021-05-28T04:32:29Z</dcterms:created>
  <dcterms:modified xsi:type="dcterms:W3CDTF">2026-06-22T15:57:52Z</dcterms:modified>
</cp:coreProperties>
</file>