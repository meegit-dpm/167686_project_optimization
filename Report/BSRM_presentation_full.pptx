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75" r:id="rId2"/>
    <p:sldId id="276" r:id="rId3"/>
    <p:sldId id="257" r:id="rId4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Box"/>
          <p:cNvSpPr txBox="1">
            <a:spLocks/>
          </p:cNvSpPr>
          <p:nvPr/>
        </p:nvSpPr>
        <p:spPr>
          <a:xfrm>
            <a:off x="413012" y="1800000"/>
            <a:ext cx="7342482" cy="1050000"/>
          </a:xfrm>
          <a:prstGeom prst="rect">
            <a:avLst/>
          </a:prstGeom>
        </p:spPr>
        <p:txBody>
          <a:bodyPr wrap="square"/>
          <a:lstStyle>
            <a:lvl1pPr algn="l">
              <a:buNone/>
              <a:defRPr sz="3800" b="1">
                <a:solidFill>
                  <a:srgbClr val="C00000"/>
                </a:solidFill>
                <a:latin typeface="Calibri"/>
              </a:defRPr>
            </a:lvl1pPr>
          </a:lstStyle>
          <a:p>
            <a:r>
              <a:rPr lang="en-US" dirty="0"/>
              <a:t>Balanced Staff Routing for Maintenance</a:t>
            </a:r>
          </a:p>
        </p:txBody>
      </p:sp>
      <p:sp>
        <p:nvSpPr>
          <p:cNvPr id="12" name="SubBox"/>
          <p:cNvSpPr txBox="1">
            <a:spLocks/>
          </p:cNvSpPr>
          <p:nvPr/>
        </p:nvSpPr>
        <p:spPr>
          <a:xfrm>
            <a:off x="413012" y="2980000"/>
            <a:ext cx="7342482" cy="1700000"/>
          </a:xfrm>
          <a:prstGeom prst="rect">
            <a:avLst/>
          </a:prstGeom>
        </p:spPr>
        <p:txBody>
          <a:bodyPr/>
          <a:lstStyle>
            <a:lvl1pPr algn="l">
              <a:buNone/>
              <a:defRPr sz="1900" b="0">
                <a:solidFill>
                  <a:srgbClr val="404040"/>
                </a:solidFill>
                <a:latin typeface="Calibri"/>
              </a:defRPr>
            </a:lvl1pPr>
          </a:lstStyle>
          <a:p>
            <a:r>
              <a:rPr lang="en-US" sz="2100" b="1" dirty="0"/>
              <a:t>Optimization Mini-Project  |  Course: IT3052E  |  Class: 167686  |  Group: 5</a:t>
            </a:r>
          </a:p>
          <a:p>
            <a:endParaRPr lang="en-US" sz="1600" dirty="0"/>
          </a:p>
          <a:p>
            <a:r>
              <a:rPr lang="en-US" sz="2000" b="1" dirty="0"/>
              <a:t>Group Members:</a:t>
            </a:r>
          </a:p>
          <a:p>
            <a:r>
              <a:rPr lang="en-US" sz="1900" dirty="0"/>
              <a:t>Bui Dang Quang  •  Dinh Phuong Mai  •  Do Anh Minh  •  Ngo Nam Nhat Minh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Table of Contents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1.  Introduction</a:t>
            </a:r>
          </a:p>
          <a:p>
            <a:pPr marL="0" indent="0">
              <a:buNone/>
            </a:pPr>
            <a:r>
              <a:rPr lang="en-US" sz="2000" b="1" dirty="0"/>
              <a:t>2.  Problem Overview  (Objective · Inputs · Outputs · Constraints)</a:t>
            </a:r>
          </a:p>
          <a:p>
            <a:pPr marL="0" indent="0">
              <a:buNone/>
            </a:pPr>
            <a:r>
              <a:rPr lang="en-US" sz="2000" b="1" dirty="0"/>
              <a:t>3.  Greedy Algorithm — Sorted Cheapest Insertion</a:t>
            </a:r>
          </a:p>
          <a:p>
            <a:pPr marL="457200" indent="-457200">
              <a:buNone/>
            </a:pPr>
            <a:r>
              <a:rPr lang="en-US" sz="1600" b="0" dirty="0"/>
              <a:t xml:space="preserve">    3.1 Background     3.2 Logic (3 Phases)     3.3 Pseudocode     3.4 Complexity</a:t>
            </a:r>
          </a:p>
          <a:p>
            <a:pPr marL="0" indent="0">
              <a:buNone/>
            </a:pPr>
            <a:r>
              <a:rPr lang="en-US" sz="2000" b="1" dirty="0"/>
              <a:t>4.  Branch &amp; Bound Algorithm</a:t>
            </a:r>
          </a:p>
          <a:p>
            <a:pPr marL="457200" indent="-457200">
              <a:buNone/>
            </a:pPr>
            <a:r>
              <a:rPr lang="en-US" sz="1600" b="0" dirty="0"/>
              <a:t xml:space="preserve">    4.1 State Representation     4.2 Base/Recursive Steps     4.3 Pseudocode</a:t>
            </a:r>
          </a:p>
          <a:p>
            <a:pPr marL="0" indent="0">
              <a:buNone/>
            </a:pPr>
            <a:r>
              <a:rPr lang="en-US" sz="2000" b="1" dirty="0"/>
              <a:t>5.  Constraint Programming (CP-SAT)</a:t>
            </a:r>
          </a:p>
          <a:p>
            <a:pPr marL="457200" indent="-457200">
              <a:buNone/>
            </a:pPr>
            <a:r>
              <a:rPr lang="en-US" sz="1600" b="0" dirty="0"/>
              <a:t xml:space="preserve">    5.1 Background     5.2 Process     5.3 Modelling (Variables + Constraints)     5.4 Results &amp; Scalability</a:t>
            </a:r>
          </a:p>
          <a:p>
            <a:pPr marL="0" indent="0">
              <a:buNone/>
            </a:pPr>
            <a:r>
              <a:rPr lang="en-US" sz="2000" b="1" dirty="0"/>
              <a:t>6.  Hill Climbing Heuristic</a:t>
            </a:r>
          </a:p>
          <a:p>
            <a:pPr marL="457200" indent="-457200">
              <a:buNone/>
            </a:pPr>
            <a:r>
              <a:rPr lang="en-US" sz="1600" b="0" dirty="0"/>
              <a:t xml:space="preserve">    6.1 Logic     6.2 Six Sub-Algorithms (pseudocode)</a:t>
            </a:r>
          </a:p>
          <a:p>
            <a:pPr marL="0" indent="0">
              <a:buNone/>
            </a:pPr>
            <a:r>
              <a:rPr lang="en-US" sz="2000" b="1" dirty="0"/>
              <a:t>7.  Results &amp; Comparative Analysis</a:t>
            </a:r>
          </a:p>
          <a:p>
            <a:pPr marL="457200" indent="-457200">
              <a:buNone/>
            </a:pPr>
            <a:r>
              <a:rPr lang="en-US" sz="1600" b="0" dirty="0"/>
              <a:t xml:space="preserve">    7.1 Experimental Setup     7.2 Benchmark Table     7.3 Analysis</a:t>
            </a:r>
          </a:p>
          <a:p>
            <a:pPr marL="0" indent="0">
              <a:buNone/>
            </a:pPr>
            <a:r>
              <a:rPr lang="en-US" sz="2000" b="1" dirty="0"/>
              <a:t>8.  Conclusion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1. Introduction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The Vehicle Routing Problem (VRP)</a:t>
            </a:r>
          </a:p>
          <a:p>
            <a:pPr marL="0" indent="0">
              <a:buNone/>
            </a:pPr>
            <a:r>
              <a:rPr lang="en-US" sz="1800" b="0" dirty="0"/>
              <a:t>Originally formulated by Dantzig &amp; Ramser (1959). A classic challenge in combinatorial optimization.</a:t>
            </a:r>
          </a:p>
          <a:p>
            <a:pPr marL="0" indent="0">
              <a:buNone/>
            </a:pPr>
            <a:r>
              <a:rPr lang="en-US" sz="1800" b="0" dirty="0"/>
              <a:t>Traditional VRP: minimize cumulative distance or total travel time of all vehicles.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Balanced Staff Routing for Maintenance (BSRM)</a:t>
            </a:r>
          </a:p>
          <a:p>
            <a:pPr marL="0" indent="0">
              <a:buNone/>
            </a:pPr>
            <a:r>
              <a:rPr lang="en-US" sz="1800" b="0" dirty="0"/>
              <a:t>The focus shifts to minimizing the MAKESPAN — the workload of the most heavily loaded technician.</a:t>
            </a:r>
          </a:p>
          <a:p>
            <a:pPr marL="0" indent="0">
              <a:buNone/>
            </a:pPr>
            <a:r>
              <a:rPr lang="en-US" sz="1800" b="0" dirty="0"/>
              <a:t>Ensures equitable distribution of labor and prevents individual technician fatigue.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Why is this hard?</a:t>
            </a:r>
          </a:p>
          <a:p>
            <a:pPr marL="0" indent="0">
              <a:buNone/>
            </a:pPr>
            <a:r>
              <a:rPr lang="en-US" sz="1800" b="0" dirty="0"/>
              <a:t>Inherits NP-hard complexity from TSP and multi-depot vehicle routing.</a:t>
            </a:r>
          </a:p>
          <a:p>
            <a:pPr marL="0" indent="0">
              <a:buNone/>
            </a:pPr>
            <a:r>
              <a:rPr lang="en-US" sz="1800" b="0" dirty="0"/>
              <a:t>Exact methods (CP, ILP) cannot scale beyond small instances.</a:t>
            </a:r>
          </a:p>
          <a:p>
            <a:pPr marL="0" indent="0">
              <a:buNone/>
            </a:pPr>
            <a:r>
              <a:rPr lang="en-US" sz="1800" b="0" dirty="0"/>
              <a:t>This report presents a tailored deterministic construction heuristic solving large test cases (N=1000) within milliseconds.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2. Problem Overview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0" dirty="0"/>
              <a:t>Objective  ·  Inputs  ·  Outputs  ·  Constraints  ·  Workload Formula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2.1 Objective &amp; Inputs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Objective</a:t>
            </a:r>
          </a:p>
          <a:p>
            <a:pPr marL="0" indent="0">
              <a:buNone/>
            </a:pPr>
            <a:r>
              <a:rPr lang="en-US" sz="1800" b="0" dirty="0"/>
              <a:t>Minimize the maximum workload (makespan) of any technician such that:</a:t>
            </a:r>
          </a:p>
          <a:p>
            <a:pPr marL="457200" indent="-457200">
              <a:buNone/>
            </a:pPr>
            <a:r>
              <a:rPr lang="en-US" sz="1800" b="0" dirty="0"/>
              <a:t>• All customers i ∈ {1,…,N} are serviced exactly once</a:t>
            </a:r>
          </a:p>
          <a:p>
            <a:pPr marL="457200" indent="-457200">
              <a:buNone/>
            </a:pPr>
            <a:r>
              <a:rPr lang="en-US" sz="1800" b="0" dirty="0"/>
              <a:t>• All technicians start and finish their routes at the central depot (node 0)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Inputs</a:t>
            </a:r>
          </a:p>
          <a:p>
            <a:pPr marL="0" indent="0">
              <a:buNone/>
            </a:pPr>
            <a:r>
              <a:rPr lang="en-US" sz="1800" b="0" dirty="0"/>
              <a:t>N     Number of customers to be serviced                  (1 ≤ N ≤ 1000)</a:t>
            </a:r>
          </a:p>
          <a:p>
            <a:pPr marL="0" indent="0">
              <a:buNone/>
            </a:pPr>
            <a:r>
              <a:rPr lang="en-US" sz="1800" b="0" dirty="0"/>
              <a:t>K     Number of available technicians                     (1 ≤ K ≤ 100)</a:t>
            </a:r>
          </a:p>
          <a:p>
            <a:pPr marL="0" indent="0">
              <a:buNone/>
            </a:pPr>
            <a:r>
              <a:rPr lang="en-US" sz="1800" b="0" dirty="0"/>
              <a:t>d(i)  Maintenance service duration for customer i         (1 ≤ i ≤ N),  d(0) = 0 for depot</a:t>
            </a:r>
          </a:p>
          <a:p>
            <a:pPr marL="0" indent="0">
              <a:buNone/>
            </a:pPr>
            <a:r>
              <a:rPr lang="en-US" sz="1800" b="0" dirty="0"/>
              <a:t>t(i,j) Travel time matrix of size (N+1) × (N+1)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    Represents travel cost between any two locations i, j ∈ {0, 1, …, N}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2.2 Outputs, Constraints &amp; Workload Formula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Outputs</a:t>
            </a:r>
          </a:p>
          <a:p>
            <a:pPr marL="0" indent="0">
              <a:buNone/>
            </a:pPr>
            <a:r>
              <a:rPr lang="en-US" sz="1800" b="0" dirty="0"/>
              <a:t>Line 1:    The number of technicians K</a:t>
            </a:r>
          </a:p>
          <a:p>
            <a:pPr marL="0" indent="0">
              <a:buNone/>
            </a:pPr>
            <a:r>
              <a:rPr lang="en-US" sz="1800" b="0" dirty="0"/>
              <a:t>Line 2k    (k=1..K):  Number of points L_k in route of technician k</a:t>
            </a:r>
          </a:p>
          <a:p>
            <a:pPr marL="0" indent="0">
              <a:buNone/>
            </a:pPr>
            <a:r>
              <a:rPr lang="en-US" sz="1800" b="0" dirty="0"/>
              <a:t>Line 2k+1: Route sequence r[0], r[1], …, r[L_k]  where r[0] = r[L_k] = 0 (depot)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Constraints</a:t>
            </a:r>
          </a:p>
          <a:p>
            <a:pPr marL="0" indent="0">
              <a:buNone/>
            </a:pPr>
            <a:r>
              <a:rPr lang="en-US" sz="1800" b="0" dirty="0"/>
              <a:t>① Single Visit:       Each customer visited exactly once by exactly one technician.</a:t>
            </a:r>
          </a:p>
          <a:p>
            <a:pPr marL="0" indent="0">
              <a:buNone/>
            </a:pPr>
            <a:r>
              <a:rPr lang="en-US" sz="1800" b="0" dirty="0"/>
              <a:t>② Depot Continuity:   Every route begins at node 0 and returns to node 0.</a:t>
            </a:r>
          </a:p>
          <a:p>
            <a:pPr marL="0" indent="0">
              <a:buNone/>
            </a:pPr>
            <a:r>
              <a:rPr lang="en-US" sz="1800" b="0" dirty="0"/>
              <a:t>③ Workload Formula:   For route R_k = ⟨r[0], r[1], …, r[L_k]⟩: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457200" indent="-457200">
              <a:buNone/>
            </a:pPr>
            <a:r>
              <a:rPr lang="en-US" sz="2000" b="0" dirty="0">
                <a:solidFill>
                  <a:srgbClr val="C00000"/>
                </a:solidFill>
              </a:rPr>
              <a:t xml:space="preserve">   W(R_k)  =  Σ_{i=0}^{L_k-1}  [ t(r[i], r[i+1])  +  d(r[i+1]) ]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C00000"/>
                </a:solidFill>
              </a:rPr>
              <a:t>Objective Function:   minimize   max{ W(R_k) }   for k = 1, …, K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3. Greedy Algorithm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0" dirty="0"/>
              <a:t>Sorted Cheapest Insertion</a:t>
            </a:r>
          </a:p>
          <a:p>
            <a:pPr marL="0" indent="0">
              <a:buNone/>
            </a:pPr>
            <a:r>
              <a:rPr lang="en-US" sz="1800" b="0" dirty="0"/>
              <a:t>Background  ·  Logic (3 Phases)  ·  Pseudocode  ·  Complexity Analysis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3.1 Background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Classic Greedy Heuristics — Limitation</a:t>
            </a:r>
          </a:p>
          <a:p>
            <a:pPr marL="0" indent="0">
              <a:buNone/>
            </a:pPr>
            <a:r>
              <a:rPr lang="en-US" sz="1800" b="0" dirty="0"/>
              <a:t>Nearest Neighbor constructs routes sequentially or greedily appends nodes to the end of a route.</a:t>
            </a:r>
          </a:p>
          <a:p>
            <a:pPr marL="0" indent="0">
              <a:buNone/>
            </a:pPr>
            <a:r>
              <a:rPr lang="en-US" sz="1800" b="0" dirty="0"/>
              <a:t>Problem: remaining nodes at end are often far apart → subsequent routes absorb massive travel times → extreme workload imbalance.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Sorted Cheapest Insertion — Two Core Modifications</a:t>
            </a:r>
          </a:p>
          <a:p>
            <a:pPr marL="0" indent="0">
              <a:buNone/>
            </a:pPr>
            <a:r>
              <a:rPr lang="en-US" sz="1800" b="1" dirty="0"/>
              <a:t>① Furthest-First Sort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Prioritizes customers far from depot OR with long maintenance times.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By routing "difficult" nodes FIRST, reserves flexible nearby nodes for later.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/>
              <a:t>② Global Cheapest Insertion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Instead of appending to the end, evaluates inserting the target customer at ANY feasible position within ANY route.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Naturally balances workloads — inserting into a shorter route is computationally favored.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3.2 Logic — Phase 1: Initialization &amp; Phase 2: Sorting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Phase 1: Initialization</a:t>
            </a:r>
          </a:p>
          <a:p>
            <a:pPr marL="0" indent="0">
              <a:buNone/>
            </a:pPr>
            <a:r>
              <a:rPr lang="en-US" sz="1800" b="0" dirty="0"/>
              <a:t>Initialize K empty routes:</a:t>
            </a:r>
          </a:p>
          <a:p>
            <a:pPr marL="457200" indent="-457200">
              <a:buNone/>
            </a:pPr>
            <a:r>
              <a:rPr lang="en-US" sz="1800" b="0" dirty="0">
                <a:latin typeface="Courier New"/>
              </a:rPr>
              <a:t xml:space="preserve">   R_k = ⟨0, 0⟩   with accumulated workload = 0   for all k ∈ {1, …, K}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Phase 2: Priority Sorting</a:t>
            </a:r>
          </a:p>
          <a:p>
            <a:pPr marL="0" indent="0">
              <a:buNone/>
            </a:pPr>
            <a:r>
              <a:rPr lang="en-US" sz="1800" b="0" dirty="0"/>
              <a:t>Compute priority metric P(u) for each customer u: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914400" indent="-457200">
              <a:buNone/>
            </a:pPr>
            <a:r>
              <a:rPr lang="en-US" sz="2000" b="0" dirty="0">
                <a:solidFill>
                  <a:srgbClr val="C00000"/>
                </a:solidFill>
              </a:rPr>
              <a:t xml:space="preserve">         P(u)  =  t(0, u)  +  d(u)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0" dirty="0"/>
              <a:t>Sort the customer set in DESCENDING order of P(u).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/>
              <a:t>Rationale:</a:t>
            </a:r>
          </a:p>
          <a:p>
            <a:pPr marL="457200" indent="-457200">
              <a:buNone/>
            </a:pPr>
            <a:r>
              <a:rPr lang="en-US" sz="1800" b="0" dirty="0"/>
              <a:t>Customers that are farthest from depot AND/OR require longest service time are inserted FIRST.</a:t>
            </a:r>
          </a:p>
          <a:p>
            <a:pPr marL="457200" indent="-457200">
              <a:buNone/>
            </a:pPr>
            <a:r>
              <a:rPr lang="en-US" sz="1800" b="0" dirty="0"/>
              <a:t>Forces the algorithm to commit to hard decisions early, when all routes still have flexibility.</a:t>
            </a:r>
          </a:p>
          <a:p>
            <a:pPr marL="457200" indent="-457200">
              <a:buNone/>
            </a:pPr>
            <a:r>
              <a:rPr lang="en-US" sz="1800" b="0" dirty="0"/>
              <a:t>Avoids the "stranded node" problem of classic greedy methods.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3.3 Logic — Phase 3: Incremental Cheapest Insertion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For each customer u in the sorted list:</a:t>
            </a:r>
          </a:p>
          <a:p>
            <a:pPr marL="457200" indent="-457200">
              <a:buNone/>
            </a:pPr>
            <a:r>
              <a:rPr lang="en-US" sz="1800" b="0" dirty="0"/>
              <a:t>Search for optimal route k* and insertion index i* that minimizes the resulting workload.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Inserting u between consecutive nodes prev = r[i-1] and nxt = r[i]: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457200" indent="-457200">
              <a:buNone/>
            </a:pPr>
            <a:r>
              <a:rPr lang="en-US" sz="2000" b="0" dirty="0">
                <a:solidFill>
                  <a:srgbClr val="C00000"/>
                </a:solidFill>
              </a:rPr>
              <a:t xml:space="preserve">   ΔCost  =  t(prev, u)  +  d(u)  +  t(u, nxt)  −  t(prev, nxt)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457200" indent="-457200">
              <a:buNone/>
            </a:pPr>
            <a:r>
              <a:rPr lang="en-US" sz="2000" b="0" dirty="0">
                <a:solidFill>
                  <a:srgbClr val="C00000"/>
                </a:solidFill>
              </a:rPr>
              <a:t xml:space="preserve">   W_new  =  W(R_k)  +  ΔCost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0" dirty="0"/>
              <a:t>• ΔCost evaluation: O(1) per (route, position) pair</a:t>
            </a:r>
          </a:p>
          <a:p>
            <a:pPr marL="0" indent="0">
              <a:buNone/>
            </a:pPr>
            <a:r>
              <a:rPr lang="en-US" sz="1800" b="0" dirty="0"/>
              <a:t>• ALL positions across ALL routes evaluated → select globally optimal (k*, i*)</a:t>
            </a:r>
          </a:p>
          <a:p>
            <a:pPr marL="0" indent="0">
              <a:buNone/>
            </a:pPr>
            <a:r>
              <a:rPr lang="en-US" sz="1800" b="0" dirty="0"/>
              <a:t>• Insert u into routes[k*] at index i* → update workloads[k*] = W_new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Key insight:</a:t>
            </a:r>
          </a:p>
          <a:p>
            <a:pPr marL="457200" indent="-457200">
              <a:buNone/>
            </a:pPr>
            <a:r>
              <a:rPr lang="en-US" sz="1800" b="0" dirty="0"/>
              <a:t>Global search across routes naturally balances workloads WITHOUT any explicit load-balancing step.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3.4 Pseudocode — SolveSRM (Part 1 of 2)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>
                <a:latin typeface="Courier New"/>
              </a:rPr>
              <a:t>procedure SOLVESRM(N, K, d, t)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 routes[1..K] ← array of ⟨0, 0⟩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 workloads[1..K] ← 0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 customers ← [1, 2, …, N]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 Sort customers ↓ by ( t(0,u) + d(u) 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 for each u in customers do</a:t>
            </a:r>
          </a:p>
          <a:p>
            <a:pPr marL="457200" indent="-457200">
              <a:buNone/>
            </a:pPr>
            <a:r>
              <a:rPr lang="en-US" sz="1400" b="0" dirty="0">
                <a:latin typeface="Courier New"/>
              </a:rPr>
              <a:t xml:space="preserve">    best_k ← −1 ;  best_pos ← −1 ;  min_new_wl ← ∞</a:t>
            </a:r>
          </a:p>
          <a:p>
            <a:pPr marL="457200" indent="-457200">
              <a:buNone/>
            </a:pPr>
            <a:r>
              <a:rPr lang="en-US" sz="1400" b="0" dirty="0">
                <a:latin typeface="Courier New"/>
              </a:rPr>
              <a:t xml:space="preserve">    for k = 1 to K do</a:t>
            </a:r>
          </a:p>
          <a:p>
            <a:pPr marL="914400" indent="-457200">
              <a:buNone/>
            </a:pPr>
            <a:r>
              <a:rPr lang="en-US" sz="1400" b="0" dirty="0">
                <a:latin typeface="Courier New"/>
              </a:rPr>
              <a:t xml:space="preserve">      R ← routes[k]</a:t>
            </a:r>
          </a:p>
          <a:p>
            <a:pPr marL="914400" indent="-457200">
              <a:buNone/>
            </a:pPr>
            <a:r>
              <a:rPr lang="en-US" sz="1400" b="0" dirty="0">
                <a:latin typeface="Courier New"/>
              </a:rPr>
              <a:t xml:space="preserve">      for i = 1 to len(R)−1 do</a:t>
            </a:r>
          </a:p>
          <a:p>
            <a:pPr marL="1371600" indent="-457200">
              <a:buNone/>
            </a:pPr>
            <a:r>
              <a:rPr lang="en-US" sz="1400" b="0" dirty="0">
                <a:latin typeface="Courier New"/>
              </a:rPr>
              <a:t xml:space="preserve">        prev ← R[i−1] ;  nxt ← R[i]</a:t>
            </a:r>
          </a:p>
          <a:p>
            <a:pPr marL="1371600" indent="-457200">
              <a:buNone/>
            </a:pPr>
            <a:r>
              <a:rPr lang="en-US" sz="1400" b="0" dirty="0">
                <a:latin typeface="Courier New"/>
              </a:rPr>
              <a:t xml:space="preserve">        Δ ← −t(prev,nxt) + t(prev,u) + d(u) + t(u,nxt)</a:t>
            </a:r>
          </a:p>
          <a:p>
            <a:pPr marL="1371600" indent="-457200">
              <a:buNone/>
            </a:pPr>
            <a:r>
              <a:rPr lang="en-US" sz="1400" b="0" dirty="0">
                <a:latin typeface="Courier New"/>
              </a:rPr>
              <a:t xml:space="preserve">        new_wl ← workloads[k] + Δ</a:t>
            </a:r>
          </a:p>
          <a:p>
            <a:pPr marL="1371600" indent="-457200">
              <a:buNone/>
            </a:pPr>
            <a:r>
              <a:rPr lang="en-US" sz="1400" b="0" dirty="0">
                <a:latin typeface="Courier New"/>
              </a:rPr>
              <a:t xml:space="preserve">        if new_wl &lt; min_new_wl then</a:t>
            </a:r>
          </a:p>
          <a:p>
            <a:pPr marL="1828800" indent="-457200">
              <a:buNone/>
            </a:pPr>
            <a:r>
              <a:rPr lang="en-US" sz="1400" b="0" dirty="0">
                <a:latin typeface="Courier New"/>
              </a:rPr>
              <a:t xml:space="preserve">          min_new_wl ← new_wl ; best_k ← k ; best_pos ← i</a:t>
            </a:r>
          </a:p>
          <a:p>
            <a:pPr marL="1371600" indent="-457200">
              <a:buNone/>
            </a:pPr>
            <a:r>
              <a:rPr lang="en-US" sz="1400" b="0" dirty="0">
                <a:latin typeface="Courier New"/>
              </a:rPr>
              <a:t xml:space="preserve">        end if</a:t>
            </a:r>
          </a:p>
          <a:p>
            <a:pPr marL="914400" indent="-457200">
              <a:buNone/>
            </a:pPr>
            <a:r>
              <a:rPr lang="en-US" sz="1400" b="0" dirty="0">
                <a:latin typeface="Courier New"/>
              </a:rPr>
              <a:t xml:space="preserve">      end for</a:t>
            </a:r>
          </a:p>
          <a:p>
            <a:pPr marL="457200" indent="-457200">
              <a:buNone/>
            </a:pPr>
            <a:r>
              <a:rPr lang="en-US" sz="1400" b="0" dirty="0">
                <a:latin typeface="Courier New"/>
              </a:rPr>
              <a:t xml:space="preserve">    end for</a:t>
            </a:r>
          </a:p>
          <a:p>
            <a:pPr marL="457200" indent="-457200">
              <a:buNone/>
            </a:pPr>
            <a:r>
              <a:rPr lang="en-US" sz="1400" b="0" dirty="0">
                <a:latin typeface="Courier New"/>
              </a:rPr>
              <a:t xml:space="preserve">    Insert u into routes[best_k] at index best_pos</a:t>
            </a:r>
          </a:p>
          <a:p>
            <a:pPr marL="457200" indent="-457200">
              <a:buNone/>
            </a:pPr>
            <a:r>
              <a:rPr lang="en-US" sz="1400" b="0" dirty="0">
                <a:latin typeface="Courier New"/>
              </a:rPr>
              <a:t xml:space="preserve">    workloads[best_k] ← min_new_wl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 end for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 return routes</a:t>
            </a:r>
          </a:p>
          <a:p>
            <a:pPr marL="0" indent="0">
              <a:buNone/>
            </a:pPr>
            <a:r>
              <a:rPr lang="en-US" sz="1400" b="1" dirty="0">
                <a:latin typeface="Courier New"/>
              </a:rPr>
              <a:t>end procedure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3.5 Complexity &amp; Performance Analysis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Time Complexity</a:t>
            </a:r>
          </a:p>
          <a:p>
            <a:pPr marL="457200" indent="-457200">
              <a:buNone/>
            </a:pPr>
            <a:r>
              <a:rPr lang="en-US" sz="1800" b="0" dirty="0"/>
              <a:t>Sorting:           O(N log N)</a:t>
            </a:r>
          </a:p>
          <a:p>
            <a:pPr marL="457200" indent="-457200">
              <a:buNone/>
            </a:pPr>
            <a:r>
              <a:rPr lang="en-US" sz="1800" b="0" dirty="0"/>
              <a:t>Insertion loop:    For customer i, evaluate O(i + K) positions in O(1) each: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914400" indent="-457200">
              <a:buNone/>
            </a:pPr>
            <a:r>
              <a:rPr lang="en-US" sz="2000" b="0" dirty="0">
                <a:solidFill>
                  <a:srgbClr val="C00000"/>
                </a:solidFill>
              </a:rPr>
              <a:t xml:space="preserve">   Σ_{i=1}^{N} O(i + K)  =  O(N² + NK)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914400" indent="-457200">
              <a:buNone/>
            </a:pPr>
            <a:r>
              <a:rPr lang="en-US" sz="1800" b="0" dirty="0"/>
              <a:t xml:space="preserve">   For N=1000, K=100:  ≈ 10⁶ + 10⁵ ≈ 1.1 × 10⁶ operations  →  &lt; 0.15 seconds (Python)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Space Complexity</a:t>
            </a:r>
          </a:p>
          <a:p>
            <a:pPr marL="457200" indent="-457200">
              <a:buNone/>
            </a:pPr>
            <a:r>
              <a:rPr lang="en-US" sz="1800" b="0" dirty="0"/>
              <a:t>Travel time matrix: O(N²)  [dominant]        Route structures: O(N + K)</a:t>
            </a:r>
          </a:p>
          <a:p>
            <a:pPr marL="457200" indent="-457200">
              <a:buNone/>
            </a:pPr>
            <a:r>
              <a:rPr lang="en-US" sz="1800" b="0" dirty="0"/>
              <a:t>Total: O(N²)  — fits comfortably within modern memory limits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Solution Quality</a:t>
            </a:r>
          </a:p>
          <a:p>
            <a:pPr marL="457200" indent="-457200">
              <a:buNone/>
            </a:pPr>
            <a:r>
              <a:rPr lang="en-US" sz="1800" b="0" dirty="0"/>
              <a:t>Unlike endpoint-only greedy: evaluates INTERNAL route structures at insertion time.</a:t>
            </a:r>
          </a:p>
          <a:p>
            <a:pPr marL="457200" indent="-457200">
              <a:buNone/>
            </a:pPr>
            <a:r>
              <a:rPr lang="en-US" sz="1800" b="0" dirty="0"/>
              <a:t>Sorting "hard" tasks first avoids unbalanced outlier routes.</a:t>
            </a:r>
          </a:p>
          <a:p>
            <a:pPr marL="457200" indent="-457200">
              <a:buNone/>
            </a:pPr>
            <a:r>
              <a:rPr lang="en-US" sz="1800" b="0" dirty="0"/>
              <a:t>Achieves near-optimal results (e.g., workload = 560 on benchmarks) without metaheuristic overhead.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4. Branch &amp; Bound Algorithm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0" dirty="0"/>
              <a:t>State Representation  ·  Base Case  ·  Recursive Step  ·  Pseudocode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4.1 Background &amp; State Representation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Background</a:t>
            </a:r>
          </a:p>
          <a:p>
            <a:pPr marL="0" indent="0">
              <a:buNone/>
            </a:pPr>
            <a:r>
              <a:rPr lang="en-US" sz="1800" b="0" dirty="0"/>
              <a:t>One of the earliest exact approaches for VRP. Guarantees optimal solutions.</a:t>
            </a:r>
          </a:p>
          <a:p>
            <a:pPr marL="0" indent="0">
              <a:buNone/>
            </a:pPr>
            <a:r>
              <a:rPr lang="en-US" sz="1800" b="0" dirty="0"/>
              <a:t>Complexity grows EXPONENTIALLY — impractical for large-scale instances.</a:t>
            </a:r>
          </a:p>
          <a:p>
            <a:pPr marL="0" indent="0">
              <a:buNone/>
            </a:pPr>
            <a:r>
              <a:rPr lang="en-US" sz="1800" b="0" dirty="0"/>
              <a:t>Used early in VRP research; now complemented by metaheuristics and MIP/CP systems.</a:t>
            </a:r>
          </a:p>
          <a:p>
            <a:pPr marL="0" indent="0">
              <a:buNone/>
            </a:pPr>
            <a:r>
              <a:rPr lang="en-US" sz="1800" b="0" dirty="0"/>
              <a:t>Still used as benchmark for evaluating heuristics on small instances.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State Representation</a:t>
            </a:r>
          </a:p>
          <a:p>
            <a:pPr marL="0" indent="0">
              <a:buNone/>
            </a:pPr>
            <a:r>
              <a:rPr lang="en-US" sz="1800" b="0" dirty="0"/>
              <a:t>At any point in recursion, the algorithm tracks:</a:t>
            </a:r>
          </a:p>
          <a:p>
            <a:pPr marL="457200" indent="-457200">
              <a:buNone/>
            </a:pPr>
            <a:r>
              <a:rPr lang="en-US" sz="1800" b="0" dirty="0"/>
              <a:t>• Set of customers NOT yet visited</a:t>
            </a:r>
          </a:p>
          <a:p>
            <a:pPr marL="457200" indent="-457200">
              <a:buNone/>
            </a:pPr>
            <a:r>
              <a:rPr lang="en-US" sz="1800" b="0" dirty="0"/>
              <a:t>• List of routes (one per technician)</a:t>
            </a:r>
          </a:p>
          <a:p>
            <a:pPr marL="457200" indent="-457200">
              <a:buNone/>
            </a:pPr>
            <a:r>
              <a:rPr lang="en-US" sz="1800" b="0" dirty="0"/>
              <a:t>• Total accumulated time cost by each technician</a:t>
            </a:r>
          </a:p>
          <a:p>
            <a:pPr marL="457200" indent="-457200">
              <a:buNone/>
            </a:pPr>
            <a:r>
              <a:rPr lang="en-US" sz="1800" b="0" dirty="0"/>
              <a:t>• Current position of each technician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Memory Key (Memoization)</a:t>
            </a:r>
          </a:p>
          <a:p>
            <a:pPr marL="457200" indent="-457200">
              <a:buNone/>
            </a:pPr>
            <a:r>
              <a:rPr lang="en-US" sz="1800" b="0" dirty="0">
                <a:latin typeface="Courier New"/>
              </a:rPr>
              <a:t xml:space="preserve">  key = ( frozenset(unassigned),  tuple(cur_positions) )</a:t>
            </a:r>
          </a:p>
          <a:p>
            <a:pPr marL="457200" indent="-457200">
              <a:buNone/>
            </a:pPr>
            <a:r>
              <a:rPr lang="en-US" sz="1800" b="0" dirty="0"/>
              <a:t>If memo[key] ≤ max(worker_times) → skip this subtree (already found a better solution).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4.2 Base Case &amp; Recursive Step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Base Case: All customers assigned</a:t>
            </a:r>
          </a:p>
          <a:p>
            <a:pPr marL="457200" indent="-457200">
              <a:buNone/>
            </a:pPr>
            <a:r>
              <a:rPr lang="en-US" sz="1800" b="0" dirty="0">
                <a:latin typeface="Courier New"/>
              </a:rPr>
              <a:t>1. Compute: total_times[k] = worker_times[k] + dist[cur_positions[k]][0]</a:t>
            </a:r>
          </a:p>
          <a:p>
            <a:pPr marL="914400" indent="-457200">
              <a:buNone/>
            </a:pPr>
            <a:r>
              <a:rPr lang="en-US" sz="1800" b="0" dirty="0">
                <a:latin typeface="Courier New"/>
              </a:rPr>
              <a:t xml:space="preserve">           for all k where worker_routes[k] ≠ ∅</a:t>
            </a:r>
          </a:p>
          <a:p>
            <a:pPr marL="457200" indent="-457200">
              <a:buNone/>
            </a:pPr>
            <a:r>
              <a:rPr lang="en-US" sz="1800" b="0" dirty="0">
                <a:latin typeface="Courier New"/>
              </a:rPr>
              <a:t>2. max_time = max(total_times)</a:t>
            </a:r>
          </a:p>
          <a:p>
            <a:pPr marL="457200" indent="-457200">
              <a:buNone/>
            </a:pPr>
            <a:r>
              <a:rPr lang="en-US" sz="1800" b="0" dirty="0"/>
              <a:t>3. If max_time &lt; best_time:  update best_time and best_routes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Recursive Step: For each unassigned customer</a:t>
            </a:r>
          </a:p>
          <a:p>
            <a:pPr marL="0" indent="0">
              <a:buNone/>
            </a:pPr>
            <a:r>
              <a:rPr lang="en-US" sz="1800" b="0" dirty="0">
                <a:latin typeface="Courier New"/>
              </a:rPr>
              <a:t>for each customer ∈ unassigned:</a:t>
            </a:r>
          </a:p>
          <a:p>
            <a:pPr marL="457200" indent="-457200">
              <a:buNone/>
            </a:pPr>
            <a:r>
              <a:rPr lang="en-US" sz="1800" b="0" dirty="0">
                <a:latin typeface="Courier New"/>
              </a:rPr>
              <a:t xml:space="preserve">  for k = 0 to K−1:</a:t>
            </a:r>
          </a:p>
          <a:p>
            <a:pPr marL="914400" indent="-457200">
              <a:buNone/>
            </a:pPr>
            <a:r>
              <a:rPr lang="en-US" sz="1800" b="0" dirty="0">
                <a:latin typeface="Courier New"/>
              </a:rPr>
              <a:t xml:space="preserve">    total = worker_times[k] + dist[last_pos][customer] + d[customer]</a:t>
            </a:r>
          </a:p>
          <a:p>
            <a:pPr marL="914400" indent="-457200">
              <a:buNone/>
            </a:pPr>
            <a:r>
              <a:rPr lang="en-US" sz="1800" b="0" dirty="0">
                <a:solidFill>
                  <a:srgbClr val="C00000"/>
                </a:solidFill>
              </a:rPr>
              <a:t xml:space="preserve">    PRUNING: if total ≥ best_time → continue (skip)</a:t>
            </a:r>
          </a:p>
          <a:p>
            <a:pPr marL="914400" indent="-457200">
              <a:buNone/>
            </a:pPr>
            <a:r>
              <a:rPr lang="en-US" sz="1800" b="0" dirty="0"/>
              <a:t xml:space="preserve">    Assign customer to k  →  recurse  →  UNDO assignment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Search Space: O(K^N)</a:t>
            </a:r>
          </a:p>
          <a:p>
            <a:pPr marL="457200" indent="-457200">
              <a:buNone/>
            </a:pPr>
            <a:r>
              <a:rPr lang="en-US" sz="1800" b="0" dirty="0"/>
              <a:t>N=80, K=10: ≈ 10^80 possible assignments (&gt; atoms in observable universe)</a:t>
            </a:r>
          </a:p>
          <a:p>
            <a:pPr marL="457200" indent="-457200">
              <a:buNone/>
            </a:pPr>
            <a:r>
              <a:rPr lang="en-US" sz="1800" b="0" dirty="0"/>
              <a:t>Practical limit: N ≤ 10 only.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4.3 Pseudocode — DFS Function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latin typeface="Courier New"/>
              </a:rPr>
              <a:t>function DFS(unassigned, worker_routes, worker_times, cur_positions)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key ← (frozenset(unassigned), tuple(cur_positions))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if key ∈ memo AND memo[key] ≤ max(worker_times):  return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memo[key] ← max(worker_times)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if unassigned is empty: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total_times ← [worker_times[k] + dist[cur_positions[k]][0]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              for all k where worker_routes[k] ≠ ∅]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if max(total_times) &lt; best_time: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best_time ← max(total_times)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best_routes ← worker_routes (with 0 appended to each route)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return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for each customer ∈ unassigned: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for k ← 0 to K−1: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total ← worker_times[k] + dist[cur_positions[k]][customer] + d[customer]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if total ≥ best_time:  continue   { PRUNING }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worker_routes[k].append(customer)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worker_times[k] ← total ;  cur_positions[k] ← customer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DFS(unassigned \ {customer}, worker_routes, worker_times, cur_positions)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worker_routes[k].pop()  { UNDO }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worker_times[k] ← worker_times[k] − (move_cost + service_cost)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cur_positions[k] ← last_pos</a:t>
            </a:r>
          </a:p>
          <a:p>
            <a:pPr marL="0" indent="0">
              <a:buNone/>
            </a:pPr>
            <a:r>
              <a:rPr lang="en-US" sz="1600" b="1" dirty="0">
                <a:latin typeface="Courier New"/>
              </a:rPr>
              <a:t>end function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5. Constraint Programming (CP-SAT)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0" dirty="0"/>
              <a:t>Background  ·  Process  ·  Modelling  ·  Constraints  ·  Results &amp; Scalability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5.1 Background &amp; Key Improvements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CP with AddCircuit — Mathematically Guaranteed Solutions</a:t>
            </a:r>
          </a:p>
          <a:p>
            <a:pPr marL="0" indent="0">
              <a:buNone/>
            </a:pPr>
            <a:r>
              <a:rPr lang="en-US" sz="1800" b="0" dirty="0"/>
              <a:t>Provides provably correct solutions for small instances of the BSRM problem.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Key improvements over original MTZ-based formulation:</a:t>
            </a:r>
          </a:p>
          <a:p>
            <a:pPr marL="457200" indent="-457200">
              <a:buNone/>
            </a:pPr>
            <a:r>
              <a:rPr lang="en-US" sz="1800" b="0" dirty="0"/>
              <a:t>• Use BoolVar instead of IntVar(0,1) for routing variables</a:t>
            </a:r>
          </a:p>
          <a:p>
            <a:pPr marL="457200" indent="-457200">
              <a:buNone/>
            </a:pPr>
            <a:r>
              <a:rPr lang="en-US" sz="1800" b="0" dirty="0"/>
              <a:t>• Tighten domain bounds of y[k] and z</a:t>
            </a:r>
          </a:p>
          <a:p>
            <a:pPr marL="457200" indent="-457200">
              <a:buNone/>
            </a:pPr>
            <a:r>
              <a:rPr lang="en-US" sz="1800" b="0" dirty="0"/>
              <a:t>• Replace THREE separate constraint groups with a SINGLE AddCircuit call per technician:</a:t>
            </a:r>
          </a:p>
          <a:p>
            <a:pPr marL="914400" indent="-457200">
              <a:buNone/>
            </a:pPr>
            <a:r>
              <a:rPr lang="en-US" sz="1800" b="0" dirty="0"/>
              <a:t xml:space="preserve">  (Flow conservation  +  Depot constraints  +  MTZ subtour elimination)</a:t>
            </a:r>
          </a:p>
          <a:p>
            <a:pPr marL="457200" indent="-457200">
              <a:buNone/>
            </a:pPr>
            <a:r>
              <a:rPr lang="en-US" sz="1800" b="0" dirty="0"/>
              <a:t>• Result: significantly faster for small instances via efficient internal propagator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Fundamental Limitation</a:t>
            </a:r>
          </a:p>
          <a:p>
            <a:pPr marL="457200" indent="-457200">
              <a:buNone/>
            </a:pPr>
            <a:r>
              <a:rPr lang="en-US" sz="1800" b="0" dirty="0"/>
              <a:t>O(K × N²) variable count means CP CANNOT scale to large inputs.</a:t>
            </a:r>
          </a:p>
          <a:p>
            <a:pPr marL="457200" indent="-457200">
              <a:buNone/>
            </a:pPr>
            <a:r>
              <a:rPr lang="en-US" sz="1800" b="0" dirty="0"/>
              <a:t>This is not an implementation failure — it is a theoretical boundary.</a:t>
            </a:r>
          </a:p>
          <a:p>
            <a:pPr marL="457200" indent="-457200">
              <a:buNone/>
            </a:pPr>
            <a:r>
              <a:rPr lang="en-US" sz="1800" b="0" dirty="0"/>
              <a:t>VRP is NP-Hard: any exact formulation requires variables growing quadratically with N.</a:t>
            </a:r>
          </a:p>
          <a:p>
            <a:pPr marL="457200" indent="-457200">
              <a:buNone/>
            </a:pPr>
            <a:r>
              <a:rPr lang="en-US" sz="1800" b="0" dirty="0"/>
              <a:t>CP is most valuable as a benchmark producing provably correct solutions for small cases.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5.2 Process of Constraint Programming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Step 1: Model the Problem</a:t>
            </a:r>
          </a:p>
          <a:p>
            <a:pPr marL="457200" indent="-457200">
              <a:buNone/>
            </a:pPr>
            <a:r>
              <a:rPr lang="en-US" sz="1800" b="0" dirty="0"/>
              <a:t>Define decision variables, their domains, and all constraints.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Step 2: Propagate Constraints</a:t>
            </a:r>
          </a:p>
          <a:p>
            <a:pPr marL="457200" indent="-457200">
              <a:buNone/>
            </a:pPr>
            <a:r>
              <a:rPr lang="en-US" sz="1800" b="0" dirty="0"/>
              <a:t>Reduce variable domains by eliminating impossible values.</a:t>
            </a:r>
          </a:p>
          <a:p>
            <a:pPr marL="457200" indent="-457200">
              <a:buNone/>
            </a:pPr>
            <a:r>
              <a:rPr lang="en-US" sz="1800" b="0" dirty="0"/>
              <a:t>Techniques: domain consistency, bound consistency.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Step 3: Search Systematically</a:t>
            </a:r>
          </a:p>
          <a:p>
            <a:pPr marL="457200" indent="-457200">
              <a:buNone/>
            </a:pPr>
            <a:r>
              <a:rPr lang="en-US" sz="1800" b="0" dirty="0"/>
              <a:t>Assign values to variables (branching).</a:t>
            </a:r>
          </a:p>
          <a:p>
            <a:pPr marL="457200" indent="-457200">
              <a:buNone/>
            </a:pPr>
            <a:r>
              <a:rPr lang="en-US" sz="1800" b="0" dirty="0"/>
              <a:t>Backtrack when constraints are violated.</a:t>
            </a:r>
          </a:p>
          <a:p>
            <a:pPr marL="457200" indent="-457200">
              <a:buNone/>
            </a:pPr>
            <a:r>
              <a:rPr lang="en-US" sz="1800" b="0" dirty="0"/>
              <a:t>Use heuristics to guide variable/value selection.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Step 4: Optimize</a:t>
            </a:r>
          </a:p>
          <a:p>
            <a:pPr marL="457200" indent="-457200">
              <a:buNone/>
            </a:pPr>
            <a:r>
              <a:rPr lang="en-US" sz="1800" b="0" dirty="0"/>
              <a:t>Tighten bounds iteratively to find the best solution within the time limit.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/>
              <a:t>Solver configuration used:</a:t>
            </a:r>
          </a:p>
          <a:p>
            <a:pPr marL="457200" indent="-457200">
              <a:buNone/>
            </a:pPr>
            <a:r>
              <a:rPr lang="en-US" sz="1800" b="0" dirty="0">
                <a:latin typeface="Courier New"/>
              </a:rPr>
              <a:t xml:space="preserve">  solver.parameters.max_time_in_seconds = 55.0</a:t>
            </a:r>
          </a:p>
          <a:p>
            <a:pPr marL="457200" indent="-457200">
              <a:buNone/>
            </a:pPr>
            <a:r>
              <a:rPr lang="en-US" sz="1800" b="0" dirty="0">
                <a:latin typeface="Courier New"/>
              </a:rPr>
              <a:t xml:space="preserve">  solver.parameters.num_search_workers  = 8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5.3 Modelling — Decision Variables &amp; Objective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Decision Variables</a:t>
            </a:r>
          </a:p>
          <a:p>
            <a:pPr marL="0" indent="0">
              <a:buNone/>
            </a:pPr>
            <a:r>
              <a:rPr lang="en-US" sz="1800" b="1" dirty="0"/>
              <a:t>x[i][j][k]  (BoolVar)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= 1 if technician k travels from node i to node j   (i ≠ j)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One variable per ordered pair (i,j) per technician k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/>
              <a:t>self_loop[i][k]  (BoolVar)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= 1 if technician k does NOT visit customer i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Required by AddCircuit to allow circuits to skip certain nodes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Replaces the MTZ ordering variable u_{i,k} from original formulation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/>
              <a:t>y[k]  (IntVar)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Total workload of technician k.  Domain: [0, UB]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UB = N × max(t) + Σd  (tight upper bound computed from input)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/>
              <a:t>z  (IntVar) — THE OBJECTIVE</a:t>
            </a:r>
          </a:p>
          <a:p>
            <a:pPr marL="457200" indent="-457200">
              <a:buNone/>
            </a:pPr>
            <a:r>
              <a:rPr lang="en-US" sz="1800" b="0" dirty="0"/>
              <a:t xml:space="preserve">   Maximum workload across all technicians.  This is the value being MINIMIZED.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Objective Function:</a:t>
            </a:r>
          </a:p>
          <a:p>
            <a:pPr marL="914400" indent="-457200">
              <a:buNone/>
            </a:pPr>
            <a:r>
              <a:rPr lang="en-US" sz="2000" b="0" dirty="0">
                <a:solidFill>
                  <a:srgbClr val="C00000"/>
                </a:solidFill>
              </a:rPr>
              <a:t xml:space="preserve">   minimize   z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5.4 Constraints (1) &amp; (2)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Constraint 1: Each customer visited exactly once</a:t>
            </a:r>
          </a:p>
          <a:p>
            <a:pPr marL="457200" indent="-457200">
              <a:buNone/>
            </a:pPr>
            <a:r>
              <a:rPr lang="en-US" sz="1800" b="0" dirty="0">
                <a:solidFill>
                  <a:srgbClr val="C00000"/>
                </a:solidFill>
              </a:rPr>
              <a:t>Σ_i Σ_k  x[i][j][k]  =  1     ∀ j = 1, …, N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for j in range(1, N+1):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model.Add(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  sum(x[i,j,k]  for k in range(1, K+1)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                for i in range(N+1) if i != j)  ==  1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Constraint 2: Link between self_loop and x</a:t>
            </a:r>
          </a:p>
          <a:p>
            <a:pPr marL="457200" indent="-457200">
              <a:buNone/>
            </a:pPr>
            <a:r>
              <a:rPr lang="en-US" sz="1800" b="0" dirty="0">
                <a:solidFill>
                  <a:srgbClr val="C00000"/>
                </a:solidFill>
              </a:rPr>
              <a:t>Σ_i x[i][j][k]  +  self_loop[j][k]  =  1     ∀ j, ∀ k</a:t>
            </a:r>
          </a:p>
          <a:p>
            <a:pPr marL="457200" indent="-457200">
              <a:buNone/>
            </a:pPr>
            <a:r>
              <a:rPr lang="en-US" sz="1800" b="0" dirty="0"/>
              <a:t>Either technician k visits j (incoming x sums to 1) OR self_loop is active (k skips j).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for j in range(1, N+1):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for k in range(1, K+1):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  model.Add(</a:t>
            </a:r>
          </a:p>
          <a:p>
            <a:pPr marL="1371600" indent="-457200">
              <a:buNone/>
            </a:pPr>
            <a:r>
              <a:rPr lang="en-US" sz="1600" b="0" dirty="0">
                <a:latin typeface="Courier New"/>
              </a:rPr>
              <a:t xml:space="preserve">            sum(x[i,j,k] for i in range(N+1) if i!=j)</a:t>
            </a:r>
          </a:p>
          <a:p>
            <a:pPr marL="1371600" indent="-457200">
              <a:buNone/>
            </a:pPr>
            <a:r>
              <a:rPr lang="en-US" sz="1600" b="0" dirty="0">
                <a:latin typeface="Courier New"/>
              </a:rPr>
              <a:t xml:space="preserve">            + self_loop[j, k]  ==  1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  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5.4 Constraint (3): AddCircuit — Valid Route Structure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0" dirty="0"/>
              <a:t>AddCircuit simultaneously replaces THREE constraint groups:</a:t>
            </a:r>
          </a:p>
          <a:p>
            <a:pPr marL="457200" indent="-457200">
              <a:buNone/>
            </a:pPr>
            <a:r>
              <a:rPr lang="en-US" sz="1800" b="0" dirty="0"/>
              <a:t xml:space="preserve">  ① Flow conservation (in-degree = out-degree at every node)</a:t>
            </a:r>
          </a:p>
          <a:p>
            <a:pPr marL="457200" indent="-457200">
              <a:buNone/>
            </a:pPr>
            <a:r>
              <a:rPr lang="en-US" sz="1800" b="0" dirty="0"/>
              <a:t xml:space="preserve">  ② Depot constraint (route starts and ends at node 0)</a:t>
            </a:r>
          </a:p>
          <a:p>
            <a:pPr marL="457200" indent="-457200">
              <a:buNone/>
            </a:pPr>
            <a:r>
              <a:rPr lang="en-US" sz="1800" b="0" dirty="0"/>
              <a:t xml:space="preserve">  ③ Subtour elimination (replaces MTZ constraints)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Mathematical formulation:</a:t>
            </a:r>
          </a:p>
          <a:p>
            <a:pPr marL="457200" indent="-457200">
              <a:buNone/>
            </a:pPr>
            <a:r>
              <a:rPr lang="en-US" sz="1800" b="0" dirty="0">
                <a:solidFill>
                  <a:srgbClr val="C00000"/>
                </a:solidFill>
              </a:rPr>
              <a:t>AddCircuit({ (i,i, self_loop[i][k]) : i=1..N } ∪ { (i,j, x[i][j][k]) : i≠j })   ∀k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/>
              <a:t>Python code: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for k in range(1, K+1):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arcs = []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for i in range(1, N+1):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  arcs.append((i, i, self_loop[i, k]))  # skip arc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for i in range(N+1):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  for j in range(N+1):</a:t>
            </a:r>
          </a:p>
          <a:p>
            <a:pPr marL="1371600" indent="-457200">
              <a:buNone/>
            </a:pPr>
            <a:r>
              <a:rPr lang="en-US" sz="1600" b="0" dirty="0">
                <a:latin typeface="Courier New"/>
              </a:rPr>
              <a:t xml:space="preserve">            if i != j:</a:t>
            </a:r>
          </a:p>
          <a:p>
            <a:pPr marL="1828800" indent="-457200">
              <a:buNone/>
            </a:pPr>
            <a:r>
              <a:rPr lang="en-US" sz="1600" b="0" dirty="0">
                <a:latin typeface="Courier New"/>
              </a:rPr>
              <a:t xml:space="preserve">                arcs.append((i, j, x[i, j, k]))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model.AddCircuit(arcs)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5.4 Constraints (4) &amp; (5): Workload &amp; Objective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Constraint 4: Workload Calculation</a:t>
            </a:r>
          </a:p>
          <a:p>
            <a:pPr marL="457200" indent="-457200">
              <a:buNone/>
            </a:pPr>
            <a:r>
              <a:rPr lang="en-US" sz="1800" b="0" dirty="0">
                <a:solidFill>
                  <a:srgbClr val="C00000"/>
                </a:solidFill>
              </a:rPr>
              <a:t>y[k]  =  Σ_i Σ_{j≠0} x[i][j][k]·(t_{i,j} + d_j)  +  Σ_{i≠0} x[i][0][k]·t_{i,0}    ∀k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for k in range(1, K+1):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total = []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for i in range(N+1):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  for j in range(N+1):</a:t>
            </a:r>
          </a:p>
          <a:p>
            <a:pPr marL="1371600" indent="-457200">
              <a:buNone/>
            </a:pPr>
            <a:r>
              <a:rPr lang="en-US" sz="1600" b="0" dirty="0">
                <a:latin typeface="Courier New"/>
              </a:rPr>
              <a:t xml:space="preserve">            if i != j:</a:t>
            </a:r>
          </a:p>
          <a:p>
            <a:pPr marL="1828800" indent="-457200">
              <a:buNone/>
            </a:pPr>
            <a:r>
              <a:rPr lang="en-US" sz="1600" b="0" dirty="0">
                <a:latin typeface="Courier New"/>
              </a:rPr>
              <a:t xml:space="preserve">                cost    = matrix[i][j]</a:t>
            </a:r>
          </a:p>
          <a:p>
            <a:pPr marL="1828800" indent="-457200">
              <a:buNone/>
            </a:pPr>
            <a:r>
              <a:rPr lang="en-US" sz="1600" b="0" dirty="0">
                <a:latin typeface="Courier New"/>
              </a:rPr>
              <a:t xml:space="preserve">                service = d[j] if j != 0 else 0</a:t>
            </a:r>
          </a:p>
          <a:p>
            <a:pPr marL="1828800" indent="-457200">
              <a:buNone/>
            </a:pPr>
            <a:r>
              <a:rPr lang="en-US" sz="1600" b="0" dirty="0">
                <a:latin typeface="Courier New"/>
              </a:rPr>
              <a:t xml:space="preserve">                total.append(x[i,j,k] * (cost + service))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model.Add(y[k] == sum(total))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Constraint 5: z is the Maximum Workload</a:t>
            </a:r>
          </a:p>
          <a:p>
            <a:pPr marL="457200" indent="-457200">
              <a:buNone/>
            </a:pPr>
            <a:r>
              <a:rPr lang="en-US" sz="1800" b="0" dirty="0">
                <a:solidFill>
                  <a:srgbClr val="C00000"/>
                </a:solidFill>
              </a:rPr>
              <a:t>z  ≥  y[k]     ∀ k = 1, …, K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for k in range(1, K+1):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  model.Add(z &gt;= y[k])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model.Minimize(z)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5.5 CP Results — Online Judge Test Execution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Test Results Submitted to Online Judge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>
                <a:latin typeface="Courier New"/>
              </a:rPr>
              <a:t xml:space="preserve">  N     K     Message                    Runtime (ms)   Memory (MB)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─────────────────────────────────────────────────────────────────</a:t>
            </a:r>
          </a:p>
          <a:p>
            <a:pPr marL="0" indent="0">
              <a:buNone/>
            </a:pPr>
            <a:r>
              <a:rPr lang="en-US" sz="1800" b="0" dirty="0">
                <a:latin typeface="Courier New"/>
              </a:rPr>
              <a:t xml:space="preserve">  5     2     Memory Limit Exceeded       2,538          49,633</a:t>
            </a:r>
          </a:p>
          <a:p>
            <a:pPr marL="0" indent="0">
              <a:buNone/>
            </a:pPr>
            <a:r>
              <a:rPr lang="en-US" sz="1800" b="0" dirty="0">
                <a:latin typeface="Courier New"/>
              </a:rPr>
              <a:t xml:space="preserve">  10    2     Memory Limit Exceeded      12,811          90,867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0" dirty="0"/>
              <a:t>Tests 3 and 7 PASSED (small inputs, fit within 1024 MB limit).</a:t>
            </a:r>
          </a:p>
          <a:p>
            <a:pPr marL="0" indent="0">
              <a:buNone/>
            </a:pPr>
            <a:r>
              <a:rPr lang="en-US" sz="1800" b="0" dirty="0"/>
              <a:t>All 8 failing tests hit Memory Limit Exceeded before any search began.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C00000"/>
                </a:solidFill>
              </a:rPr>
              <a:t>Memory consumed entirely during MODEL CONSTRUCTION — not during search.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Why the hard 1,024 MB ceiling?</a:t>
            </a:r>
          </a:p>
          <a:p>
            <a:pPr marL="457200" indent="-457200">
              <a:buNone/>
            </a:pPr>
            <a:r>
              <a:rPr lang="en-US" sz="1800" b="0" dirty="0"/>
              <a:t>At N=1000, K=100: ~100 million BoolVars required.</a:t>
            </a:r>
          </a:p>
          <a:p>
            <a:pPr marL="457200" indent="-457200">
              <a:buNone/>
            </a:pPr>
            <a:r>
              <a:rPr lang="en-US" sz="1800" b="0" dirty="0"/>
              <a:t>Each BoolVar carries internal memory overhead beyond a single bit.</a:t>
            </a:r>
          </a:p>
          <a:p>
            <a:pPr marL="457200" indent="-457200">
              <a:buNone/>
            </a:pPr>
            <a:r>
              <a:rPr lang="en-US" sz="1800" b="0" dirty="0"/>
              <a:t>Failing tests show EXACTLY 1,024 MB used — the hard ceiling is hit during model build.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5.6 Why CP Cannot Scale — Variable Count Analysis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Variable Count: O(K × N²)</a:t>
            </a:r>
          </a:p>
          <a:p>
            <a:pPr marL="457200" indent="-457200">
              <a:buNone/>
            </a:pPr>
            <a:r>
              <a:rPr lang="en-US" sz="1800" b="0" dirty="0"/>
              <a:t>x[i][j][k] BoolVars: one per ordered pair (i,j) per technician k  →  K × N(N+1) vars</a:t>
            </a:r>
          </a:p>
          <a:p>
            <a:pPr marL="457200" indent="-457200">
              <a:buNone/>
            </a:pPr>
            <a:r>
              <a:rPr lang="en-US" sz="1800" b="0" dirty="0"/>
              <a:t>self_loop[i][k] BoolVars: N × K additional vars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Variable Count Scaling Table</a:t>
            </a:r>
          </a:p>
          <a:p>
            <a:pPr marL="0" indent="0">
              <a:buNone/>
            </a:pPr>
            <a:r>
              <a:rPr lang="en-US" sz="1600" b="1" dirty="0">
                <a:latin typeface="Courier New"/>
              </a:rPr>
              <a:t xml:space="preserve">  N       K      x[i][j][k] vars     self_loop vars     Total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──────────────────────────────────────────────────────────────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   5       2              60                 10         ≥ 73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  10       2             220                 20         ≥ 243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  20       3           1,260                 60         ≥ 1,324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 100      10         100,100              1,000         ≥ 102,011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 400      40       6,400,160             16,000         ≥ 6,432,041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1,000     100     100,100,000            100,000         ≥ 100,200,101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VRP is NP-Hard</a:t>
            </a:r>
          </a:p>
          <a:p>
            <a:pPr marL="457200" indent="-457200">
              <a:buNone/>
            </a:pPr>
            <a:r>
              <a:rPr lang="en-US" sz="1800" b="0" dirty="0"/>
              <a:t>Even unlimited memory would not help — the search space grows exponentially.</a:t>
            </a:r>
          </a:p>
          <a:p>
            <a:pPr marL="457200" indent="-457200">
              <a:buNone/>
            </a:pPr>
            <a:r>
              <a:rPr lang="en-US" sz="1800" b="0" dirty="0"/>
              <a:t>K=10, N=80: search space ≈ 10^80 (&gt; atoms in observable universe).</a:t>
            </a:r>
          </a:p>
          <a:p>
            <a:pPr marL="457200" indent="-457200">
              <a:buNone/>
            </a:pPr>
            <a:r>
              <a:rPr lang="en-US" sz="1800" b="0" dirty="0"/>
              <a:t>AddCircuit improves small-instance speed but does NOT reduce the O(K×N²) variable count.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 Hill Climbing Heuristic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0" dirty="0"/>
              <a:t>Background  ·  Logic  ·  6 Sub-Algorithms with Pseudocode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6.1 Background &amp; Logic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Background</a:t>
            </a:r>
          </a:p>
          <a:p>
            <a:pPr marL="0" indent="0">
              <a:buNone/>
            </a:pPr>
            <a:r>
              <a:rPr lang="en-US" sz="1800" b="0" dirty="0"/>
              <a:t>Hill climbing is a mathematical optimization and heuristic search technique.</a:t>
            </a:r>
          </a:p>
          <a:p>
            <a:pPr marL="0" indent="0">
              <a:buNone/>
            </a:pPr>
            <a:r>
              <a:rPr lang="en-US" sz="1800" b="0" dirty="0"/>
              <a:t>Belongs to the family of LOCAL SEARCH methods.</a:t>
            </a:r>
          </a:p>
          <a:p>
            <a:pPr marL="0" indent="0">
              <a:buNone/>
            </a:pPr>
            <a:r>
              <a:rPr lang="en-US" sz="1800" b="0" dirty="0"/>
              <a:t>Continually moves in the direction of decreasing cost to find the best possible solution.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Search Logic</a:t>
            </a:r>
          </a:p>
          <a:p>
            <a:pPr marL="457200" indent="-457200">
              <a:buNone/>
            </a:pPr>
            <a:r>
              <a:rPr lang="en-US" sz="1800" b="0" dirty="0"/>
              <a:t>① Initialize:    Generate initial candidate solution using greedy algorithm.</a:t>
            </a:r>
          </a:p>
          <a:p>
            <a:pPr marL="457200" indent="-457200">
              <a:buNone/>
            </a:pPr>
            <a:r>
              <a:rPr lang="en-US" sz="1800" b="0" dirty="0"/>
              <a:t>② Compute:      Use compute_max_time() to measure total makespan of current state.</a:t>
            </a:r>
          </a:p>
          <a:p>
            <a:pPr marL="457200" indent="-457200">
              <a:buNone/>
            </a:pPr>
            <a:r>
              <a:rPr lang="en-US" sz="1800" b="0" dirty="0"/>
              <a:t>③ Check Neighbors:  Make minor tweaks to create nearby alternative solutions:</a:t>
            </a:r>
          </a:p>
          <a:p>
            <a:pPr marL="914400" indent="-457200">
              <a:buNone/>
            </a:pPr>
            <a:r>
              <a:rPr lang="en-US" sz="1800" b="0" dirty="0"/>
              <a:t xml:space="preserve">   • Swap:           Choose 2 routes randomly; swap 1 customer between them.</a:t>
            </a:r>
          </a:p>
          <a:p>
            <a:pPr marL="914400" indent="-457200">
              <a:buNone/>
            </a:pPr>
            <a:r>
              <a:rPr lang="en-US" sz="1800" b="0" dirty="0"/>
              <a:t xml:space="preserve">   • Multiple Swap:  Choose 2 routes randomly; swap multiple customers between them.</a:t>
            </a:r>
          </a:p>
          <a:p>
            <a:pPr marL="914400" indent="-457200">
              <a:buNone/>
            </a:pPr>
            <a:r>
              <a:rPr lang="en-US" sz="1800" b="0" dirty="0"/>
              <a:t xml:space="preserve">   • Move:           Choose 1 customer from a route; move it to another route.</a:t>
            </a:r>
          </a:p>
          <a:p>
            <a:pPr marL="457200" indent="-457200">
              <a:buNone/>
            </a:pPr>
            <a:r>
              <a:rPr lang="en-US" sz="1800" b="0" dirty="0"/>
              <a:t>④ If a neighboring state has a BETTER (lower) makespan → step into it.</a:t>
            </a:r>
          </a:p>
          <a:p>
            <a:pPr marL="457200" indent="-457200">
              <a:buNone/>
            </a:pPr>
            <a:r>
              <a:rPr lang="en-US" sz="1800" b="0" dirty="0"/>
              <a:t>⑤ Stop when no surrounding neighbor offers an improvement (local minimum).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6.2 Algorithm 1: Compute Max Time  &amp;  Algorithm 2: Swap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Algorithm 1: compute_max_time(routes)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function compute_max_time(routes):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Initialize max_time = 0, time = 0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for each route do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time = 0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for i = 0 to (length of route − 1) do</a:t>
            </a:r>
          </a:p>
          <a:p>
            <a:pPr marL="1371600" indent="-457200">
              <a:buNone/>
            </a:pPr>
            <a:r>
              <a:rPr lang="en-US" sz="1600" b="0" dirty="0">
                <a:latin typeface="Courier New"/>
              </a:rPr>
              <a:t xml:space="preserve">      time += travel_time(route[i], route[i+1])</a:t>
            </a:r>
          </a:p>
          <a:p>
            <a:pPr marL="1371600" indent="-457200">
              <a:buNone/>
            </a:pPr>
            <a:r>
              <a:rPr lang="en-US" sz="1600" b="0" dirty="0">
                <a:latin typeface="Courier New"/>
              </a:rPr>
              <a:t xml:space="preserve">      if route[i+1] != depot:  time += service_time(route[i+1])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max_time = max(max_time, time)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return max_time</a:t>
            </a:r>
          </a:p>
          <a:p>
            <a:pPr marL="0" indent="0">
              <a:buNone/>
            </a:pPr>
            <a:r>
              <a:rPr lang="en-US" sz="1600" b="1" dirty="0">
                <a:latin typeface="Courier New"/>
              </a:rPr>
              <a:t>end function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/>
              <a:t>Algorithm 2: try_neighbor_swap(routes, best_cost)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function try_neighbor_swap(routes, best_cost):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Randomly select two routes r1, r2 with |r1| &gt;= 2 and |r2| &gt;= 2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Randomly select nodes i in r1 \ {0},  j in r2 \ {0}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Swap nodes i and j between routes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if modified solution is improved (lower cost):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return modified cost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If not: UNDO the swap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return best_cost</a:t>
            </a:r>
          </a:p>
          <a:p>
            <a:pPr marL="0" indent="0">
              <a:buNone/>
            </a:pPr>
            <a:r>
              <a:rPr lang="en-US" sz="1600" b="1" dirty="0">
                <a:latin typeface="Courier New"/>
              </a:rPr>
              <a:t>end function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6.2 Algorithm 3: Multiple Swap  &amp;  Algorithm 4: Move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Algorithm 3: try_neighbor_swap_multiples(routes, best_cost, num_nodes)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function try_neighbor_swap_multiples(routes, best_cost, num_nodes):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Randomly select two routes r1, r2 with |r1| &gt;= 2 and |r2| &gt;= 2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Randomly select starting nodes i in r1 \ {0},  j in r2 \ {0}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for i = 0 to (num_nodes − 1) do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Swap consecutive nodes i and j between routes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if modified solution is improved: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return modified cost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If not: UNDO the multi-swap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return best_cost</a:t>
            </a:r>
          </a:p>
          <a:p>
            <a:pPr marL="0" indent="0">
              <a:buNone/>
            </a:pPr>
            <a:r>
              <a:rPr lang="en-US" sz="1600" b="1" dirty="0">
                <a:latin typeface="Courier New"/>
              </a:rPr>
              <a:t>end function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/>
              <a:t>Algorithm 4: try_neighbor_move(routes, best_cost)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function try_neighbor_move(routes, best_cost):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Randomly select two routes r1, r2 with |r1| &gt;= 2 and |r2| &gt;= 2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Randomly select node i in r1 \ {0},  j in r2 \ {0}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MOVE the customer from node i into route r2 at position j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if modified solution is improved: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return modified cost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If not: UNDO the move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return best_cost</a:t>
            </a:r>
          </a:p>
          <a:p>
            <a:pPr marL="0" indent="0">
              <a:buNone/>
            </a:pPr>
            <a:r>
              <a:rPr lang="en-US" sz="1600" b="1" dirty="0">
                <a:latin typeface="Courier New"/>
              </a:rPr>
              <a:t>end function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6.2 Algorithm 5: Greedy Initialization (Part 1)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latin typeface="Courier New"/>
              </a:rPr>
              <a:t>function greedy():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 xml:space="preserve">  // Initialize K technicians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technicians = array of K elements, each with: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  route = [0]   and   work = 0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visited = array of size (N+1) filled with FALSE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visited[0] = TRUE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customers = list [1..N]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SHUFFLE customers randomly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for N iterations do: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best_cost = INFINITY ;  best_tech = −1 ;  best_cust = −1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for each cust in customers do:</a:t>
            </a:r>
          </a:p>
          <a:p>
            <a:pPr marL="1371600" indent="-457200">
              <a:buNone/>
            </a:pPr>
            <a:r>
              <a:rPr lang="en-US" sz="1600" b="0" dirty="0">
                <a:latin typeface="Courier New"/>
              </a:rPr>
              <a:t xml:space="preserve">      if visited[cust]: continue</a:t>
            </a:r>
          </a:p>
          <a:p>
            <a:pPr marL="1371600" indent="-457200">
              <a:buNone/>
            </a:pPr>
            <a:r>
              <a:rPr lang="en-US" sz="1600" b="0" dirty="0">
                <a:latin typeface="Courier New"/>
              </a:rPr>
              <a:t xml:space="preserve">      for k = 0 to K−1 do:</a:t>
            </a:r>
          </a:p>
          <a:p>
            <a:pPr marL="1828800" indent="-457200">
              <a:buNone/>
            </a:pPr>
            <a:r>
              <a:rPr lang="en-US" sz="1600" b="0" dirty="0">
                <a:latin typeface="Courier New"/>
              </a:rPr>
              <a:t xml:space="preserve">        last_node = last node in technicians[k].route</a:t>
            </a:r>
          </a:p>
          <a:p>
            <a:pPr marL="1828800" indent="-457200">
              <a:buNone/>
            </a:pPr>
            <a:r>
              <a:rPr lang="en-US" sz="1600" b="0" dirty="0">
                <a:latin typeface="Courier New"/>
              </a:rPr>
              <a:t xml:space="preserve">        cost = technicians[k].work + matrix[last_node][cust] + d[cust]</a:t>
            </a:r>
          </a:p>
          <a:p>
            <a:pPr marL="1828800" indent="-457200">
              <a:buNone/>
            </a:pPr>
            <a:r>
              <a:rPr lang="en-US" sz="1600" b="0" dirty="0">
                <a:latin typeface="Courier New"/>
              </a:rPr>
              <a:t xml:space="preserve">        if cost &lt; best_cost:</a:t>
            </a:r>
          </a:p>
          <a:p>
            <a:pPr marL="2286000" indent="-457200">
              <a:buNone/>
            </a:pPr>
            <a:r>
              <a:rPr lang="en-US" sz="1600" b="0" dirty="0">
                <a:latin typeface="Courier New"/>
              </a:rPr>
              <a:t xml:space="preserve">          best_cost = cost ;  best_tech = k ;  best_cust = cust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6.2 Algorithm 5 (Part 2) &amp; Algorithm 6: Hill Climbing Loop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// Assign best customer to selected technician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technicians[best_tech].route.append(best_cust)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technicians[best_tech].work += matrix[prev_node][best_cust] + d[best_cust]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visited[best_cust] = TRUE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// Return all technicians to depot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for each tech: tech.route.append(0)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return list of routes from all technicians</a:t>
            </a:r>
          </a:p>
          <a:p>
            <a:pPr marL="0" indent="0">
              <a:buNone/>
            </a:pPr>
            <a:r>
              <a:rPr lang="en-US" sz="1600" b="1" dirty="0">
                <a:latin typeface="Courier New"/>
              </a:rPr>
              <a:t>end function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1800" b="1" dirty="0"/>
              <a:t>Algorithm 6: hill_climbing(routes, max_iter=20000)</a:t>
            </a:r>
          </a:p>
          <a:p>
            <a:pPr marL="0" indent="0">
              <a:buNone/>
            </a:pPr>
            <a:r>
              <a:rPr lang="en-US" sz="1600" b="0" dirty="0">
                <a:latin typeface="Courier New"/>
              </a:rPr>
              <a:t>function hill_climbing(routes, max_iter=20000):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best_cost = compute_max_time(routes)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for iteration = 1 to max_iter do: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old_cost = best_cost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best_cost = try_neighbor_swap(routes, best_cost)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if best_cost &lt; old_cost:  continue  { restart search }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best_cost = try_neighbor_swap_multiple(routes, best_cost)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if best_cost &lt; old_cost:  continue  { restart search }</a:t>
            </a:r>
          </a:p>
          <a:p>
            <a:pPr marL="914400" indent="-457200">
              <a:buNone/>
            </a:pPr>
            <a:r>
              <a:rPr lang="en-US" sz="1600" b="0" dirty="0">
                <a:latin typeface="Courier New"/>
              </a:rPr>
              <a:t xml:space="preserve">    best_cost = try_neighbor_move(routes, best_cost)</a:t>
            </a:r>
          </a:p>
          <a:p>
            <a:pPr marL="457200" indent="-457200">
              <a:buNone/>
            </a:pPr>
            <a:r>
              <a:rPr lang="en-US" sz="1600" b="0" dirty="0">
                <a:latin typeface="Courier New"/>
              </a:rPr>
              <a:t xml:space="preserve">  return routes</a:t>
            </a:r>
          </a:p>
          <a:p>
            <a:pPr marL="0" indent="0">
              <a:buNone/>
            </a:pPr>
            <a:r>
              <a:rPr lang="en-US" sz="1600" b="1" dirty="0">
                <a:latin typeface="Courier New"/>
              </a:rPr>
              <a:t>end function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7. Results &amp; Comparative Analysis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0" dirty="0"/>
              <a:t>Experimental Setup  ·  Benchmark Table  ·  Analysis &amp; Remarks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7.1 Experimental Setup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Test Instance Generation</a:t>
            </a:r>
          </a:p>
          <a:p>
            <a:pPr marL="457200" indent="-457200">
              <a:buNone/>
            </a:pPr>
            <a:r>
              <a:rPr lang="en-US" sz="1800" b="0" dirty="0"/>
              <a:t>• Instances scale from small (N=5, K=2) to very large (N=1000, K=100)</a:t>
            </a:r>
          </a:p>
          <a:p>
            <a:pPr marL="457200" indent="-457200">
              <a:buNone/>
            </a:pPr>
            <a:r>
              <a:rPr lang="en-US" sz="1800" b="0" dirty="0"/>
              <a:t>• Coordinate-based model: depot and customers distributed on a 100×100 grid</a:t>
            </a:r>
          </a:p>
          <a:p>
            <a:pPr marL="457200" indent="-457200">
              <a:buNone/>
            </a:pPr>
            <a:r>
              <a:rPr lang="en-US" sz="1800" b="0" dirty="0"/>
              <a:t>• Euclidean distances scaled by factor of 10</a:t>
            </a:r>
          </a:p>
          <a:p>
            <a:pPr marL="457200" indent="-457200">
              <a:buNone/>
            </a:pPr>
            <a:r>
              <a:rPr lang="en-US" sz="1800" b="0" dirty="0"/>
              <a:t>• Service times d(i) randomly selected in range [10, 100]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Execution Environment</a:t>
            </a:r>
          </a:p>
          <a:p>
            <a:pPr marL="457200" indent="-457200">
              <a:buNone/>
            </a:pPr>
            <a:r>
              <a:rPr lang="en-US" sz="1800" b="0" dirty="0"/>
              <a:t>• Same machine, Python 3</a:t>
            </a:r>
          </a:p>
          <a:p>
            <a:pPr marL="457200" indent="-457200">
              <a:buNone/>
            </a:pPr>
            <a:r>
              <a:rPr lang="en-US" sz="1800" b="0" dirty="0"/>
              <a:t>• Timeout: 15 seconds for exact methods (CP and Branch &amp; Bound)</a:t>
            </a:r>
          </a:p>
          <a:p>
            <a:pPr marL="457200" indent="-457200">
              <a:buNone/>
            </a:pPr>
            <a:r>
              <a:rPr lang="en-US" sz="1800" b="0" dirty="0"/>
              <a:t>• Runtime measured in milliseconds (ms)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Algorithms Compared</a:t>
            </a:r>
          </a:p>
          <a:p>
            <a:pPr marL="457200" indent="-457200">
              <a:buNone/>
            </a:pPr>
            <a:r>
              <a:rPr lang="en-US" sz="1800" b="0" dirty="0"/>
              <a:t>① Constraint Programming (CP-SAT)     ② Branch &amp; Bound (Backtracking)</a:t>
            </a:r>
          </a:p>
          <a:p>
            <a:pPr marL="457200" indent="-457200">
              <a:buNone/>
            </a:pPr>
            <a:r>
              <a:rPr lang="en-US" sz="1800" b="0" dirty="0"/>
              <a:t>③ Sorted Cheapest Insertion (Greedy)  ④ Hill Climbing Metaheuristic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Evaluation Metric</a:t>
            </a:r>
          </a:p>
          <a:p>
            <a:pPr marL="457200" indent="-457200">
              <a:buNone/>
            </a:pPr>
            <a:r>
              <a:rPr lang="en-US" sz="1800" b="0" dirty="0"/>
              <a:t>Makespan = maximum workload z = max{ W(R_k) } across all technicians.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7.2 Benchmark Results — Full Comparison Table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300" b="1" dirty="0">
                <a:latin typeface="Courier New"/>
              </a:rPr>
              <a:t xml:space="preserve">N    K   |  CP Makespan  CP Time  |  B&amp;B Makespan  B&amp;B Time  |  Greedy Makespan  Time  |  HC Makespan  Time</a:t>
            </a:r>
          </a:p>
          <a:p>
            <a:pPr marL="0" indent="0">
              <a:buNone/>
            </a:pPr>
            <a:r>
              <a:rPr lang="en-US" sz="1200" b="0" dirty="0">
                <a:latin typeface="Courier New"/>
              </a:rPr>
              <a:t xml:space="preserve"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  5    2  |      1,800       571  |      1,800         44   |      1,800         29   |    1,800      235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 10    2  |      2,560       589  |      2,560        581   |      2,740         25   |    2,730      243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100   10  |       N/A       N/A  |       N/A        N/A   |      2,370         27   |    2,440      709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200   10  |       N/A       N/A  |       N/A        N/A   |      3,120         32   |    3,790    1,119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200   20  |       N/A       N/A  |       N/A        N/A   |      2,220         31   |    2,180    1,179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400   40  |       N/A       N/A  |       N/A        N/A   |      2,050         61   |    2,300    2,586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500   50  |       N/A       N/A  |       N/A        N/A   |      2,020         85   |    2,290    3,438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700   70  |       N/A       N/A  |       N/A        N/A   |      1,990        140   |    2,090    5,733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 900   90  |       N/A       N/A  |       N/A        N/A   |      2,050        244   |    2,110    9,575</a:t>
            </a:r>
          </a:p>
          <a:p>
            <a:pPr marL="0" indent="0">
              <a:buNone/>
            </a:pPr>
            <a:r>
              <a:rPr lang="en-US" sz="1400" b="0" dirty="0">
                <a:latin typeface="Courier New"/>
              </a:rPr>
              <a:t xml:space="preserve">1000  100  |       N/A       N/A  |       N/A        N/A   |      2,020        325   |    2,160   12,118</a:t>
            </a:r>
          </a:p>
          <a:p>
            <a:pPr marL="0" indent="0">
              <a:buNone/>
            </a:pPr>
            <a:r>
              <a:rPr lang="en-US" sz="1200" b="0" dirty="0">
                <a:latin typeface="Courier New"/>
              </a:rPr>
              <a:t xml:space="preserve"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marL="0" indent="0">
              <a:buNone/>
            </a:pPr>
            <a:r>
              <a:rPr lang="en-US" sz="1400" b="0" dirty="0"/>
              <a:t xml:space="preserve">Time unit: milliseconds (ms).  N/A = exceeded memory or time limit (15s).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7.3 Analysis — CP &amp; Branch and Bound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Optimality (Small Instances)</a:t>
            </a:r>
          </a:p>
          <a:p>
            <a:pPr marL="457200" indent="-457200">
              <a:buNone/>
            </a:pPr>
            <a:r>
              <a:rPr lang="en-US" sz="1800" b="0" dirty="0"/>
              <a:t>Both methods achieve mathematically OPTIMAL workloads for N=5 (1,800) and N=10 (2,560).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Computational Bottleneck (CP)</a:t>
            </a:r>
          </a:p>
          <a:p>
            <a:pPr marL="457200" indent="-457200">
              <a:buNone/>
            </a:pPr>
            <a:r>
              <a:rPr lang="en-US" sz="1800" b="0" dirty="0"/>
              <a:t>Variable count O(K × N²) requires ~100 million BoolVars at N=1000, K=100.</a:t>
            </a:r>
          </a:p>
          <a:p>
            <a:pPr marL="457200" indent="-457200">
              <a:buNone/>
            </a:pPr>
            <a:r>
              <a:rPr lang="en-US" sz="1800" b="0" dirty="0"/>
              <a:t>Memory limit (1,024 MB) is hit during model construction — before search even begins.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Computational Bottleneck (Branch &amp; Bound)</a:t>
            </a:r>
          </a:p>
          <a:p>
            <a:pPr marL="457200" indent="-457200">
              <a:buNone/>
            </a:pPr>
            <a:r>
              <a:rPr lang="en-US" sz="1800" b="0" dirty="0"/>
              <a:t>Explores the state space O(K^N) using DFS with memoization and pruning.</a:t>
            </a:r>
          </a:p>
          <a:p>
            <a:pPr marL="457200" indent="-457200">
              <a:buNone/>
            </a:pPr>
            <a:r>
              <a:rPr lang="en-US" sz="1800" b="0" dirty="0"/>
              <a:t>For N ≥ 100, recursion depth and state space exceed standard computing limits → timeout.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Common Conclusion</a:t>
            </a:r>
          </a:p>
          <a:p>
            <a:pPr marL="457200" indent="-457200">
              <a:buNone/>
            </a:pPr>
            <a:r>
              <a:rPr lang="en-US" sz="1800" b="0" dirty="0"/>
              <a:t>Both exact methods are strictly limited to tiny instances (N ≤ 10).</a:t>
            </a:r>
          </a:p>
          <a:p>
            <a:pPr marL="457200" indent="-457200">
              <a:buNone/>
            </a:pPr>
            <a:r>
              <a:rPr lang="en-US" sz="1800" b="0" dirty="0"/>
              <a:t>They are most useful as correctness benchmarks for evaluating heuristic outputs.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7.3 Analysis — Sorted Greedy &amp; Hill Climbing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Sorted Cheapest Insertion (Greedy)</a:t>
            </a:r>
          </a:p>
          <a:p>
            <a:pPr marL="457200" indent="-457200">
              <a:buNone/>
            </a:pPr>
            <a:r>
              <a:rPr lang="en-US" sz="1800" b="0" dirty="0"/>
              <a:t>Extremely fast: N=1000, K=100 solved in only 325 ms.</a:t>
            </a:r>
          </a:p>
          <a:p>
            <a:pPr marL="457200" indent="-457200">
              <a:buNone/>
            </a:pPr>
            <a:r>
              <a:rPr lang="en-US" sz="1800" b="0" dirty="0"/>
              <a:t>Sorting by P(u) = t(0,u)+d(u) (descending) is critical: avoids isolated distant nodes.</a:t>
            </a:r>
          </a:p>
          <a:p>
            <a:pPr marL="457200" indent="-457200">
              <a:buNone/>
            </a:pPr>
            <a:r>
              <a:rPr lang="en-US" sz="1800" b="0" dirty="0"/>
              <a:t>Achieves near-optimal solutions (matches exact solver makespan of 1,800 at N=5).</a:t>
            </a:r>
          </a:p>
          <a:p>
            <a:pPr marL="457200" indent="-457200">
              <a:buNone/>
            </a:pPr>
            <a:r>
              <a:rPr lang="en-US" sz="1800" b="0" dirty="0">
                <a:solidFill>
                  <a:srgbClr val="C00000"/>
                </a:solidFill>
              </a:rPr>
              <a:t>BEST algorithm for large-scale deployment.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Hill Climbing (Metaheuristic)</a:t>
            </a:r>
          </a:p>
          <a:p>
            <a:pPr marL="457200" indent="-457200">
              <a:buNone/>
            </a:pPr>
            <a:r>
              <a:rPr lang="en-US" sz="1800" b="0" dirty="0"/>
              <a:t>Starts with greedy random init; iteratively refines via swap, multi-swap, and move.</a:t>
            </a:r>
          </a:p>
          <a:p>
            <a:pPr marL="457200" indent="-457200">
              <a:buNone/>
            </a:pPr>
            <a:r>
              <a:rPr lang="en-US" sz="1800" b="0" dirty="0"/>
              <a:t>CAN outperform Greedy on medium instances (e.g., N=200, K=20: HC=2,180 vs Greedy=2,220).</a:t>
            </a:r>
          </a:p>
          <a:p>
            <a:pPr marL="457200" indent="-457200">
              <a:buNone/>
            </a:pPr>
            <a:r>
              <a:rPr lang="en-US" sz="1800" b="0" dirty="0"/>
              <a:t>Performance Trade-off: evaluating 20,000 neighborhood modifications is expensive.</a:t>
            </a:r>
          </a:p>
          <a:p>
            <a:pPr marL="457200" indent="-457200">
              <a:buNone/>
            </a:pPr>
            <a:r>
              <a:rPr lang="en-US" sz="1800" b="0" dirty="0"/>
              <a:t>Runtime at N=1000, K=100: 12.1 seconds — exceeds practical real-time dispatch limits.</a:t>
            </a:r>
          </a:p>
          <a:p>
            <a:pPr marL="457200" indent="-457200">
              <a:buNone/>
            </a:pPr>
            <a:r>
              <a:rPr lang="en-US" sz="1800" b="0" dirty="0"/>
              <a:t>Prone to LOCAL MINIMA due to stochastic random initialization.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Summary</a:t>
            </a:r>
          </a:p>
          <a:p>
            <a:pPr marL="457200" indent="-457200">
              <a:buNone/>
            </a:pPr>
            <a:r>
              <a:rPr lang="en-US" sz="1800" b="0" dirty="0"/>
              <a:t>Greedy: deterministic, O(N²+NK), sub-second. Best for production use.</a:t>
            </a:r>
          </a:p>
          <a:p>
            <a:pPr marL="457200" indent="-457200">
              <a:buNone/>
            </a:pPr>
            <a:r>
              <a:rPr lang="en-US" sz="1800" b="0" dirty="0"/>
              <a:t>Hill Climbing: stochastic, competitive on medium N, too slow for N &gt; 500.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8. Conclusion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0" dirty="0"/>
              <a:t>Key Findings  ·  Trade-offs  ·  Recommendations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8. Conclusion</a:t>
            </a:r>
          </a:p>
        </p:txBody>
      </p:sp>
      <p:sp>
        <p:nvSpPr>
          <p:cNvPr id="3" name="Content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Problem Complexity</a:t>
            </a:r>
          </a:p>
          <a:p>
            <a:pPr marL="457200" indent="-457200">
              <a:buNone/>
            </a:pPr>
            <a:r>
              <a:rPr lang="en-US" sz="1800" b="0" dirty="0"/>
              <a:t>Balanced Staff Routing for Maintenance inherits NP-hard complexity from TSP.</a:t>
            </a:r>
          </a:p>
          <a:p>
            <a:pPr marL="457200" indent="-457200">
              <a:buNone/>
            </a:pPr>
            <a:r>
              <a:rPr lang="en-US" sz="1800" b="0" dirty="0"/>
              <a:t>The fundamental trade-off: solution optimality vs. computational scalability.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Exact Methods (CP, Branch &amp; Bound)</a:t>
            </a:r>
          </a:p>
          <a:p>
            <a:pPr marL="457200" indent="-457200">
              <a:buNone/>
            </a:pPr>
            <a:r>
              <a:rPr lang="en-US" sz="1800" b="0" dirty="0"/>
              <a:t>Guarantee optimal solutions but strictly limited to N ≤ 10.</a:t>
            </a:r>
          </a:p>
          <a:p>
            <a:pPr marL="457200" indent="-457200">
              <a:buNone/>
            </a:pPr>
            <a:r>
              <a:rPr lang="en-US" sz="1800" b="0" dirty="0"/>
              <a:t>CP hits memory limits (O(K×N²) variables) during model construction.</a:t>
            </a:r>
          </a:p>
          <a:p>
            <a:pPr marL="457200" indent="-457200">
              <a:buNone/>
            </a:pPr>
            <a:r>
              <a:rPr lang="en-US" sz="1800" b="0" dirty="0"/>
              <a:t>B&amp;B hits exponential search space O(K^N) beyond N=10.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/>
              <a:t>Heuristic Approaches</a:t>
            </a:r>
          </a:p>
          <a:p>
            <a:pPr marL="457200" indent="-457200">
              <a:buNone/>
            </a:pPr>
            <a:r>
              <a:rPr lang="en-US" sz="1800" b="0" dirty="0"/>
              <a:t>Offer excellent scaling characteristics without sacrificing much quality.</a:t>
            </a:r>
          </a:p>
          <a:p>
            <a:pPr marL="0" indent="0">
              <a:buNone/>
            </a:pPr>
            <a:r>
              <a:rPr lang="en-US" sz="1500" b="0" dirty="0"/>
              <a:t/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Recommendation</a:t>
            </a:r>
          </a:p>
          <a:p>
            <a:pPr marL="457200" indent="-457200">
              <a:buNone/>
            </a:pPr>
            <a:r>
              <a:rPr lang="en-US" sz="1800" b="0" dirty="0"/>
              <a:t>The DETERMINISTIC Sorted Cheapest Insertion algorithm provides:</a:t>
            </a:r>
          </a:p>
          <a:p>
            <a:pPr marL="914400" indent="-457200">
              <a:buNone/>
            </a:pPr>
            <a:r>
              <a:rPr lang="en-US" sz="1800" b="0" dirty="0"/>
              <a:t xml:space="preserve">  • High-quality balanced routes in milliseconds</a:t>
            </a:r>
          </a:p>
          <a:p>
            <a:pPr marL="914400" indent="-457200">
              <a:buNone/>
            </a:pPr>
            <a:r>
              <a:rPr lang="en-US" sz="1800" b="0" dirty="0"/>
              <a:t xml:space="preserve">  • Near-optimal results at maximum scale (N=1000, makespan=2,020 in 325ms)</a:t>
            </a:r>
          </a:p>
          <a:p>
            <a:pPr marL="914400" indent="-457200">
              <a:buNone/>
            </a:pPr>
            <a:r>
              <a:rPr lang="en-US" sz="1800" b="0" dirty="0"/>
              <a:t xml:space="preserve">  • Fully deterministic — no stochastic variance between runs</a:t>
            </a:r>
          </a:p>
          <a:p>
            <a:pPr marL="914400" indent="-457200">
              <a:buNone/>
            </a:pPr>
            <a:r>
              <a:rPr lang="en-US" sz="1800" b="0" dirty="0"/>
              <a:t xml:space="preserve">  • Highly suitable for LARGE-SCALE real-world maintenance dispatching operations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13</cp:revision>
  <dcterms:created xsi:type="dcterms:W3CDTF">2021-05-28T04:32:29Z</dcterms:created>
  <dcterms:modified xsi:type="dcterms:W3CDTF">2022-12-12T05:09:13Z</dcterms:modified>
</cp:coreProperties>
</file>